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9BDE6DB-7701-4B69-9FE2-2E41202F5456}">
  <a:tblStyle styleId="{89BDE6DB-7701-4B69-9FE2-2E41202F545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3209F392-AABF-4D35-9BE3-75ACC2CF955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BC8E0C49-F195-4989-BFA3-81F001385DB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8F89EA45-AC9C-4BB4-99C5-5E4AED849BC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971044DE-7A4F-4409-B03C-C3B6A322E4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33A25F58-B3A6-46C2-8722-AB1186A9D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6173D453-257F-4024-9713-FF0034A5221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E2DB807B-1E07-43F4-91A9-28423F1AB2B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4204BA71-4662-4251-A96A-8AC2165FF4E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>
            <a:extLst>
              <a:ext uri="{FF2B5EF4-FFF2-40B4-BE49-F238E27FC236}">
                <a16:creationId xmlns:a16="http://schemas.microsoft.com/office/drawing/2014/main" id="{273A1B0E-509F-49D2-B8E2-75A20E3E9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>
            <a:extLst>
              <a:ext uri="{FF2B5EF4-FFF2-40B4-BE49-F238E27FC236}">
                <a16:creationId xmlns:a16="http://schemas.microsoft.com/office/drawing/2014/main" id="{C7CF4D6A-598C-4F1A-ADDE-589CA6012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>
            <a:extLst>
              <a:ext uri="{FF2B5EF4-FFF2-40B4-BE49-F238E27FC236}">
                <a16:creationId xmlns:a16="http://schemas.microsoft.com/office/drawing/2014/main" id="{36D025EC-C7DA-48FA-A30A-C20A4A3F936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>
            <a:extLst>
              <a:ext uri="{FF2B5EF4-FFF2-40B4-BE49-F238E27FC236}">
                <a16:creationId xmlns:a16="http://schemas.microsoft.com/office/drawing/2014/main" id="{2F75CAAF-162F-4118-8131-D58E7A55B45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0F14E0C8-D6CA-4722-B100-809DA56FFEE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E69BE5FE-7B94-49B3-B5B2-F8DA23E50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4799C893-E3B5-4E1A-A407-ACDB62820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6DCF6979-5013-4631-81D6-4BD72117FF9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8E132A6C-B98D-4050-B40E-7E445CC4B45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8E7B98DC-E4AF-482E-948B-099B3271DD6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>
            <a:extLst>
              <a:ext uri="{FF2B5EF4-FFF2-40B4-BE49-F238E27FC236}">
                <a16:creationId xmlns:a16="http://schemas.microsoft.com/office/drawing/2014/main" id="{DBB35CC9-E97A-47D4-A0DF-BDCDF9939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609CBEFA-12A9-489A-A028-02E572AC2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32CDE2F2-3866-4A70-8E89-E1547036B0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52CA72C0-BC0B-495A-B25C-A683830D659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>
            <a:extLst>
              <a:ext uri="{FF2B5EF4-FFF2-40B4-BE49-F238E27FC236}">
                <a16:creationId xmlns:a16="http://schemas.microsoft.com/office/drawing/2014/main" id="{8CF4E990-E3DD-4337-9EF2-77A85484128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>
            <a:extLst>
              <a:ext uri="{FF2B5EF4-FFF2-40B4-BE49-F238E27FC236}">
                <a16:creationId xmlns:a16="http://schemas.microsoft.com/office/drawing/2014/main" id="{A608FAF9-F086-4D92-8E95-5813345CFEE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>
            <a:extLst>
              <a:ext uri="{FF2B5EF4-FFF2-40B4-BE49-F238E27FC236}">
                <a16:creationId xmlns:a16="http://schemas.microsoft.com/office/drawing/2014/main" id="{8EE47B22-CC78-4746-8D96-D67D6C661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>
            <a:extLst>
              <a:ext uri="{FF2B5EF4-FFF2-40B4-BE49-F238E27FC236}">
                <a16:creationId xmlns:a16="http://schemas.microsoft.com/office/drawing/2014/main" id="{62CBA438-54D9-4C11-9AF3-7EB1BF28F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>
            <a:extLst>
              <a:ext uri="{FF2B5EF4-FFF2-40B4-BE49-F238E27FC236}">
                <a16:creationId xmlns:a16="http://schemas.microsoft.com/office/drawing/2014/main" id="{C7072D9C-E4BC-47B2-8F8A-2261A99A56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>
            <a:extLst>
              <a:ext uri="{FF2B5EF4-FFF2-40B4-BE49-F238E27FC236}">
                <a16:creationId xmlns:a16="http://schemas.microsoft.com/office/drawing/2014/main" id="{96EB11BB-A131-4761-85C4-D8CD6BE249F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marL="45720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>
            <a:extLst>
              <a:ext uri="{FF2B5EF4-FFF2-40B4-BE49-F238E27FC236}">
                <a16:creationId xmlns:a16="http://schemas.microsoft.com/office/drawing/2014/main" id="{07A70599-B241-4688-A071-492D79873402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>
            <a:extLst>
              <a:ext uri="{FF2B5EF4-FFF2-40B4-BE49-F238E27FC236}">
                <a16:creationId xmlns:a16="http://schemas.microsoft.com/office/drawing/2014/main" id="{72F6CD32-5F7A-48C9-BE3D-A3529DFA2075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>
            <a:extLst>
              <a:ext uri="{FF2B5EF4-FFF2-40B4-BE49-F238E27FC236}">
                <a16:creationId xmlns:a16="http://schemas.microsoft.com/office/drawing/2014/main" id="{F229AA85-453A-484D-BD2C-FF2C71B5F30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>
            <a:extLst>
              <a:ext uri="{FF2B5EF4-FFF2-40B4-BE49-F238E27FC236}">
                <a16:creationId xmlns:a16="http://schemas.microsoft.com/office/drawing/2014/main" id="{31981873-51D4-4408-B7F2-356A0E480D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>
            <a:extLst>
              <a:ext uri="{FF2B5EF4-FFF2-40B4-BE49-F238E27FC236}">
                <a16:creationId xmlns:a16="http://schemas.microsoft.com/office/drawing/2014/main" id="{550BE5A1-70F6-4EB0-B92F-74E96AC1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>
            <a:extLst>
              <a:ext uri="{FF2B5EF4-FFF2-40B4-BE49-F238E27FC236}">
                <a16:creationId xmlns:a16="http://schemas.microsoft.com/office/drawing/2014/main" id="{39187AD6-BF76-44CC-810A-6F31604B322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>
            <a:extLst>
              <a:ext uri="{FF2B5EF4-FFF2-40B4-BE49-F238E27FC236}">
                <a16:creationId xmlns:a16="http://schemas.microsoft.com/office/drawing/2014/main" id="{04B9A21A-F817-4E78-8D97-EC36B6DA3F5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>
            <a:extLst>
              <a:ext uri="{FF2B5EF4-FFF2-40B4-BE49-F238E27FC236}">
                <a16:creationId xmlns:a16="http://schemas.microsoft.com/office/drawing/2014/main" id="{891BAE5A-4EF5-487A-98F9-C8E90AEE8F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92B5EFB0-DBCC-4A51-B9E7-9EE58112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>
            <a:extLst>
              <a:ext uri="{FF2B5EF4-FFF2-40B4-BE49-F238E27FC236}">
                <a16:creationId xmlns:a16="http://schemas.microsoft.com/office/drawing/2014/main" id="{3DE6057F-73A0-49EB-A270-EE4DE8AD6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>
            <a:extLst>
              <a:ext uri="{FF2B5EF4-FFF2-40B4-BE49-F238E27FC236}">
                <a16:creationId xmlns:a16="http://schemas.microsoft.com/office/drawing/2014/main" id="{E731F074-2332-46F8-8B0F-EC76A54517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>
            <a:extLst>
              <a:ext uri="{FF2B5EF4-FFF2-40B4-BE49-F238E27FC236}">
                <a16:creationId xmlns:a16="http://schemas.microsoft.com/office/drawing/2014/main" id="{5AE8F82F-9188-4636-B432-BB570D54FE8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>
            <a:extLst>
              <a:ext uri="{FF2B5EF4-FFF2-40B4-BE49-F238E27FC236}">
                <a16:creationId xmlns:a16="http://schemas.microsoft.com/office/drawing/2014/main" id="{5D8610DF-04E2-48AD-A287-1C50B1B723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>
            <a:extLst>
              <a:ext uri="{FF2B5EF4-FFF2-40B4-BE49-F238E27FC236}">
                <a16:creationId xmlns:a16="http://schemas.microsoft.com/office/drawing/2014/main" id="{A90FA474-A226-4631-B2F1-06857C57BDD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>
            <a:extLst>
              <a:ext uri="{FF2B5EF4-FFF2-40B4-BE49-F238E27FC236}">
                <a16:creationId xmlns:a16="http://schemas.microsoft.com/office/drawing/2014/main" id="{44B08D64-82C7-4EC2-888E-CE5FCA4D3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>
            <a:norm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>
            <a:extLst>
              <a:ext uri="{FF2B5EF4-FFF2-40B4-BE49-F238E27FC236}">
                <a16:creationId xmlns:a16="http://schemas.microsoft.com/office/drawing/2014/main" id="{04DCCE7D-33A1-41C9-A913-311BD116713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>
            <a:extLst>
              <a:ext uri="{FF2B5EF4-FFF2-40B4-BE49-F238E27FC236}">
                <a16:creationId xmlns:a16="http://schemas.microsoft.com/office/drawing/2014/main" id="{E268346A-86EA-49DC-9E96-0C5734038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>
            <a:extLst>
              <a:ext uri="{FF2B5EF4-FFF2-40B4-BE49-F238E27FC236}">
                <a16:creationId xmlns:a16="http://schemas.microsoft.com/office/drawing/2014/main" id="{53E781A0-E585-40C6-AD42-C3440DA29BC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>
            <a:extLst>
              <a:ext uri="{FF2B5EF4-FFF2-40B4-BE49-F238E27FC236}">
                <a16:creationId xmlns:a16="http://schemas.microsoft.com/office/drawing/2014/main" id="{B4B6F2D8-4FA5-448D-9CBA-5365DC37152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>
            <a:extLst>
              <a:ext uri="{FF2B5EF4-FFF2-40B4-BE49-F238E27FC236}">
                <a16:creationId xmlns:a16="http://schemas.microsoft.com/office/drawing/2014/main" id="{9AF79881-842B-4433-852B-B1E1748CD2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>
            <a:extLst>
              <a:ext uri="{FF2B5EF4-FFF2-40B4-BE49-F238E27FC236}">
                <a16:creationId xmlns:a16="http://schemas.microsoft.com/office/drawing/2014/main" id="{CE0AC310-F3CB-41E1-A8DC-942F8607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>
            <a:extLst>
              <a:ext uri="{FF2B5EF4-FFF2-40B4-BE49-F238E27FC236}">
                <a16:creationId xmlns:a16="http://schemas.microsoft.com/office/drawing/2014/main" id="{A45969B2-61A3-4876-A301-1E04343B8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>
            <a:extLst>
              <a:ext uri="{FF2B5EF4-FFF2-40B4-BE49-F238E27FC236}">
                <a16:creationId xmlns:a16="http://schemas.microsoft.com/office/drawing/2014/main" id="{D64F5535-13A8-4D81-B88F-47F01C7284D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>
            <a:extLst>
              <a:ext uri="{FF2B5EF4-FFF2-40B4-BE49-F238E27FC236}">
                <a16:creationId xmlns:a16="http://schemas.microsoft.com/office/drawing/2014/main" id="{45743109-AA83-45CE-BDA9-2DF742DADD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>
            <a:extLst>
              <a:ext uri="{FF2B5EF4-FFF2-40B4-BE49-F238E27FC236}">
                <a16:creationId xmlns:a16="http://schemas.microsoft.com/office/drawing/2014/main" id="{92870775-EBE2-4F47-BA23-7DBA95D6BBF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>
            <a:extLst>
              <a:ext uri="{FF2B5EF4-FFF2-40B4-BE49-F238E27FC236}">
                <a16:creationId xmlns:a16="http://schemas.microsoft.com/office/drawing/2014/main" id="{55E4E884-F76D-4BF2-8CD6-6F056706E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>
            <a:extLst>
              <a:ext uri="{FF2B5EF4-FFF2-40B4-BE49-F238E27FC236}">
                <a16:creationId xmlns:a16="http://schemas.microsoft.com/office/drawing/2014/main" id="{23985CDA-A47F-4E7A-83FA-CAE8D7DB9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>
            <a:extLst>
              <a:ext uri="{FF2B5EF4-FFF2-40B4-BE49-F238E27FC236}">
                <a16:creationId xmlns:a16="http://schemas.microsoft.com/office/drawing/2014/main" id="{CC989DDB-C25C-476C-9646-142FD63B7B69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>
            <a:extLst>
              <a:ext uri="{FF2B5EF4-FFF2-40B4-BE49-F238E27FC236}">
                <a16:creationId xmlns:a16="http://schemas.microsoft.com/office/drawing/2014/main" id="{925BD516-42BE-4DA3-9EEF-5A800459B16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>
            <a:extLst>
              <a:ext uri="{FF2B5EF4-FFF2-40B4-BE49-F238E27FC236}">
                <a16:creationId xmlns:a16="http://schemas.microsoft.com/office/drawing/2014/main" id="{C5E97D99-7B18-4C79-A71C-20633578DF8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1365E3A8-CB57-4B33-B271-2A559F661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rm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4CF5A4F3-7DEE-4D8E-8726-34AC38AF7A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rmAutofit/>
          </a:bodyPr>
          <a:lstStyle>
            <a:lvl1pPr marL="457200" marR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4957E0FC-13ED-45A2-B61E-EDE524CA8E8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9" name="Google Shape;9;p1">
            <a:extLst>
              <a:ext uri="{FF2B5EF4-FFF2-40B4-BE49-F238E27FC236}">
                <a16:creationId xmlns:a16="http://schemas.microsoft.com/office/drawing/2014/main" id="{F5085691-736C-4954-9320-357B1A64EBE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endParaRPr/>
          </a:p>
        </p:txBody>
      </p:sp>
      <p:sp>
        <p:nvSpPr>
          <p:cNvPr id="10" name="Google Shape;10;p1">
            <a:extLst>
              <a:ext uri="{FF2B5EF4-FFF2-40B4-BE49-F238E27FC236}">
                <a16:creationId xmlns:a16="http://schemas.microsoft.com/office/drawing/2014/main" id="{13200687-595C-4430-8CAF-DB0031C5412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>
            <a:lvl1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84;p13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91" name="Google Shape;85;p13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8083" y="2378422"/>
            <a:ext cx="3335535" cy="295275"/>
          </a:xfrm>
          <a:prstGeom prst="rect">
            <a:avLst/>
          </a:prstGeom>
          <a:ln>
            <a:noFill/>
          </a:ln>
        </p:spPr>
      </p:pic>
      <p:sp>
        <p:nvSpPr>
          <p:cNvPr id="86" name="Google Shape;86;p13">
            <a:extLst>
              <a:ext uri="{FF2B5EF4-FFF2-40B4-BE49-F238E27FC236}">
                <a16:creationId xmlns:a16="http://schemas.microsoft.com/office/drawing/2014/main" id="{8105A472-180D-4DAA-A671-5B4CC6FBE6E7}"/>
              </a:ext>
            </a:extLst>
          </p:cNvPr>
          <p:cNvSpPr>
            <a:spLocks noGrp="1"/>
          </p:cNvSpPr>
          <p:nvPr/>
        </p:nvSpPr>
        <p:spPr>
          <a:xfrm>
            <a:off x="3049216" y="2864197"/>
            <a:ext cx="6093417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1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TUYỂN DỤNG 4.0</a:t>
            </a:r>
            <a:endParaRPr/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536342DA-F97D-4B8A-8B21-7E5581979D39}"/>
              </a:ext>
            </a:extLst>
          </p:cNvPr>
          <p:cNvSpPr>
            <a:spLocks noGrp="1"/>
          </p:cNvSpPr>
          <p:nvPr/>
        </p:nvSpPr>
        <p:spPr>
          <a:xfrm>
            <a:off x="3194298" y="3755677"/>
            <a:ext cx="6248640" cy="61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Một nguồn dữ liệu thống nhất cho Giám đốc, HR và vận hành nhà máy</a:t>
            </a:r>
            <a:endParaRPr/>
          </a:p>
          <a:p>
            <a:pPr marL="0" marR="0" lvl="0" indent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Ra quyết định nhanh hơn, giảm đối soát, rõ trách nhiệm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0705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92;p14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17" name="Google Shape;93;p14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57425"/>
            <a:ext cx="5381625" cy="3248025"/>
          </a:xfrm>
          <a:prstGeom prst="rect">
            <a:avLst/>
          </a:prstGeom>
          <a:ln>
            <a:noFill/>
          </a:ln>
        </p:spPr>
      </p:pic>
      <p:pic>
        <p:nvPicPr>
          <p:cNvPr id="118" name="Google Shape;94;p14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257425"/>
            <a:ext cx="5381625" cy="3248025"/>
          </a:xfrm>
          <a:prstGeom prst="rect">
            <a:avLst/>
          </a:prstGeom>
          <a:ln>
            <a:noFill/>
          </a:ln>
        </p:spPr>
      </p:pic>
      <p:sp>
        <p:nvSpPr>
          <p:cNvPr id="95" name="Google Shape;95;p14">
            <a:extLst>
              <a:ext uri="{FF2B5EF4-FFF2-40B4-BE49-F238E27FC236}">
                <a16:creationId xmlns:a16="http://schemas.microsoft.com/office/drawing/2014/main" id="{0A6D8166-81F1-4FCB-B6D6-C1FFE15349EA}"/>
              </a:ext>
            </a:extLst>
          </p:cNvPr>
          <p:cNvSpPr>
            <a:spLocks noGrp="1"/>
          </p:cNvSpPr>
          <p:nvPr/>
        </p:nvSpPr>
        <p:spPr>
          <a:xfrm>
            <a:off x="847725" y="2533650"/>
            <a:ext cx="507063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Dữ liệu khó tin cậy</a:t>
            </a:r>
            <a:endParaRPr/>
          </a:p>
        </p:txBody>
      </p:sp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11384518-5722-45F7-9AE0-1E7A60FB77DF}"/>
              </a:ext>
            </a:extLst>
          </p:cNvPr>
          <p:cNvSpPr>
            <a:spLocks noGrp="1"/>
          </p:cNvSpPr>
          <p:nvPr/>
        </p:nvSpPr>
        <p:spPr>
          <a:xfrm>
            <a:off x="6515100" y="2533650"/>
            <a:ext cx="507063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Mỗi tuần mất giờ để đối soát</a:t>
            </a:r>
            <a:endParaRPr/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FA4EB1ED-9A0C-4E60-976F-C07F859EAB64}"/>
              </a:ext>
            </a:extLst>
          </p:cNvPr>
          <p:cNvSpPr>
            <a:spLocks noGrp="1"/>
          </p:cNvSpPr>
          <p:nvPr/>
        </p:nvSpPr>
        <p:spPr>
          <a:xfrm>
            <a:off x="6515100" y="2943225"/>
            <a:ext cx="4829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Dòng công việc hiện tại:</a:t>
            </a:r>
            <a:endParaRPr/>
          </a:p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Nhập liệu → gửi file → tổng hợp → đối soát → báo cáo lãnh đạo.</a:t>
            </a:r>
            <a:endParaRPr/>
          </a:p>
        </p:txBody>
      </p:sp>
      <p:sp>
        <p:nvSpPr>
          <p:cNvPr id="98" name="Google Shape;98;p14">
            <a:extLst>
              <a:ext uri="{FF2B5EF4-FFF2-40B4-BE49-F238E27FC236}">
                <a16:creationId xmlns:a16="http://schemas.microsoft.com/office/drawing/2014/main" id="{2B555046-43EA-41C7-951B-2B0B0F05B4F5}"/>
              </a:ext>
            </a:extLst>
          </p:cNvPr>
          <p:cNvSpPr>
            <a:spLocks noGrp="1"/>
          </p:cNvSpPr>
          <p:nvPr/>
        </p:nvSpPr>
        <p:spPr>
          <a:xfrm>
            <a:off x="6515100" y="3771900"/>
            <a:ext cx="482917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Đội ngũ phải dành nhiều giờ để tìm dữ liệu đúng thay vì xử lý công việc chuyên môn.</a:t>
            </a:r>
            <a:endParaRPr/>
          </a:p>
        </p:txBody>
      </p:sp>
      <p:pic>
        <p:nvPicPr>
          <p:cNvPr id="123" name="Google Shape;99;p14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7725" y="2581275"/>
            <a:ext cx="209550" cy="209550"/>
          </a:xfrm>
          <a:prstGeom prst="rect">
            <a:avLst/>
          </a:prstGeom>
          <a:ln>
            <a:noFill/>
          </a:ln>
        </p:spPr>
      </p:pic>
      <p:sp>
        <p:nvSpPr>
          <p:cNvPr id="100" name="Google Shape;100;p14">
            <a:extLst>
              <a:ext uri="{FF2B5EF4-FFF2-40B4-BE49-F238E27FC236}">
                <a16:creationId xmlns:a16="http://schemas.microsoft.com/office/drawing/2014/main" id="{9C729955-79FE-4385-A437-7BDBDA684193}"/>
              </a:ext>
            </a:extLst>
          </p:cNvPr>
          <p:cNvSpPr>
            <a:spLocks noGrp="1"/>
          </p:cNvSpPr>
          <p:nvPr/>
        </p:nvSpPr>
        <p:spPr>
          <a:xfrm>
            <a:off x="1076325" y="2943225"/>
            <a:ext cx="460057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Sai lệch dữ liệu: Tên, mã nhân viên và nhà máy không đồng nhất giữa các file.</a:t>
            </a:r>
            <a:endParaRPr/>
          </a:p>
        </p:txBody>
      </p:sp>
      <p:sp>
        <p:nvSpPr>
          <p:cNvPr id="101" name="Google Shape;101;p14">
            <a:extLst>
              <a:ext uri="{FF2B5EF4-FFF2-40B4-BE49-F238E27FC236}">
                <a16:creationId xmlns:a16="http://schemas.microsoft.com/office/drawing/2014/main" id="{BEC04C5E-7CC1-45C2-A67C-927D80C606AF}"/>
              </a:ext>
            </a:extLst>
          </p:cNvPr>
          <p:cNvSpPr>
            <a:spLocks noGrp="1"/>
          </p:cNvSpPr>
          <p:nvPr/>
        </p:nvSpPr>
        <p:spPr>
          <a:xfrm>
            <a:off x="1076325" y="3514725"/>
            <a:ext cx="46005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Thiếu cập nhật: Không biết bản ghi nào là mới nhất để báo cáo.</a:t>
            </a:r>
            <a:endParaRPr/>
          </a:p>
        </p:txBody>
      </p:sp>
      <p:sp>
        <p:nvSpPr>
          <p:cNvPr id="102" name="Google Shape;102;p14">
            <a:extLst>
              <a:ext uri="{FF2B5EF4-FFF2-40B4-BE49-F238E27FC236}">
                <a16:creationId xmlns:a16="http://schemas.microsoft.com/office/drawing/2014/main" id="{D990E38E-E22D-4C4A-BC6A-27BE25BE0F2F}"/>
              </a:ext>
            </a:extLst>
          </p:cNvPr>
          <p:cNvSpPr>
            <a:spLocks noGrp="1"/>
          </p:cNvSpPr>
          <p:nvPr/>
        </p:nvSpPr>
        <p:spPr>
          <a:xfrm>
            <a:off x="1076325" y="4086225"/>
            <a:ext cx="460057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Rủi ro tài chính: Sai sót khi đối soát tuyển dụng, tạm ứng và giữ lương.</a:t>
            </a:r>
            <a:endParaRPr/>
          </a:p>
        </p:txBody>
      </p:sp>
      <p:sp>
        <p:nvSpPr>
          <p:cNvPr id="103" name="Google Shape;103;p14">
            <a:extLst>
              <a:ext uri="{FF2B5EF4-FFF2-40B4-BE49-F238E27FC236}">
                <a16:creationId xmlns:a16="http://schemas.microsoft.com/office/drawing/2014/main" id="{C3AC7890-EED9-4E20-8BE4-BAD0785590F4}"/>
              </a:ext>
            </a:extLst>
          </p:cNvPr>
          <p:cNvSpPr>
            <a:spLocks noGrp="1"/>
          </p:cNvSpPr>
          <p:nvPr/>
        </p:nvSpPr>
        <p:spPr>
          <a:xfrm>
            <a:off x="1076325" y="4657725"/>
            <a:ext cx="460057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Phụ thuộc cá nhân: Chỉ một người nắm file tổng hợp, báo cáo dễ chậm.</a:t>
            </a:r>
            <a:endParaRPr/>
          </a:p>
        </p:txBody>
      </p:sp>
      <p:pic>
        <p:nvPicPr>
          <p:cNvPr id="128" name="Google Shape;104;p14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15100" y="2581275"/>
            <a:ext cx="209550" cy="209550"/>
          </a:xfrm>
          <a:prstGeom prst="rect">
            <a:avLst/>
          </a:prstGeom>
          <a:ln>
            <a:noFill/>
          </a:ln>
        </p:spPr>
      </p:pic>
      <p:sp>
        <p:nvSpPr>
          <p:cNvPr id="105" name="Google Shape;105;p14">
            <a:extLst>
              <a:ext uri="{FF2B5EF4-FFF2-40B4-BE49-F238E27FC236}">
                <a16:creationId xmlns:a16="http://schemas.microsoft.com/office/drawing/2014/main" id="{0F3DEB8E-CA24-4517-86E8-6D4ABEB95E62}"/>
              </a:ext>
            </a:extLst>
          </p:cNvPr>
          <p:cNvSpPr>
            <a:spLocks noGrp="1"/>
          </p:cNvSpPr>
          <p:nvPr/>
        </p:nvSpPr>
        <p:spPr>
          <a:xfrm>
            <a:off x="847725" y="2905125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4C9BF323-CF61-434D-B930-735789E6DAA1}"/>
              </a:ext>
            </a:extLst>
          </p:cNvPr>
          <p:cNvSpPr>
            <a:spLocks noGrp="1"/>
          </p:cNvSpPr>
          <p:nvPr/>
        </p:nvSpPr>
        <p:spPr>
          <a:xfrm>
            <a:off x="847725" y="3476625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7" name="Google Shape;107;p14">
            <a:extLst>
              <a:ext uri="{FF2B5EF4-FFF2-40B4-BE49-F238E27FC236}">
                <a16:creationId xmlns:a16="http://schemas.microsoft.com/office/drawing/2014/main" id="{8B866534-6A3B-40B3-AE4A-B9A233945474}"/>
              </a:ext>
            </a:extLst>
          </p:cNvPr>
          <p:cNvSpPr>
            <a:spLocks noGrp="1"/>
          </p:cNvSpPr>
          <p:nvPr/>
        </p:nvSpPr>
        <p:spPr>
          <a:xfrm>
            <a:off x="847725" y="4048125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8" name="Google Shape;108;p14">
            <a:extLst>
              <a:ext uri="{FF2B5EF4-FFF2-40B4-BE49-F238E27FC236}">
                <a16:creationId xmlns:a16="http://schemas.microsoft.com/office/drawing/2014/main" id="{B02D0E53-F436-4CCF-8760-39EC22F27443}"/>
              </a:ext>
            </a:extLst>
          </p:cNvPr>
          <p:cNvSpPr>
            <a:spLocks noGrp="1"/>
          </p:cNvSpPr>
          <p:nvPr/>
        </p:nvSpPr>
        <p:spPr>
          <a:xfrm>
            <a:off x="847725" y="4619625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D65F22BF-4097-42E9-A558-3A0B384592D5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Khi dữ liệu tuyển dụng nằm trong nhiều file Excel</a:t>
            </a:r>
            <a:endParaRPr/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51DEDFBF-3287-41F1-BFA4-A8DFB7E6F8ED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9341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15;p15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44" name="Google Shape;116;p15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05100"/>
            <a:ext cx="3530649" cy="2352675"/>
          </a:xfrm>
          <a:prstGeom prst="rect">
            <a:avLst/>
          </a:prstGeom>
          <a:ln>
            <a:noFill/>
          </a:ln>
        </p:spPr>
      </p:pic>
      <p:pic>
        <p:nvPicPr>
          <p:cNvPr id="145" name="Google Shape;117;p15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0749" y="2705100"/>
            <a:ext cx="3530649" cy="2352675"/>
          </a:xfrm>
          <a:prstGeom prst="rect">
            <a:avLst/>
          </a:prstGeom>
          <a:ln>
            <a:noFill/>
          </a:ln>
        </p:spPr>
      </p:pic>
      <p:pic>
        <p:nvPicPr>
          <p:cNvPr id="146" name="Google Shape;118;p15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89999" y="2705100"/>
            <a:ext cx="3530649" cy="2352675"/>
          </a:xfrm>
          <a:prstGeom prst="rect">
            <a:avLst/>
          </a:prstGeom>
          <a:ln>
            <a:noFill/>
          </a:ln>
        </p:spPr>
      </p:pic>
      <p:pic>
        <p:nvPicPr>
          <p:cNvPr id="147" name="Google Shape;119;p15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8675" y="2962275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5412F5DF-B664-4E4B-9DE6-0EC4562F4830}"/>
              </a:ext>
            </a:extLst>
          </p:cNvPr>
          <p:cNvSpPr>
            <a:spLocks noGrp="1"/>
          </p:cNvSpPr>
          <p:nvPr/>
        </p:nvSpPr>
        <p:spPr>
          <a:xfrm>
            <a:off x="828675" y="3590925"/>
            <a:ext cx="244358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Hồ sơ người lao động chuẩn hóa</a:t>
            </a:r>
            <a:endParaRPr/>
          </a:p>
        </p:txBody>
      </p:sp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1B698327-FAD7-4CB6-91E5-39E64337D3A9}"/>
              </a:ext>
            </a:extLst>
          </p:cNvPr>
          <p:cNvSpPr>
            <a:spLocks noGrp="1"/>
          </p:cNvSpPr>
          <p:nvPr/>
        </p:nvSpPr>
        <p:spPr>
          <a:xfrm>
            <a:off x="828675" y="4000500"/>
            <a:ext cx="301629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Định danh UID, CCCD và tài khoản. Một hồ sơ theo dõi lịch sử đi làm, mã NV, nhà máy và đối tác.</a:t>
            </a:r>
            <a:endParaRPr/>
          </a:p>
        </p:txBody>
      </p:sp>
      <p:pic>
        <p:nvPicPr>
          <p:cNvPr id="150" name="Google Shape;122;p15"/>
          <p:cNvPicPr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7924" y="2962275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AD292B35-1281-46A7-84C6-83F4B50003C6}"/>
              </a:ext>
            </a:extLst>
          </p:cNvPr>
          <p:cNvSpPr>
            <a:spLocks noGrp="1"/>
          </p:cNvSpPr>
          <p:nvPr/>
        </p:nvSpPr>
        <p:spPr>
          <a:xfrm>
            <a:off x="4587924" y="3590925"/>
            <a:ext cx="314289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Công và tài chính vận hành</a:t>
            </a:r>
            <a:endParaRPr/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2244289D-6D94-4822-A8B0-2E441AE03AD8}"/>
              </a:ext>
            </a:extLst>
          </p:cNvPr>
          <p:cNvSpPr>
            <a:spLocks noGrp="1"/>
          </p:cNvSpPr>
          <p:nvPr/>
        </p:nvSpPr>
        <p:spPr>
          <a:xfrm>
            <a:off x="4587924" y="4000500"/>
            <a:ext cx="3016299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Liên kết lịch sử đi làm với công, lương, thâm niên, tạm ứng và giữ lương; mọi yêu cầu đều có trạng thái duyệt.</a:t>
            </a:r>
            <a:endParaRPr/>
          </a:p>
        </p:txBody>
      </p:sp>
      <p:pic>
        <p:nvPicPr>
          <p:cNvPr id="153" name="Google Shape;125;p15"/>
          <p:cNvPicPr>
            <a:picLocks noChangeAspect="1"/>
          </p:cNvPicPr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7174" y="2962275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126" name="Google Shape;126;p15">
            <a:extLst>
              <a:ext uri="{FF2B5EF4-FFF2-40B4-BE49-F238E27FC236}">
                <a16:creationId xmlns:a16="http://schemas.microsoft.com/office/drawing/2014/main" id="{2802EE2F-AE18-4AE9-8927-11682D1E1EFA}"/>
              </a:ext>
            </a:extLst>
          </p:cNvPr>
          <p:cNvSpPr>
            <a:spLocks noGrp="1"/>
          </p:cNvSpPr>
          <p:nvPr/>
        </p:nvSpPr>
        <p:spPr>
          <a:xfrm>
            <a:off x="8347174" y="3590925"/>
            <a:ext cx="227512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Phân quyền và nhật ký</a:t>
            </a:r>
            <a:endParaRPr/>
          </a:p>
        </p:txBody>
      </p:sp>
      <p:sp>
        <p:nvSpPr>
          <p:cNvPr id="127" name="Google Shape;127;p15">
            <a:extLst>
              <a:ext uri="{FF2B5EF4-FFF2-40B4-BE49-F238E27FC236}">
                <a16:creationId xmlns:a16="http://schemas.microsoft.com/office/drawing/2014/main" id="{386F2EE2-EEAC-4C62-A6F5-CD4A0E5F4E93}"/>
              </a:ext>
            </a:extLst>
          </p:cNvPr>
          <p:cNvSpPr>
            <a:spLocks noGrp="1"/>
          </p:cNvSpPr>
          <p:nvPr/>
        </p:nvSpPr>
        <p:spPr>
          <a:xfrm>
            <a:off x="8347174" y="4000500"/>
            <a:ext cx="30162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Mỗi vai trò chỉ xem phần cần thiết. Lưu ai làm, lúc nào và thay đổi gì để dễ kiểm tra.</a:t>
            </a:r>
            <a:endParaRPr/>
          </a:p>
        </p:txBody>
      </p:sp>
      <p:pic>
        <p:nvPicPr>
          <p:cNvPr id="156" name="Google Shape;128;p15"/>
          <p:cNvPicPr>
            <a:picLocks noChangeAspect="1"/>
          </p:cNvPicPr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47737" y="3095625"/>
            <a:ext cx="238125" cy="209550"/>
          </a:xfrm>
          <a:prstGeom prst="rect">
            <a:avLst/>
          </a:prstGeom>
          <a:ln>
            <a:noFill/>
          </a:ln>
        </p:spPr>
      </p:pic>
      <p:pic>
        <p:nvPicPr>
          <p:cNvPr id="157" name="Google Shape;129;p15"/>
          <p:cNvPicPr>
            <a:picLocks noChangeAspect="1"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45087" y="3095625"/>
            <a:ext cx="161925" cy="209550"/>
          </a:xfrm>
          <a:prstGeom prst="rect">
            <a:avLst/>
          </a:prstGeom>
          <a:ln>
            <a:noFill/>
          </a:ln>
        </p:spPr>
      </p:pic>
      <p:pic>
        <p:nvPicPr>
          <p:cNvPr id="158" name="Google Shape;130;p15"/>
          <p:cNvPicPr>
            <a:picLocks noChangeAspect="1"/>
          </p:cNvPicPr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51949" y="3095625"/>
            <a:ext cx="266700" cy="209550"/>
          </a:xfrm>
          <a:prstGeom prst="rect">
            <a:avLst/>
          </a:prstGeom>
          <a:ln>
            <a:noFill/>
          </a:ln>
        </p:spPr>
      </p:pic>
      <p:sp>
        <p:nvSpPr>
          <p:cNvPr id="131" name="Google Shape;131;p15">
            <a:extLst>
              <a:ext uri="{FF2B5EF4-FFF2-40B4-BE49-F238E27FC236}">
                <a16:creationId xmlns:a16="http://schemas.microsoft.com/office/drawing/2014/main" id="{0AA84B88-2B65-4956-8657-D94760649DE2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Một nguồn dữ liệu cho toàn bộ vòng đời người lao động</a:t>
            </a:r>
            <a:endParaRPr/>
          </a:p>
        </p:txBody>
      </p:sp>
      <p:sp>
        <p:nvSpPr>
          <p:cNvPr id="132" name="Google Shape;132;p15">
            <a:extLst>
              <a:ext uri="{FF2B5EF4-FFF2-40B4-BE49-F238E27FC236}">
                <a16:creationId xmlns:a16="http://schemas.microsoft.com/office/drawing/2014/main" id="{327BE7DD-8C41-442B-94A6-D7659F30ED42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2664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37;p16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38" name="Google Shape;138;p16">
            <a:extLst>
              <a:ext uri="{FF2B5EF4-FFF2-40B4-BE49-F238E27FC236}">
                <a16:creationId xmlns:a16="http://schemas.microsoft.com/office/drawing/2014/main" id="{0944008B-17ED-459C-8392-30B9DF026FD9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56007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Năng lực sẵn sàng cho vận hành</a:t>
            </a:r>
            <a:endParaRPr/>
          </a:p>
        </p:txBody>
      </p:sp>
      <p:sp>
        <p:nvSpPr>
          <p:cNvPr id="139" name="Google Shape;139;p16">
            <a:extLst>
              <a:ext uri="{FF2B5EF4-FFF2-40B4-BE49-F238E27FC236}">
                <a16:creationId xmlns:a16="http://schemas.microsoft.com/office/drawing/2014/main" id="{E43A51F5-6EF1-465E-BB79-F1A623B86883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5334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05CA264E-8E1F-4A7D-9E84-C6E03202203A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56007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Quản lý tập trung, dễ kiểm soát</a:t>
            </a:r>
            <a:endParaRPr/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69CDFC2C-B0E1-4E72-9E72-12A08FFF5602}"/>
              </a:ext>
            </a:extLst>
          </p:cNvPr>
          <p:cNvSpPr>
            <a:spLocks noGrp="1"/>
          </p:cNvSpPr>
          <p:nvPr/>
        </p:nvSpPr>
        <p:spPr>
          <a:xfrm>
            <a:off x="571500" y="1790700"/>
            <a:ext cx="533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• Dashboard nhân lực theo thời gian thực: Xử lý 500+ bản ghi mỗi lần tải, lọc theo nhà máy, người tuyển và trạng thái đang làm/đã nghỉ.</a:t>
            </a:r>
            <a:endParaRPr/>
          </a:p>
        </p:txBody>
      </p:sp>
      <p:sp>
        <p:nvSpPr>
          <p:cNvPr id="143" name="Google Shape;143;p16">
            <a:extLst>
              <a:ext uri="{FF2B5EF4-FFF2-40B4-BE49-F238E27FC236}">
                <a16:creationId xmlns:a16="http://schemas.microsoft.com/office/drawing/2014/main" id="{31A00739-E027-4183-87AA-F8C931B5ACB4}"/>
              </a:ext>
            </a:extLst>
          </p:cNvPr>
          <p:cNvSpPr>
            <a:spLocks noGrp="1"/>
          </p:cNvSpPr>
          <p:nvPr/>
        </p:nvSpPr>
        <p:spPr>
          <a:xfrm>
            <a:off x="571500" y="2362200"/>
            <a:ext cx="533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• Nhập/xuất Excel theo UID: Dòng lỗi tách riêng, không làm gián đoạn dữ liệu hợp lệ.</a:t>
            </a:r>
            <a:endParaRPr/>
          </a:p>
        </p:txBody>
      </p:sp>
      <p:sp>
        <p:nvSpPr>
          <p:cNvPr id="144" name="Google Shape;144;p16">
            <a:extLst>
              <a:ext uri="{FF2B5EF4-FFF2-40B4-BE49-F238E27FC236}">
                <a16:creationId xmlns:a16="http://schemas.microsoft.com/office/drawing/2014/main" id="{7173EF01-1CFA-40A9-B687-A6A850DD44BC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5334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• Kiểm soát rủi ro: Cảnh báo trùng lịch sử đi làm, kiểm tra phiên bản CCCD và bảo mật dữ liệu tài chính.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21786"/>
          <a:stretch/>
        </p:blipFill>
        <p:spPr>
          <a:xfrm>
            <a:off x="6787663" y="236220"/>
            <a:ext cx="4832838" cy="3657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039" y="3795932"/>
            <a:ext cx="4806462" cy="277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6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49;p17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50" name="Google Shape;150;p17">
            <a:extLst>
              <a:ext uri="{FF2B5EF4-FFF2-40B4-BE49-F238E27FC236}">
                <a16:creationId xmlns:a16="http://schemas.microsoft.com/office/drawing/2014/main" id="{0E0F3947-5500-4C2F-9008-9D5F341B4DB4}"/>
              </a:ext>
            </a:extLst>
          </p:cNvPr>
          <p:cNvSpPr>
            <a:spLocks noGrp="1"/>
          </p:cNvSpPr>
          <p:nvPr/>
        </p:nvSpPr>
        <p:spPr>
          <a:xfrm>
            <a:off x="571500" y="2614612"/>
            <a:ext cx="11049000" cy="25336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mpd="sng">
            <a:solidFill>
              <a:srgbClr val="4A7DBA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73" name="Google Shape;151;p17"/>
          <p:cNvGraphicFramePr/>
          <p:nvPr/>
        </p:nvGraphicFramePr>
        <p:xfrm>
          <a:off x="571500" y="2614612"/>
          <a:ext cx="11039475" cy="2533625"/>
        </p:xfrm>
        <a:graphic>
          <a:graphicData uri="http://schemas.openxmlformats.org/drawingml/2006/table">
            <a:tbl>
              <a:tblPr firstRow="1" bandRow="1">
                <a:tableStyleId>{89BDE6DB-7701-4B69-9FE2-2E41202F5456}</a:tableStyleId>
              </a:tblPr>
              <a:tblGrid>
                <a:gridCol w="217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5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Vấn đề hiện tại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Chi phí vận hành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Ứng dụng giải quyết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Dữ liệu phân tán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Không liền mạch từ tuyển dụng đến tính lương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Một Workspace cho hồ sơ và lịch sử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Sai tên, trùng mã NV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Khó truy trách nhiệm, rủi ro tài chính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Định danh UID, lưu phiên bản và cảnh báo trùng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Báo cáo chậm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Quyết định dựa trên dữ liệu cũ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Dashboard cập nhật ngay khi có dữ liệu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Phê duyệt mơ hồ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Tranh cãi khi có sai sót ứng/giữ lương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Lưu trạng thái, thời điểm và tài khoản duyệt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2" name="Google Shape;152;p17">
            <a:extLst>
              <a:ext uri="{FF2B5EF4-FFF2-40B4-BE49-F238E27FC236}">
                <a16:creationId xmlns:a16="http://schemas.microsoft.com/office/drawing/2014/main" id="{A0F60FF8-E6A4-4638-AB91-B7786C180CC7}"/>
              </a:ext>
            </a:extLst>
          </p:cNvPr>
          <p:cNvSpPr>
            <a:spLocks noGrp="1"/>
          </p:cNvSpPr>
          <p:nvPr/>
        </p:nvSpPr>
        <p:spPr>
          <a:xfrm>
            <a:off x="576262" y="3114675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3" name="Google Shape;153;p17">
            <a:extLst>
              <a:ext uri="{FF2B5EF4-FFF2-40B4-BE49-F238E27FC236}">
                <a16:creationId xmlns:a16="http://schemas.microsoft.com/office/drawing/2014/main" id="{F57E52F8-9BB0-4F78-B5FC-F7B891B516BB}"/>
              </a:ext>
            </a:extLst>
          </p:cNvPr>
          <p:cNvSpPr>
            <a:spLocks noGrp="1"/>
          </p:cNvSpPr>
          <p:nvPr/>
        </p:nvSpPr>
        <p:spPr>
          <a:xfrm>
            <a:off x="2747664" y="3114675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4" name="Google Shape;154;p17">
            <a:extLst>
              <a:ext uri="{FF2B5EF4-FFF2-40B4-BE49-F238E27FC236}">
                <a16:creationId xmlns:a16="http://schemas.microsoft.com/office/drawing/2014/main" id="{55759A4C-71C0-43BC-AC9F-6BB543DE04E2}"/>
              </a:ext>
            </a:extLst>
          </p:cNvPr>
          <p:cNvSpPr>
            <a:spLocks noGrp="1"/>
          </p:cNvSpPr>
          <p:nvPr/>
        </p:nvSpPr>
        <p:spPr>
          <a:xfrm>
            <a:off x="6706492" y="3114675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5" name="Google Shape;155;p17">
            <a:extLst>
              <a:ext uri="{FF2B5EF4-FFF2-40B4-BE49-F238E27FC236}">
                <a16:creationId xmlns:a16="http://schemas.microsoft.com/office/drawing/2014/main" id="{F9B02551-1528-4275-951D-C483349D1123}"/>
              </a:ext>
            </a:extLst>
          </p:cNvPr>
          <p:cNvSpPr>
            <a:spLocks noGrp="1"/>
          </p:cNvSpPr>
          <p:nvPr/>
        </p:nvSpPr>
        <p:spPr>
          <a:xfrm>
            <a:off x="576262" y="3619500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6" name="Google Shape;156;p17">
            <a:extLst>
              <a:ext uri="{FF2B5EF4-FFF2-40B4-BE49-F238E27FC236}">
                <a16:creationId xmlns:a16="http://schemas.microsoft.com/office/drawing/2014/main" id="{9B039FB0-4049-4A10-869C-CF057B760857}"/>
              </a:ext>
            </a:extLst>
          </p:cNvPr>
          <p:cNvSpPr>
            <a:spLocks noGrp="1"/>
          </p:cNvSpPr>
          <p:nvPr/>
        </p:nvSpPr>
        <p:spPr>
          <a:xfrm>
            <a:off x="2747664" y="3619500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7" name="Google Shape;157;p17">
            <a:extLst>
              <a:ext uri="{FF2B5EF4-FFF2-40B4-BE49-F238E27FC236}">
                <a16:creationId xmlns:a16="http://schemas.microsoft.com/office/drawing/2014/main" id="{6635AACB-DD92-4724-88CB-2DE519114A67}"/>
              </a:ext>
            </a:extLst>
          </p:cNvPr>
          <p:cNvSpPr>
            <a:spLocks noGrp="1"/>
          </p:cNvSpPr>
          <p:nvPr/>
        </p:nvSpPr>
        <p:spPr>
          <a:xfrm>
            <a:off x="6706492" y="3619500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8" name="Google Shape;158;p17">
            <a:extLst>
              <a:ext uri="{FF2B5EF4-FFF2-40B4-BE49-F238E27FC236}">
                <a16:creationId xmlns:a16="http://schemas.microsoft.com/office/drawing/2014/main" id="{D2E7E07D-41F2-4F3C-B21D-C4D1D4FFBD3F}"/>
              </a:ext>
            </a:extLst>
          </p:cNvPr>
          <p:cNvSpPr>
            <a:spLocks noGrp="1"/>
          </p:cNvSpPr>
          <p:nvPr/>
        </p:nvSpPr>
        <p:spPr>
          <a:xfrm>
            <a:off x="576262" y="4124325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9" name="Google Shape;159;p17">
            <a:extLst>
              <a:ext uri="{FF2B5EF4-FFF2-40B4-BE49-F238E27FC236}">
                <a16:creationId xmlns:a16="http://schemas.microsoft.com/office/drawing/2014/main" id="{150BF5C6-1A78-4379-8721-D48B7098EB63}"/>
              </a:ext>
            </a:extLst>
          </p:cNvPr>
          <p:cNvSpPr>
            <a:spLocks noGrp="1"/>
          </p:cNvSpPr>
          <p:nvPr/>
        </p:nvSpPr>
        <p:spPr>
          <a:xfrm>
            <a:off x="2747664" y="4124325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0" name="Google Shape;160;p17">
            <a:extLst>
              <a:ext uri="{FF2B5EF4-FFF2-40B4-BE49-F238E27FC236}">
                <a16:creationId xmlns:a16="http://schemas.microsoft.com/office/drawing/2014/main" id="{043B87C1-364A-4EB1-82FF-4B366D168A6C}"/>
              </a:ext>
            </a:extLst>
          </p:cNvPr>
          <p:cNvSpPr>
            <a:spLocks noGrp="1"/>
          </p:cNvSpPr>
          <p:nvPr/>
        </p:nvSpPr>
        <p:spPr>
          <a:xfrm>
            <a:off x="6706492" y="4124325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" name="Google Shape;161;p17">
            <a:extLst>
              <a:ext uri="{FF2B5EF4-FFF2-40B4-BE49-F238E27FC236}">
                <a16:creationId xmlns:a16="http://schemas.microsoft.com/office/drawing/2014/main" id="{2AE961C1-8898-4390-AC90-D5B756BCB9BE}"/>
              </a:ext>
            </a:extLst>
          </p:cNvPr>
          <p:cNvSpPr>
            <a:spLocks noGrp="1"/>
          </p:cNvSpPr>
          <p:nvPr/>
        </p:nvSpPr>
        <p:spPr>
          <a:xfrm>
            <a:off x="576262" y="4629150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2" name="Google Shape;162;p17">
            <a:extLst>
              <a:ext uri="{FF2B5EF4-FFF2-40B4-BE49-F238E27FC236}">
                <a16:creationId xmlns:a16="http://schemas.microsoft.com/office/drawing/2014/main" id="{8B3C080B-9C9C-4C3B-B451-6F74184497C4}"/>
              </a:ext>
            </a:extLst>
          </p:cNvPr>
          <p:cNvSpPr>
            <a:spLocks noGrp="1"/>
          </p:cNvSpPr>
          <p:nvPr/>
        </p:nvSpPr>
        <p:spPr>
          <a:xfrm>
            <a:off x="2747664" y="4629150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3" name="Google Shape;163;p17">
            <a:extLst>
              <a:ext uri="{FF2B5EF4-FFF2-40B4-BE49-F238E27FC236}">
                <a16:creationId xmlns:a16="http://schemas.microsoft.com/office/drawing/2014/main" id="{4601A446-BB12-43E5-BF50-CB9D4B26B635}"/>
              </a:ext>
            </a:extLst>
          </p:cNvPr>
          <p:cNvSpPr>
            <a:spLocks noGrp="1"/>
          </p:cNvSpPr>
          <p:nvPr/>
        </p:nvSpPr>
        <p:spPr>
          <a:xfrm>
            <a:off x="6706492" y="4629150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" name="Google Shape;164;p17">
            <a:extLst>
              <a:ext uri="{FF2B5EF4-FFF2-40B4-BE49-F238E27FC236}">
                <a16:creationId xmlns:a16="http://schemas.microsoft.com/office/drawing/2014/main" id="{6D7F859B-31B7-4B6B-AB7A-F2B9BE364CB4}"/>
              </a:ext>
            </a:extLst>
          </p:cNvPr>
          <p:cNvSpPr>
            <a:spLocks noGrp="1"/>
          </p:cNvSpPr>
          <p:nvPr/>
        </p:nvSpPr>
        <p:spPr>
          <a:xfrm>
            <a:off x="576262" y="5133975"/>
            <a:ext cx="21714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5" name="Google Shape;165;p17">
            <a:extLst>
              <a:ext uri="{FF2B5EF4-FFF2-40B4-BE49-F238E27FC236}">
                <a16:creationId xmlns:a16="http://schemas.microsoft.com/office/drawing/2014/main" id="{C58A63D2-410F-40E9-9359-124D632E5659}"/>
              </a:ext>
            </a:extLst>
          </p:cNvPr>
          <p:cNvSpPr>
            <a:spLocks noGrp="1"/>
          </p:cNvSpPr>
          <p:nvPr/>
        </p:nvSpPr>
        <p:spPr>
          <a:xfrm>
            <a:off x="2747664" y="5133975"/>
            <a:ext cx="39588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6" name="Google Shape;166;p17">
            <a:extLst>
              <a:ext uri="{FF2B5EF4-FFF2-40B4-BE49-F238E27FC236}">
                <a16:creationId xmlns:a16="http://schemas.microsoft.com/office/drawing/2014/main" id="{BCDED5A3-4A7D-4573-8B9F-41BFEA31E73F}"/>
              </a:ext>
            </a:extLst>
          </p:cNvPr>
          <p:cNvSpPr>
            <a:spLocks noGrp="1"/>
          </p:cNvSpPr>
          <p:nvPr/>
        </p:nvSpPr>
        <p:spPr>
          <a:xfrm>
            <a:off x="6706492" y="5133975"/>
            <a:ext cx="49092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7C0725FE-D106-407E-98C1-B7A10C1DF413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Giá trị thấy ngay trong vận hành</a:t>
            </a:r>
            <a:endParaRPr/>
          </a:p>
        </p:txBody>
      </p: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2D622689-420D-406A-BF0D-AE0DA30C0E3A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7830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73;p18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192" name="Google Shape;174;p18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800350"/>
            <a:ext cx="5381625" cy="2162175"/>
          </a:xfrm>
          <a:prstGeom prst="rect">
            <a:avLst/>
          </a:prstGeom>
          <a:ln>
            <a:noFill/>
          </a:ln>
        </p:spPr>
      </p:pic>
      <p:sp>
        <p:nvSpPr>
          <p:cNvPr id="175" name="Google Shape;175;p18">
            <a:extLst>
              <a:ext uri="{FF2B5EF4-FFF2-40B4-BE49-F238E27FC236}">
                <a16:creationId xmlns:a16="http://schemas.microsoft.com/office/drawing/2014/main" id="{05F35A7A-586D-447B-BECC-38EC2581C4BC}"/>
              </a:ext>
            </a:extLst>
          </p:cNvPr>
          <p:cNvSpPr>
            <a:spLocks noGrp="1"/>
          </p:cNvSpPr>
          <p:nvPr/>
        </p:nvSpPr>
        <p:spPr>
          <a:xfrm>
            <a:off x="771525" y="3190875"/>
            <a:ext cx="4981575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0" b="1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5</a:t>
            </a:r>
            <a:endParaRPr/>
          </a:p>
        </p:txBody>
      </p:sp>
      <p:sp>
        <p:nvSpPr>
          <p:cNvPr id="176" name="Google Shape;176;p18">
            <a:extLst>
              <a:ext uri="{FF2B5EF4-FFF2-40B4-BE49-F238E27FC236}">
                <a16:creationId xmlns:a16="http://schemas.microsoft.com/office/drawing/2014/main" id="{9604647F-8D76-4F3A-BFAB-9A977C8B2102}"/>
              </a:ext>
            </a:extLst>
          </p:cNvPr>
          <p:cNvSpPr>
            <a:spLocks noGrp="1"/>
          </p:cNvSpPr>
          <p:nvPr/>
        </p:nvSpPr>
        <p:spPr>
          <a:xfrm>
            <a:off x="771525" y="4333875"/>
            <a:ext cx="4981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Phút để xem bức tranh tổng thể</a:t>
            </a:r>
            <a:endParaRPr/>
          </a:p>
        </p:txBody>
      </p:sp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87FC50E7-2BB5-44AC-9DF9-D8CB385936D0}"/>
              </a:ext>
            </a:extLst>
          </p:cNvPr>
          <p:cNvSpPr>
            <a:spLocks noGrp="1"/>
          </p:cNvSpPr>
          <p:nvPr/>
        </p:nvSpPr>
        <p:spPr>
          <a:xfrm>
            <a:off x="6238875" y="2705100"/>
            <a:ext cx="565070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0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Xem và quyết định ngay</a:t>
            </a:r>
            <a:endParaRPr/>
          </a:p>
        </p:txBody>
      </p:sp>
      <p:sp>
        <p:nvSpPr>
          <p:cNvPr id="178" name="Google Shape;178;p18">
            <a:extLst>
              <a:ext uri="{FF2B5EF4-FFF2-40B4-BE49-F238E27FC236}">
                <a16:creationId xmlns:a16="http://schemas.microsoft.com/office/drawing/2014/main" id="{75A3D4F0-0DEB-49A4-9497-BB1188BDFE0B}"/>
              </a:ext>
            </a:extLst>
          </p:cNvPr>
          <p:cNvSpPr>
            <a:spLocks noGrp="1"/>
          </p:cNvSpPr>
          <p:nvPr/>
        </p:nvSpPr>
        <p:spPr>
          <a:xfrm>
            <a:off x="6238875" y="3114675"/>
            <a:ext cx="538162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Không cần hỏi “File Excel nào mới nhất?”. Hệ thống trả lời bốn câu hỏi điều hành:</a:t>
            </a:r>
            <a:endParaRPr/>
          </a:p>
        </p:txBody>
      </p:sp>
      <p:sp>
        <p:nvSpPr>
          <p:cNvPr id="179" name="Google Shape;179;p18">
            <a:extLst>
              <a:ext uri="{FF2B5EF4-FFF2-40B4-BE49-F238E27FC236}">
                <a16:creationId xmlns:a16="http://schemas.microsoft.com/office/drawing/2014/main" id="{5229400C-2F05-4E92-BF9A-C2F4F5977811}"/>
              </a:ext>
            </a:extLst>
          </p:cNvPr>
          <p:cNvSpPr>
            <a:spLocks noGrp="1"/>
          </p:cNvSpPr>
          <p:nvPr/>
        </p:nvSpPr>
        <p:spPr>
          <a:xfrm>
            <a:off x="6657975" y="3686175"/>
            <a:ext cx="496252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Hiện có bao nhiêu lao động đang đi làm?</a:t>
            </a:r>
            <a:endParaRPr/>
          </a:p>
        </p:txBody>
      </p:sp>
      <p:sp>
        <p:nvSpPr>
          <p:cNvPr id="180" name="Google Shape;180;p18">
            <a:extLst>
              <a:ext uri="{FF2B5EF4-FFF2-40B4-BE49-F238E27FC236}">
                <a16:creationId xmlns:a16="http://schemas.microsoft.com/office/drawing/2014/main" id="{BDA6644C-00EA-470F-8BEF-602797D4A86F}"/>
              </a:ext>
            </a:extLst>
          </p:cNvPr>
          <p:cNvSpPr>
            <a:spLocks noGrp="1"/>
          </p:cNvSpPr>
          <p:nvPr/>
        </p:nvSpPr>
        <p:spPr>
          <a:xfrm>
            <a:off x="6657975" y="4029075"/>
            <a:ext cx="496252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Nhà máy hoặc nguồn tuyển nào đang hiệu quả?</a:t>
            </a:r>
            <a:endParaRPr/>
          </a:p>
        </p:txBody>
      </p:sp>
      <p:sp>
        <p:nvSpPr>
          <p:cNvPr id="181" name="Google Shape;181;p18">
            <a:extLst>
              <a:ext uri="{FF2B5EF4-FFF2-40B4-BE49-F238E27FC236}">
                <a16:creationId xmlns:a16="http://schemas.microsoft.com/office/drawing/2014/main" id="{950977BF-7173-4D04-B251-E3E5526917C9}"/>
              </a:ext>
            </a:extLst>
          </p:cNvPr>
          <p:cNvSpPr>
            <a:spLocks noGrp="1"/>
          </p:cNvSpPr>
          <p:nvPr/>
        </p:nvSpPr>
        <p:spPr>
          <a:xfrm>
            <a:off x="6657975" y="4371975"/>
            <a:ext cx="496252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Công, tạm ứng và lương hiện tại thế nào?</a:t>
            </a:r>
            <a:endParaRPr/>
          </a:p>
        </p:txBody>
      </p:sp>
      <p:sp>
        <p:nvSpPr>
          <p:cNvPr id="182" name="Google Shape;182;p18">
            <a:extLst>
              <a:ext uri="{FF2B5EF4-FFF2-40B4-BE49-F238E27FC236}">
                <a16:creationId xmlns:a16="http://schemas.microsoft.com/office/drawing/2014/main" id="{ABB88B80-D576-4C60-AE7C-D6969BAFCBBA}"/>
              </a:ext>
            </a:extLst>
          </p:cNvPr>
          <p:cNvSpPr>
            <a:spLocks noGrp="1"/>
          </p:cNvSpPr>
          <p:nvPr/>
        </p:nvSpPr>
        <p:spPr>
          <a:xfrm>
            <a:off x="6657975" y="4714875"/>
            <a:ext cx="496252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Yêu cầu tài chính nào đang chờ duyệt?</a:t>
            </a:r>
            <a:endParaRPr/>
          </a:p>
        </p:txBody>
      </p:sp>
      <p:sp>
        <p:nvSpPr>
          <p:cNvPr id="183" name="Google Shape;183;p18">
            <a:extLst>
              <a:ext uri="{FF2B5EF4-FFF2-40B4-BE49-F238E27FC236}">
                <a16:creationId xmlns:a16="http://schemas.microsoft.com/office/drawing/2014/main" id="{FAECCDC3-4AD8-4F66-BE7D-F3F4BC117CFA}"/>
              </a:ext>
            </a:extLst>
          </p:cNvPr>
          <p:cNvSpPr>
            <a:spLocks noGrp="1"/>
          </p:cNvSpPr>
          <p:nvPr/>
        </p:nvSpPr>
        <p:spPr>
          <a:xfrm>
            <a:off x="6429375" y="3648075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4" name="Google Shape;184;p18">
            <a:extLst>
              <a:ext uri="{FF2B5EF4-FFF2-40B4-BE49-F238E27FC236}">
                <a16:creationId xmlns:a16="http://schemas.microsoft.com/office/drawing/2014/main" id="{5428432C-9377-4738-B94D-A3AFB36B573A}"/>
              </a:ext>
            </a:extLst>
          </p:cNvPr>
          <p:cNvSpPr>
            <a:spLocks noGrp="1"/>
          </p:cNvSpPr>
          <p:nvPr/>
        </p:nvSpPr>
        <p:spPr>
          <a:xfrm>
            <a:off x="6429375" y="3990975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5" name="Google Shape;185;p18">
            <a:extLst>
              <a:ext uri="{FF2B5EF4-FFF2-40B4-BE49-F238E27FC236}">
                <a16:creationId xmlns:a16="http://schemas.microsoft.com/office/drawing/2014/main" id="{02B80CBC-D9B0-469A-AD78-9EBF0BD408ED}"/>
              </a:ext>
            </a:extLst>
          </p:cNvPr>
          <p:cNvSpPr>
            <a:spLocks noGrp="1"/>
          </p:cNvSpPr>
          <p:nvPr/>
        </p:nvSpPr>
        <p:spPr>
          <a:xfrm>
            <a:off x="6429375" y="4333875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6" name="Google Shape;186;p18">
            <a:extLst>
              <a:ext uri="{FF2B5EF4-FFF2-40B4-BE49-F238E27FC236}">
                <a16:creationId xmlns:a16="http://schemas.microsoft.com/office/drawing/2014/main" id="{7A75BCD7-A242-495D-ACFF-7CD18046A57F}"/>
              </a:ext>
            </a:extLst>
          </p:cNvPr>
          <p:cNvSpPr>
            <a:spLocks noGrp="1"/>
          </p:cNvSpPr>
          <p:nvPr/>
        </p:nvSpPr>
        <p:spPr>
          <a:xfrm>
            <a:off x="6429375" y="4676775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187" name="Google Shape;187;p18">
            <a:extLst>
              <a:ext uri="{FF2B5EF4-FFF2-40B4-BE49-F238E27FC236}">
                <a16:creationId xmlns:a16="http://schemas.microsoft.com/office/drawing/2014/main" id="{15D8FC93-2EBC-49E6-9C90-265BC4FD8EEF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Giám đốc nắm tình hình trong 5 phút</a:t>
            </a:r>
            <a:endParaRPr/>
          </a:p>
        </p:txBody>
      </p:sp>
      <p:sp>
        <p:nvSpPr>
          <p:cNvPr id="188" name="Google Shape;188;p18">
            <a:extLst>
              <a:ext uri="{FF2B5EF4-FFF2-40B4-BE49-F238E27FC236}">
                <a16:creationId xmlns:a16="http://schemas.microsoft.com/office/drawing/2014/main" id="{C1E198CA-3600-489A-9837-29A17F0CBA4B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0689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193;p19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sp>
        <p:nvSpPr>
          <p:cNvPr id="194" name="Google Shape;194;p19">
            <a:extLst>
              <a:ext uri="{FF2B5EF4-FFF2-40B4-BE49-F238E27FC236}">
                <a16:creationId xmlns:a16="http://schemas.microsoft.com/office/drawing/2014/main" id="{0956C931-457E-460E-82CF-F2C4F7157519}"/>
              </a:ext>
            </a:extLst>
          </p:cNvPr>
          <p:cNvSpPr>
            <a:spLocks noGrp="1"/>
          </p:cNvSpPr>
          <p:nvPr/>
        </p:nvSpPr>
        <p:spPr>
          <a:xfrm>
            <a:off x="571500" y="2400300"/>
            <a:ext cx="11049000" cy="25336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mpd="sng">
            <a:solidFill>
              <a:srgbClr val="4A7DBA"/>
            </a:solidFill>
            <a:prstDash val="solid"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28" name="Google Shape;195;p19"/>
          <p:cNvGraphicFramePr/>
          <p:nvPr/>
        </p:nvGraphicFramePr>
        <p:xfrm>
          <a:off x="571500" y="2400300"/>
          <a:ext cx="11039475" cy="2533625"/>
        </p:xfrm>
        <a:graphic>
          <a:graphicData uri="http://schemas.openxmlformats.org/drawingml/2006/table">
            <a:tbl>
              <a:tblPr firstRow="1" bandRow="1">
                <a:tableStyleId>{89BDE6DB-7701-4B69-9FE2-2E41202F5456}</a:tableStyleId>
              </a:tblPr>
              <a:tblGrid>
                <a:gridCol w="216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7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Gói Dịch Vụ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Chi Phí / Tháng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Lịch Sử Đi Làm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Tài Khoản Staff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F172A"/>
                          </a:solidFill>
                          <a:latin typeface="Arial"/>
                          <a:ea typeface="Arial"/>
                          <a:cs typeface="Arial"/>
                        </a:rPr>
                        <a:t>Đối Tác &amp; Nhà Máy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Khởi Động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2563EB"/>
                          </a:solidFill>
                          <a:latin typeface="Arial"/>
                          <a:ea typeface="Arial"/>
                          <a:cs typeface="Arial"/>
                        </a:rPr>
                        <a:t>500.000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Tăng Trưởng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1.000.000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1.500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Chuyên Nghiệp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2.000.000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5.000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25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25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6725"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Doanh Nghiệp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3.500.000 đ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10.000 bản ghi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60 tài khoản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 i="0" u="none" cap="none">
                          <a:solidFill>
                            <a:srgbClr val="334155"/>
                          </a:solidFill>
                          <a:latin typeface="Arial"/>
                          <a:ea typeface="Arial"/>
                          <a:cs typeface="Arial"/>
                        </a:rPr>
                        <a:t>60 nhà máy / đối tác</a:t>
                      </a:r>
                      <a:endParaRPr/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6" name="Google Shape;196;p19">
            <a:extLst>
              <a:ext uri="{FF2B5EF4-FFF2-40B4-BE49-F238E27FC236}">
                <a16:creationId xmlns:a16="http://schemas.microsoft.com/office/drawing/2014/main" id="{172B1D0F-D569-4C68-86CF-E59885B8DF33}"/>
              </a:ext>
            </a:extLst>
          </p:cNvPr>
          <p:cNvSpPr>
            <a:spLocks noGrp="1"/>
          </p:cNvSpPr>
          <p:nvPr/>
        </p:nvSpPr>
        <p:spPr>
          <a:xfrm>
            <a:off x="571500" y="5048250"/>
            <a:ext cx="110490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64748B"/>
                </a:solidFill>
                <a:latin typeface="Arial"/>
                <a:ea typeface="Arial"/>
                <a:cs typeface="Arial"/>
              </a:rPr>
              <a:t>* Khi chạm 80% hạn mức, hệ thống đề xuất nâng gói; quy trình và dữ liệu vẫn giữ nguyên.</a:t>
            </a:r>
            <a:endParaRPr/>
          </a:p>
        </p:txBody>
      </p:sp>
      <p:sp>
        <p:nvSpPr>
          <p:cNvPr id="197" name="Google Shape;197;p19">
            <a:extLst>
              <a:ext uri="{FF2B5EF4-FFF2-40B4-BE49-F238E27FC236}">
                <a16:creationId xmlns:a16="http://schemas.microsoft.com/office/drawing/2014/main" id="{7A722604-11EE-4DBE-AF5B-DA15279C31B1}"/>
              </a:ext>
            </a:extLst>
          </p:cNvPr>
          <p:cNvSpPr>
            <a:spLocks noGrp="1"/>
          </p:cNvSpPr>
          <p:nvPr/>
        </p:nvSpPr>
        <p:spPr>
          <a:xfrm>
            <a:off x="576262" y="2900362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8" name="Google Shape;198;p19">
            <a:extLst>
              <a:ext uri="{FF2B5EF4-FFF2-40B4-BE49-F238E27FC236}">
                <a16:creationId xmlns:a16="http://schemas.microsoft.com/office/drawing/2014/main" id="{C9300FE6-BFB1-4027-B475-96B80474CB7A}"/>
              </a:ext>
            </a:extLst>
          </p:cNvPr>
          <p:cNvSpPr>
            <a:spLocks noGrp="1"/>
          </p:cNvSpPr>
          <p:nvPr/>
        </p:nvSpPr>
        <p:spPr>
          <a:xfrm>
            <a:off x="2744985" y="2900362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9" name="Google Shape;199;p19">
            <a:extLst>
              <a:ext uri="{FF2B5EF4-FFF2-40B4-BE49-F238E27FC236}">
                <a16:creationId xmlns:a16="http://schemas.microsoft.com/office/drawing/2014/main" id="{E1092069-8EFF-4FBC-8E32-78C0D0EEE64B}"/>
              </a:ext>
            </a:extLst>
          </p:cNvPr>
          <p:cNvSpPr>
            <a:spLocks noGrp="1"/>
          </p:cNvSpPr>
          <p:nvPr/>
        </p:nvSpPr>
        <p:spPr>
          <a:xfrm>
            <a:off x="4848522" y="2900362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0" name="Google Shape;200;p19">
            <a:extLst>
              <a:ext uri="{FF2B5EF4-FFF2-40B4-BE49-F238E27FC236}">
                <a16:creationId xmlns:a16="http://schemas.microsoft.com/office/drawing/2014/main" id="{BD5C532B-B63B-46C2-B1AE-37339F927796}"/>
              </a:ext>
            </a:extLst>
          </p:cNvPr>
          <p:cNvSpPr>
            <a:spLocks noGrp="1"/>
          </p:cNvSpPr>
          <p:nvPr/>
        </p:nvSpPr>
        <p:spPr>
          <a:xfrm>
            <a:off x="6916340" y="2900362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1" name="Google Shape;201;p19">
            <a:extLst>
              <a:ext uri="{FF2B5EF4-FFF2-40B4-BE49-F238E27FC236}">
                <a16:creationId xmlns:a16="http://schemas.microsoft.com/office/drawing/2014/main" id="{79A04554-B436-4527-85EE-5F87BBAD138E}"/>
              </a:ext>
            </a:extLst>
          </p:cNvPr>
          <p:cNvSpPr>
            <a:spLocks noGrp="1"/>
          </p:cNvSpPr>
          <p:nvPr/>
        </p:nvSpPr>
        <p:spPr>
          <a:xfrm>
            <a:off x="9048154" y="2900362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2" name="Google Shape;202;p19">
            <a:extLst>
              <a:ext uri="{FF2B5EF4-FFF2-40B4-BE49-F238E27FC236}">
                <a16:creationId xmlns:a16="http://schemas.microsoft.com/office/drawing/2014/main" id="{C79BFFA7-1638-4387-9C5C-2C2BE1AAD332}"/>
              </a:ext>
            </a:extLst>
          </p:cNvPr>
          <p:cNvSpPr>
            <a:spLocks noGrp="1"/>
          </p:cNvSpPr>
          <p:nvPr/>
        </p:nvSpPr>
        <p:spPr>
          <a:xfrm>
            <a:off x="576262" y="3405187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" name="Google Shape;203;p19">
            <a:extLst>
              <a:ext uri="{FF2B5EF4-FFF2-40B4-BE49-F238E27FC236}">
                <a16:creationId xmlns:a16="http://schemas.microsoft.com/office/drawing/2014/main" id="{0D2BCB14-B88E-4B18-A8CD-BD366C2CD6C7}"/>
              </a:ext>
            </a:extLst>
          </p:cNvPr>
          <p:cNvSpPr>
            <a:spLocks noGrp="1"/>
          </p:cNvSpPr>
          <p:nvPr/>
        </p:nvSpPr>
        <p:spPr>
          <a:xfrm>
            <a:off x="2744985" y="3405187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4" name="Google Shape;204;p19">
            <a:extLst>
              <a:ext uri="{FF2B5EF4-FFF2-40B4-BE49-F238E27FC236}">
                <a16:creationId xmlns:a16="http://schemas.microsoft.com/office/drawing/2014/main" id="{ABC84F08-A9BA-4408-979A-9FC17EF0CE5D}"/>
              </a:ext>
            </a:extLst>
          </p:cNvPr>
          <p:cNvSpPr>
            <a:spLocks noGrp="1"/>
          </p:cNvSpPr>
          <p:nvPr/>
        </p:nvSpPr>
        <p:spPr>
          <a:xfrm>
            <a:off x="4848522" y="3405187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5" name="Google Shape;205;p19">
            <a:extLst>
              <a:ext uri="{FF2B5EF4-FFF2-40B4-BE49-F238E27FC236}">
                <a16:creationId xmlns:a16="http://schemas.microsoft.com/office/drawing/2014/main" id="{2A74F5AB-F289-4345-B4A4-64C5BF689B74}"/>
              </a:ext>
            </a:extLst>
          </p:cNvPr>
          <p:cNvSpPr>
            <a:spLocks noGrp="1"/>
          </p:cNvSpPr>
          <p:nvPr/>
        </p:nvSpPr>
        <p:spPr>
          <a:xfrm>
            <a:off x="6916340" y="3405187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6" name="Google Shape;206;p19">
            <a:extLst>
              <a:ext uri="{FF2B5EF4-FFF2-40B4-BE49-F238E27FC236}">
                <a16:creationId xmlns:a16="http://schemas.microsoft.com/office/drawing/2014/main" id="{F6ED1057-3D41-443B-ADBC-CCC545E0C69E}"/>
              </a:ext>
            </a:extLst>
          </p:cNvPr>
          <p:cNvSpPr>
            <a:spLocks noGrp="1"/>
          </p:cNvSpPr>
          <p:nvPr/>
        </p:nvSpPr>
        <p:spPr>
          <a:xfrm>
            <a:off x="9048154" y="3405187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7" name="Google Shape;207;p19">
            <a:extLst>
              <a:ext uri="{FF2B5EF4-FFF2-40B4-BE49-F238E27FC236}">
                <a16:creationId xmlns:a16="http://schemas.microsoft.com/office/drawing/2014/main" id="{145412FC-6F62-462F-9CF8-61F62F9CDDBB}"/>
              </a:ext>
            </a:extLst>
          </p:cNvPr>
          <p:cNvSpPr>
            <a:spLocks noGrp="1"/>
          </p:cNvSpPr>
          <p:nvPr/>
        </p:nvSpPr>
        <p:spPr>
          <a:xfrm>
            <a:off x="576262" y="3910012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" name="Google Shape;208;p19">
            <a:extLst>
              <a:ext uri="{FF2B5EF4-FFF2-40B4-BE49-F238E27FC236}">
                <a16:creationId xmlns:a16="http://schemas.microsoft.com/office/drawing/2014/main" id="{4089A828-0997-4EA2-A29E-3BA923128167}"/>
              </a:ext>
            </a:extLst>
          </p:cNvPr>
          <p:cNvSpPr>
            <a:spLocks noGrp="1"/>
          </p:cNvSpPr>
          <p:nvPr/>
        </p:nvSpPr>
        <p:spPr>
          <a:xfrm>
            <a:off x="2744985" y="3910012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9" name="Google Shape;209;p19">
            <a:extLst>
              <a:ext uri="{FF2B5EF4-FFF2-40B4-BE49-F238E27FC236}">
                <a16:creationId xmlns:a16="http://schemas.microsoft.com/office/drawing/2014/main" id="{426925D2-B5F8-44DC-A88F-06F06811F945}"/>
              </a:ext>
            </a:extLst>
          </p:cNvPr>
          <p:cNvSpPr>
            <a:spLocks noGrp="1"/>
          </p:cNvSpPr>
          <p:nvPr/>
        </p:nvSpPr>
        <p:spPr>
          <a:xfrm>
            <a:off x="4848522" y="3910012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" name="Google Shape;210;p19">
            <a:extLst>
              <a:ext uri="{FF2B5EF4-FFF2-40B4-BE49-F238E27FC236}">
                <a16:creationId xmlns:a16="http://schemas.microsoft.com/office/drawing/2014/main" id="{BC8C9AC1-6CEB-4B9C-B118-B2B9537795F4}"/>
              </a:ext>
            </a:extLst>
          </p:cNvPr>
          <p:cNvSpPr>
            <a:spLocks noGrp="1"/>
          </p:cNvSpPr>
          <p:nvPr/>
        </p:nvSpPr>
        <p:spPr>
          <a:xfrm>
            <a:off x="6916340" y="3910012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" name="Google Shape;211;p19">
            <a:extLst>
              <a:ext uri="{FF2B5EF4-FFF2-40B4-BE49-F238E27FC236}">
                <a16:creationId xmlns:a16="http://schemas.microsoft.com/office/drawing/2014/main" id="{D534E3A4-1177-4F76-8E37-41927B072494}"/>
              </a:ext>
            </a:extLst>
          </p:cNvPr>
          <p:cNvSpPr>
            <a:spLocks noGrp="1"/>
          </p:cNvSpPr>
          <p:nvPr/>
        </p:nvSpPr>
        <p:spPr>
          <a:xfrm>
            <a:off x="9048154" y="3910012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2" name="Google Shape;212;p19">
            <a:extLst>
              <a:ext uri="{FF2B5EF4-FFF2-40B4-BE49-F238E27FC236}">
                <a16:creationId xmlns:a16="http://schemas.microsoft.com/office/drawing/2014/main" id="{81574D13-5198-457A-B359-6A09661C82BD}"/>
              </a:ext>
            </a:extLst>
          </p:cNvPr>
          <p:cNvSpPr>
            <a:spLocks noGrp="1"/>
          </p:cNvSpPr>
          <p:nvPr/>
        </p:nvSpPr>
        <p:spPr>
          <a:xfrm>
            <a:off x="576262" y="4414837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3" name="Google Shape;213;p19">
            <a:extLst>
              <a:ext uri="{FF2B5EF4-FFF2-40B4-BE49-F238E27FC236}">
                <a16:creationId xmlns:a16="http://schemas.microsoft.com/office/drawing/2014/main" id="{7BDB1414-2033-431C-A759-AC3313065ADB}"/>
              </a:ext>
            </a:extLst>
          </p:cNvPr>
          <p:cNvSpPr>
            <a:spLocks noGrp="1"/>
          </p:cNvSpPr>
          <p:nvPr/>
        </p:nvSpPr>
        <p:spPr>
          <a:xfrm>
            <a:off x="2744985" y="4414837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4" name="Google Shape;214;p19">
            <a:extLst>
              <a:ext uri="{FF2B5EF4-FFF2-40B4-BE49-F238E27FC236}">
                <a16:creationId xmlns:a16="http://schemas.microsoft.com/office/drawing/2014/main" id="{102C661F-9129-470A-8F25-9D117BDBD3F0}"/>
              </a:ext>
            </a:extLst>
          </p:cNvPr>
          <p:cNvSpPr>
            <a:spLocks noGrp="1"/>
          </p:cNvSpPr>
          <p:nvPr/>
        </p:nvSpPr>
        <p:spPr>
          <a:xfrm>
            <a:off x="4848522" y="4414837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5" name="Google Shape;215;p19">
            <a:extLst>
              <a:ext uri="{FF2B5EF4-FFF2-40B4-BE49-F238E27FC236}">
                <a16:creationId xmlns:a16="http://schemas.microsoft.com/office/drawing/2014/main" id="{AD1E8D36-3445-4B16-9C46-DEE07B4A6906}"/>
              </a:ext>
            </a:extLst>
          </p:cNvPr>
          <p:cNvSpPr>
            <a:spLocks noGrp="1"/>
          </p:cNvSpPr>
          <p:nvPr/>
        </p:nvSpPr>
        <p:spPr>
          <a:xfrm>
            <a:off x="6916340" y="4414837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6" name="Google Shape;216;p19">
            <a:extLst>
              <a:ext uri="{FF2B5EF4-FFF2-40B4-BE49-F238E27FC236}">
                <a16:creationId xmlns:a16="http://schemas.microsoft.com/office/drawing/2014/main" id="{534F64F5-508B-40BF-B4D3-429A77F71894}"/>
              </a:ext>
            </a:extLst>
          </p:cNvPr>
          <p:cNvSpPr>
            <a:spLocks noGrp="1"/>
          </p:cNvSpPr>
          <p:nvPr/>
        </p:nvSpPr>
        <p:spPr>
          <a:xfrm>
            <a:off x="9048154" y="4414837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7" name="Google Shape;217;p19">
            <a:extLst>
              <a:ext uri="{FF2B5EF4-FFF2-40B4-BE49-F238E27FC236}">
                <a16:creationId xmlns:a16="http://schemas.microsoft.com/office/drawing/2014/main" id="{AA4B7C4F-BFF0-4F58-AB47-0B068FCDBD73}"/>
              </a:ext>
            </a:extLst>
          </p:cNvPr>
          <p:cNvSpPr>
            <a:spLocks noGrp="1"/>
          </p:cNvSpPr>
          <p:nvPr/>
        </p:nvSpPr>
        <p:spPr>
          <a:xfrm>
            <a:off x="576262" y="4919662"/>
            <a:ext cx="21687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8" name="Google Shape;218;p19">
            <a:extLst>
              <a:ext uri="{FF2B5EF4-FFF2-40B4-BE49-F238E27FC236}">
                <a16:creationId xmlns:a16="http://schemas.microsoft.com/office/drawing/2014/main" id="{B6C65044-44B4-42F7-B3BD-5A19361275FD}"/>
              </a:ext>
            </a:extLst>
          </p:cNvPr>
          <p:cNvSpPr>
            <a:spLocks noGrp="1"/>
          </p:cNvSpPr>
          <p:nvPr/>
        </p:nvSpPr>
        <p:spPr>
          <a:xfrm>
            <a:off x="2744985" y="4919662"/>
            <a:ext cx="21035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9" name="Google Shape;219;p19">
            <a:extLst>
              <a:ext uri="{FF2B5EF4-FFF2-40B4-BE49-F238E27FC236}">
                <a16:creationId xmlns:a16="http://schemas.microsoft.com/office/drawing/2014/main" id="{F5204A1E-4365-4A8F-A9EA-0E8138322747}"/>
              </a:ext>
            </a:extLst>
          </p:cNvPr>
          <p:cNvSpPr>
            <a:spLocks noGrp="1"/>
          </p:cNvSpPr>
          <p:nvPr/>
        </p:nvSpPr>
        <p:spPr>
          <a:xfrm>
            <a:off x="4848522" y="4919662"/>
            <a:ext cx="206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0" name="Google Shape;220;p19">
            <a:extLst>
              <a:ext uri="{FF2B5EF4-FFF2-40B4-BE49-F238E27FC236}">
                <a16:creationId xmlns:a16="http://schemas.microsoft.com/office/drawing/2014/main" id="{B777B291-32FB-4DA4-BD9B-E401326EC0A2}"/>
              </a:ext>
            </a:extLst>
          </p:cNvPr>
          <p:cNvSpPr>
            <a:spLocks noGrp="1"/>
          </p:cNvSpPr>
          <p:nvPr/>
        </p:nvSpPr>
        <p:spPr>
          <a:xfrm>
            <a:off x="6916340" y="4919662"/>
            <a:ext cx="21318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1" name="Google Shape;221;p19">
            <a:extLst>
              <a:ext uri="{FF2B5EF4-FFF2-40B4-BE49-F238E27FC236}">
                <a16:creationId xmlns:a16="http://schemas.microsoft.com/office/drawing/2014/main" id="{1BE34917-5169-4D3D-B046-FD5B604CAC65}"/>
              </a:ext>
            </a:extLst>
          </p:cNvPr>
          <p:cNvSpPr>
            <a:spLocks noGrp="1"/>
          </p:cNvSpPr>
          <p:nvPr/>
        </p:nvSpPr>
        <p:spPr>
          <a:xfrm>
            <a:off x="9048154" y="4919662"/>
            <a:ext cx="25675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2" name="Google Shape;222;p19">
            <a:extLst>
              <a:ext uri="{FF2B5EF4-FFF2-40B4-BE49-F238E27FC236}">
                <a16:creationId xmlns:a16="http://schemas.microsoft.com/office/drawing/2014/main" id="{6893519D-6C60-4F54-96A5-CDCD23F317B3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Mức giá mở rộng theo quy mô</a:t>
            </a:r>
            <a:endParaRPr/>
          </a:p>
        </p:txBody>
      </p:sp>
      <p:sp>
        <p:nvSpPr>
          <p:cNvPr id="223" name="Google Shape;223;p19">
            <a:extLst>
              <a:ext uri="{FF2B5EF4-FFF2-40B4-BE49-F238E27FC236}">
                <a16:creationId xmlns:a16="http://schemas.microsoft.com/office/drawing/2014/main" id="{8D4CEAAE-B9C3-49DA-895F-E88CDBB5E10E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3230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28;p20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240" name="Google Shape;229;p20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81125"/>
            <a:ext cx="11049000" cy="5000625"/>
          </a:xfrm>
          <a:prstGeom prst="rect">
            <a:avLst/>
          </a:prstGeom>
          <a:ln>
            <a:noFill/>
          </a:ln>
        </p:spPr>
      </p:pic>
      <p:pic>
        <p:nvPicPr>
          <p:cNvPr id="241" name="Google Shape;230;p20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43362"/>
            <a:ext cx="11049000" cy="742950"/>
          </a:xfrm>
          <a:prstGeom prst="rect">
            <a:avLst/>
          </a:prstGeom>
          <a:ln>
            <a:noFill/>
          </a:ln>
        </p:spPr>
      </p:pic>
      <p:pic>
        <p:nvPicPr>
          <p:cNvPr id="242" name="Google Shape;231;p20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902" y="4215544"/>
            <a:ext cx="171450" cy="152400"/>
          </a:xfrm>
          <a:prstGeom prst="rect">
            <a:avLst/>
          </a:prstGeom>
          <a:ln>
            <a:noFill/>
          </a:ln>
        </p:spPr>
      </p:pic>
      <p:sp>
        <p:nvSpPr>
          <p:cNvPr id="232" name="Google Shape;232;p20">
            <a:extLst>
              <a:ext uri="{FF2B5EF4-FFF2-40B4-BE49-F238E27FC236}">
                <a16:creationId xmlns:a16="http://schemas.microsoft.com/office/drawing/2014/main" id="{465AEDE2-9A6C-454F-830E-3689852BCE27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Chi phí phần mềm thấp hơn chi phí đối soát thủ công</a:t>
            </a:r>
            <a:endParaRPr/>
          </a:p>
        </p:txBody>
      </p:sp>
      <p:sp>
        <p:nvSpPr>
          <p:cNvPr id="233" name="Google Shape;233;p20">
            <a:extLst>
              <a:ext uri="{FF2B5EF4-FFF2-40B4-BE49-F238E27FC236}">
                <a16:creationId xmlns:a16="http://schemas.microsoft.com/office/drawing/2014/main" id="{588582BC-1D63-4D78-9090-E44B0D10DC4B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02CF09E3-B639-4475-8C5C-2ED2ECC95618}"/>
              </a:ext>
            </a:extLst>
          </p:cNvPr>
          <p:cNvSpPr>
            <a:spLocks noGrp="1"/>
          </p:cNvSpPr>
          <p:nvPr/>
        </p:nvSpPr>
        <p:spPr>
          <a:xfrm>
            <a:off x="571500" y="1381125"/>
            <a:ext cx="11049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i="1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050" i="1">
                <a:solidFill>
                  <a:srgbClr val="64748B"/>
                </a:solidFill>
                <a:latin typeface="Arial"/>
                <a:ea typeface="Arial"/>
                <a:cs typeface="Arial"/>
              </a:rPr>
              <a:t>Minh họa theo giả định 12 giờ đối soát/tháng; xác nhận lại bằng số liệu thực tế trước khi ký hợp đồng.</a:t>
            </a:r>
          </a:p>
        </p:txBody>
      </p:sp>
    </p:spTree>
    <p:extLst>
      <p:ext uri="{BB962C8B-B14F-4D97-AF65-F5344CB8AC3E}">
        <p14:creationId xmlns:p14="http://schemas.microsoft.com/office/powerpoint/2010/main" val="310022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38;p21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269" name="Google Shape;239;p21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70944"/>
            <a:ext cx="2541240" cy="1830585"/>
          </a:xfrm>
          <a:prstGeom prst="rect">
            <a:avLst/>
          </a:prstGeom>
          <a:ln>
            <a:noFill/>
          </a:ln>
        </p:spPr>
      </p:pic>
      <p:pic>
        <p:nvPicPr>
          <p:cNvPr id="270" name="Google Shape;240;p21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7419" y="3270944"/>
            <a:ext cx="2541240" cy="1830585"/>
          </a:xfrm>
          <a:prstGeom prst="rect">
            <a:avLst/>
          </a:prstGeom>
          <a:ln>
            <a:noFill/>
          </a:ln>
        </p:spPr>
      </p:pic>
      <p:pic>
        <p:nvPicPr>
          <p:cNvPr id="271" name="Google Shape;241;p21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43339" y="3270944"/>
            <a:ext cx="2541240" cy="1830585"/>
          </a:xfrm>
          <a:prstGeom prst="rect">
            <a:avLst/>
          </a:prstGeom>
          <a:ln>
            <a:noFill/>
          </a:ln>
        </p:spPr>
      </p:pic>
      <p:pic>
        <p:nvPicPr>
          <p:cNvPr id="272" name="Google Shape;242;p21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9259" y="3270944"/>
            <a:ext cx="2541240" cy="1830585"/>
          </a:xfrm>
          <a:prstGeom prst="rect">
            <a:avLst/>
          </a:prstGeom>
          <a:ln>
            <a:noFill/>
          </a:ln>
        </p:spPr>
      </p:pic>
      <p:sp>
        <p:nvSpPr>
          <p:cNvPr id="243" name="Google Shape;243;p21">
            <a:extLst>
              <a:ext uri="{FF2B5EF4-FFF2-40B4-BE49-F238E27FC236}">
                <a16:creationId xmlns:a16="http://schemas.microsoft.com/office/drawing/2014/main" id="{4B7EF9E3-73D9-476F-97B0-06FB9B85F36A}"/>
              </a:ext>
            </a:extLst>
          </p:cNvPr>
          <p:cNvSpPr>
            <a:spLocks noGrp="1"/>
          </p:cNvSpPr>
          <p:nvPr/>
        </p:nvSpPr>
        <p:spPr>
          <a:xfrm>
            <a:off x="571500" y="2661344"/>
            <a:ext cx="1104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Đội ngũ đồng hành từng bước để chuyển đổi an toàn, không gián đoạn vận hành:</a:t>
            </a:r>
            <a:endParaRPr/>
          </a:p>
        </p:txBody>
      </p:sp>
      <p:pic>
        <p:nvPicPr>
          <p:cNvPr id="275" name="Google Shape;245;p21"/>
          <p:cNvPicPr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470969"/>
            <a:ext cx="564207" cy="228600"/>
          </a:xfrm>
          <a:prstGeom prst="rect">
            <a:avLst/>
          </a:prstGeom>
          <a:ln>
            <a:noFill/>
          </a:ln>
        </p:spPr>
      </p:pic>
      <p:sp>
        <p:nvSpPr>
          <p:cNvPr id="246" name="Google Shape;246;p21">
            <a:extLst>
              <a:ext uri="{FF2B5EF4-FFF2-40B4-BE49-F238E27FC236}">
                <a16:creationId xmlns:a16="http://schemas.microsoft.com/office/drawing/2014/main" id="{EAFCC36F-81A7-4A15-BB83-CDA64C558152}"/>
              </a:ext>
            </a:extLst>
          </p:cNvPr>
          <p:cNvSpPr>
            <a:spLocks noGrp="1"/>
          </p:cNvSpPr>
          <p:nvPr/>
        </p:nvSpPr>
        <p:spPr>
          <a:xfrm>
            <a:off x="771525" y="3794819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1. Thiết lập hệ thống</a:t>
            </a:r>
            <a:endParaRPr/>
          </a:p>
        </p:txBody>
      </p:sp>
      <p:sp>
        <p:nvSpPr>
          <p:cNvPr id="247" name="Google Shape;247;p21">
            <a:extLst>
              <a:ext uri="{FF2B5EF4-FFF2-40B4-BE49-F238E27FC236}">
                <a16:creationId xmlns:a16="http://schemas.microsoft.com/office/drawing/2014/main" id="{2960CF0F-239A-4BD8-B2A0-8E65264B8230}"/>
              </a:ext>
            </a:extLst>
          </p:cNvPr>
          <p:cNvSpPr>
            <a:spLocks noGrp="1"/>
          </p:cNvSpPr>
          <p:nvPr/>
        </p:nvSpPr>
        <p:spPr>
          <a:xfrm>
            <a:off x="771525" y="4128194"/>
            <a:ext cx="2141190" cy="57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Khởi tạo Workspace, nhà máy, đối tác và phân quyền Staff (1-2 ngày).</a:t>
            </a:r>
            <a:endParaRPr/>
          </a:p>
        </p:txBody>
      </p:sp>
      <p:pic>
        <p:nvPicPr>
          <p:cNvPr id="278" name="Google Shape;248;p21"/>
          <p:cNvPicPr>
            <a:picLocks noChangeAspect="1"/>
          </p:cNvPicPr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607444" y="3470969"/>
            <a:ext cx="564207" cy="228600"/>
          </a:xfrm>
          <a:prstGeom prst="rect">
            <a:avLst/>
          </a:prstGeom>
          <a:ln>
            <a:noFill/>
          </a:ln>
        </p:spPr>
      </p:pic>
      <p:sp>
        <p:nvSpPr>
          <p:cNvPr id="249" name="Google Shape;249;p21">
            <a:extLst>
              <a:ext uri="{FF2B5EF4-FFF2-40B4-BE49-F238E27FC236}">
                <a16:creationId xmlns:a16="http://schemas.microsoft.com/office/drawing/2014/main" id="{72FE8983-89E7-4B96-AD41-10476049399A}"/>
              </a:ext>
            </a:extLst>
          </p:cNvPr>
          <p:cNvSpPr>
            <a:spLocks noGrp="1"/>
          </p:cNvSpPr>
          <p:nvPr/>
        </p:nvSpPr>
        <p:spPr>
          <a:xfrm>
            <a:off x="3607444" y="3794819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2. Chuẩn hóa dữ liệu</a:t>
            </a:r>
            <a:endParaRPr/>
          </a:p>
        </p:txBody>
      </p:sp>
      <p:sp>
        <p:nvSpPr>
          <p:cNvPr id="250" name="Google Shape;250;p21">
            <a:extLst>
              <a:ext uri="{FF2B5EF4-FFF2-40B4-BE49-F238E27FC236}">
                <a16:creationId xmlns:a16="http://schemas.microsoft.com/office/drawing/2014/main" id="{A7C3FF2E-AC12-4BC6-ADFF-83478A8384BE}"/>
              </a:ext>
            </a:extLst>
          </p:cNvPr>
          <p:cNvSpPr>
            <a:spLocks noGrp="1"/>
          </p:cNvSpPr>
          <p:nvPr/>
        </p:nvSpPr>
        <p:spPr>
          <a:xfrm>
            <a:off x="3607444" y="4128194"/>
            <a:ext cx="2141190" cy="579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Chuẩn hóa file Excel theo mẫu và xử lý các dòng lỗi cũ.</a:t>
            </a:r>
            <a:endParaRPr/>
          </a:p>
        </p:txBody>
      </p:sp>
      <p:pic>
        <p:nvPicPr>
          <p:cNvPr id="281" name="Google Shape;251;p21"/>
          <p:cNvPicPr>
            <a:picLocks noChangeAspect="1"/>
          </p:cNvPicPr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43364" y="3470969"/>
            <a:ext cx="564207" cy="228600"/>
          </a:xfrm>
          <a:prstGeom prst="rect">
            <a:avLst/>
          </a:prstGeom>
          <a:ln>
            <a:noFill/>
          </a:ln>
        </p:spPr>
      </p:pic>
      <p:sp>
        <p:nvSpPr>
          <p:cNvPr id="252" name="Google Shape;252;p21">
            <a:extLst>
              <a:ext uri="{FF2B5EF4-FFF2-40B4-BE49-F238E27FC236}">
                <a16:creationId xmlns:a16="http://schemas.microsoft.com/office/drawing/2014/main" id="{62255581-80A0-4256-B091-0FA0F87855C5}"/>
              </a:ext>
            </a:extLst>
          </p:cNvPr>
          <p:cNvSpPr>
            <a:spLocks noGrp="1"/>
          </p:cNvSpPr>
          <p:nvPr/>
        </p:nvSpPr>
        <p:spPr>
          <a:xfrm>
            <a:off x="6443364" y="3794819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3. Vận hành thực tế</a:t>
            </a:r>
            <a:endParaRPr/>
          </a:p>
        </p:txBody>
      </p:sp>
      <p:sp>
        <p:nvSpPr>
          <p:cNvPr id="253" name="Google Shape;253;p21">
            <a:extLst>
              <a:ext uri="{FF2B5EF4-FFF2-40B4-BE49-F238E27FC236}">
                <a16:creationId xmlns:a16="http://schemas.microsoft.com/office/drawing/2014/main" id="{11CE5F28-D419-45CF-8567-751D6E8E81D0}"/>
              </a:ext>
            </a:extLst>
          </p:cNvPr>
          <p:cNvSpPr>
            <a:spLocks noGrp="1"/>
          </p:cNvSpPr>
          <p:nvPr/>
        </p:nvSpPr>
        <p:spPr>
          <a:xfrm>
            <a:off x="6443364" y="4128194"/>
            <a:ext cx="2141190" cy="77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Chạy hồ sơ, lịch sử đi làm, phê duyệt tạm ứng và công/lương trên ứng dụng.</a:t>
            </a:r>
            <a:endParaRPr/>
          </a:p>
        </p:txBody>
      </p:sp>
      <p:pic>
        <p:nvPicPr>
          <p:cNvPr id="284" name="Google Shape;254;p21"/>
          <p:cNvPicPr>
            <a:picLocks noChangeAspect="1"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279284" y="3470969"/>
            <a:ext cx="564207" cy="228600"/>
          </a:xfrm>
          <a:prstGeom prst="rect">
            <a:avLst/>
          </a:prstGeom>
          <a:ln>
            <a:noFill/>
          </a:ln>
        </p:spPr>
      </p:pic>
      <p:sp>
        <p:nvSpPr>
          <p:cNvPr id="255" name="Google Shape;255;p21">
            <a:extLst>
              <a:ext uri="{FF2B5EF4-FFF2-40B4-BE49-F238E27FC236}">
                <a16:creationId xmlns:a16="http://schemas.microsoft.com/office/drawing/2014/main" id="{142AA9DA-4D98-442B-B011-CC9751C10D06}"/>
              </a:ext>
            </a:extLst>
          </p:cNvPr>
          <p:cNvSpPr>
            <a:spLocks noGrp="1"/>
          </p:cNvSpPr>
          <p:nvPr/>
        </p:nvSpPr>
        <p:spPr>
          <a:xfrm>
            <a:off x="9279284" y="3794819"/>
            <a:ext cx="2248249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0" i="0" u="none" cap="none">
                <a:solidFill>
                  <a:srgbClr val="0F172A"/>
                </a:solidFill>
                <a:latin typeface="Arial"/>
                <a:ea typeface="Arial"/>
                <a:cs typeface="Arial"/>
              </a:rPr>
              <a:t>4. Đo lường và bàn giao</a:t>
            </a:r>
            <a:endParaRPr/>
          </a:p>
        </p:txBody>
      </p:sp>
      <p:sp>
        <p:nvSpPr>
          <p:cNvPr id="256" name="Google Shape;256;p21">
            <a:extLst>
              <a:ext uri="{FF2B5EF4-FFF2-40B4-BE49-F238E27FC236}">
                <a16:creationId xmlns:a16="http://schemas.microsoft.com/office/drawing/2014/main" id="{A21FE90A-194D-43FE-8E8E-22D2DF33F0C2}"/>
              </a:ext>
            </a:extLst>
          </p:cNvPr>
          <p:cNvSpPr>
            <a:spLocks noGrp="1"/>
          </p:cNvSpPr>
          <p:nvPr/>
        </p:nvSpPr>
        <p:spPr>
          <a:xfrm>
            <a:off x="9279284" y="4128194"/>
            <a:ext cx="2141190" cy="773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4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475569"/>
                </a:solidFill>
                <a:latin typeface="Arial"/>
                <a:ea typeface="Arial"/>
                <a:cs typeface="Arial"/>
              </a:rPr>
              <a:t>Đo thời gian đối soát, kiểm tra lỗi và chốt gói theo quy mô thực tế.</a:t>
            </a:r>
            <a:endParaRPr/>
          </a:p>
        </p:txBody>
      </p:sp>
      <p:sp>
        <p:nvSpPr>
          <p:cNvPr id="257" name="Google Shape;257;p21">
            <a:extLst>
              <a:ext uri="{FF2B5EF4-FFF2-40B4-BE49-F238E27FC236}">
                <a16:creationId xmlns:a16="http://schemas.microsoft.com/office/drawing/2014/main" id="{B408CBC7-AF32-4E8D-81AB-812D997DA0F8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Lộ trình thí điểm 30 ngày</a:t>
            </a:r>
            <a:endParaRPr/>
          </a:p>
        </p:txBody>
      </p:sp>
      <p:sp>
        <p:nvSpPr>
          <p:cNvPr id="258" name="Google Shape;258;p21">
            <a:extLst>
              <a:ext uri="{FF2B5EF4-FFF2-40B4-BE49-F238E27FC236}">
                <a16:creationId xmlns:a16="http://schemas.microsoft.com/office/drawing/2014/main" id="{7B230106-776E-44E5-951E-3FE9A9B24580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1881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263;p22"/>
          <p:cNvPicPr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</p:pic>
      <p:pic>
        <p:nvPicPr>
          <p:cNvPr id="305" name="Google Shape;264;p22"/>
          <p:cNvPicPr>
            <a:picLocks noChangeAspect="1"/>
          </p:cNvPicPr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64531"/>
            <a:ext cx="5381625" cy="3833812"/>
          </a:xfrm>
          <a:prstGeom prst="rect">
            <a:avLst/>
          </a:prstGeom>
          <a:ln>
            <a:noFill/>
          </a:ln>
        </p:spPr>
      </p:pic>
      <p:pic>
        <p:nvPicPr>
          <p:cNvPr id="306" name="Google Shape;265;p22"/>
          <p:cNvPicPr>
            <a:picLocks noChangeAspect="1"/>
          </p:cNvPicPr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1964531"/>
            <a:ext cx="5381625" cy="3833812"/>
          </a:xfrm>
          <a:prstGeom prst="rect">
            <a:avLst/>
          </a:prstGeom>
          <a:ln>
            <a:noFill/>
          </a:ln>
        </p:spPr>
      </p:pic>
      <p:sp>
        <p:nvSpPr>
          <p:cNvPr id="266" name="Google Shape;266;p22">
            <a:extLst>
              <a:ext uri="{FF2B5EF4-FFF2-40B4-BE49-F238E27FC236}">
                <a16:creationId xmlns:a16="http://schemas.microsoft.com/office/drawing/2014/main" id="{CAB53388-2A11-4199-A48E-5FBDDF6D6CDA}"/>
              </a:ext>
            </a:extLst>
          </p:cNvPr>
          <p:cNvSpPr>
            <a:spLocks noGrp="1"/>
          </p:cNvSpPr>
          <p:nvPr/>
        </p:nvSpPr>
        <p:spPr>
          <a:xfrm>
            <a:off x="876300" y="2269331"/>
            <a:ext cx="501062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38BDF8"/>
                </a:solidFill>
                <a:latin typeface="Arial"/>
                <a:ea typeface="Arial"/>
                <a:cs typeface="Arial"/>
              </a:rPr>
              <a:t>Gói thí điểm khởi động</a:t>
            </a:r>
            <a:endParaRPr/>
          </a:p>
        </p:txBody>
      </p:sp>
      <p:sp>
        <p:nvSpPr>
          <p:cNvPr id="267" name="Google Shape;267;p22">
            <a:extLst>
              <a:ext uri="{FF2B5EF4-FFF2-40B4-BE49-F238E27FC236}">
                <a16:creationId xmlns:a16="http://schemas.microsoft.com/office/drawing/2014/main" id="{12BBA882-3648-4C30-8F25-8A11682446D7}"/>
              </a:ext>
            </a:extLst>
          </p:cNvPr>
          <p:cNvSpPr>
            <a:spLocks noGrp="1"/>
          </p:cNvSpPr>
          <p:nvPr/>
        </p:nvSpPr>
        <p:spPr>
          <a:xfrm>
            <a:off x="876300" y="2697956"/>
            <a:ext cx="47720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8" name="Google Shape;268;p22">
            <a:extLst>
              <a:ext uri="{FF2B5EF4-FFF2-40B4-BE49-F238E27FC236}">
                <a16:creationId xmlns:a16="http://schemas.microsoft.com/office/drawing/2014/main" id="{D3D0A29F-8B13-4C0E-B136-9A6418DC7DF6}"/>
              </a:ext>
            </a:extLst>
          </p:cNvPr>
          <p:cNvSpPr>
            <a:spLocks noGrp="1"/>
          </p:cNvSpPr>
          <p:nvPr/>
        </p:nvSpPr>
        <p:spPr>
          <a:xfrm>
            <a:off x="876300" y="2802731"/>
            <a:ext cx="4772025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cap="none">
                <a:solidFill>
                  <a:srgbClr val="38BDF8"/>
                </a:solidFill>
                <a:latin typeface="Arial"/>
                <a:ea typeface="Arial"/>
                <a:cs typeface="Arial"/>
              </a:rPr>
              <a:t>500.000 đ </a:t>
            </a:r>
            <a:r>
              <a:rPr sz="2100" b="0" i="0" u="none" cap="none">
                <a:solidFill>
                  <a:srgbClr val="94A3B8"/>
                </a:solidFill>
                <a:latin typeface="Arial"/>
                <a:ea typeface="Arial"/>
                <a:cs typeface="Arial"/>
              </a:rPr>
              <a:t>/ tháng</a:t>
            </a:r>
            <a:endParaRPr/>
          </a:p>
        </p:txBody>
      </p:sp>
      <p:sp>
        <p:nvSpPr>
          <p:cNvPr id="269" name="Google Shape;269;p22">
            <a:extLst>
              <a:ext uri="{FF2B5EF4-FFF2-40B4-BE49-F238E27FC236}">
                <a16:creationId xmlns:a16="http://schemas.microsoft.com/office/drawing/2014/main" id="{CB082929-98F1-430C-A01A-7189E177A53C}"/>
              </a:ext>
            </a:extLst>
          </p:cNvPr>
          <p:cNvSpPr>
            <a:spLocks noGrp="1"/>
          </p:cNvSpPr>
          <p:nvPr/>
        </p:nvSpPr>
        <p:spPr>
          <a:xfrm>
            <a:off x="876300" y="4326731"/>
            <a:ext cx="4772025" cy="714375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0" name="Google Shape;270;p22">
            <a:extLst>
              <a:ext uri="{FF2B5EF4-FFF2-40B4-BE49-F238E27FC236}">
                <a16:creationId xmlns:a16="http://schemas.microsoft.com/office/drawing/2014/main" id="{F1044D15-DAB6-43A9-837C-6D342CBA10C6}"/>
              </a:ext>
            </a:extLst>
          </p:cNvPr>
          <p:cNvSpPr>
            <a:spLocks noGrp="1"/>
          </p:cNvSpPr>
          <p:nvPr/>
        </p:nvSpPr>
        <p:spPr>
          <a:xfrm>
            <a:off x="1028700" y="4441031"/>
            <a:ext cx="44672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1E40AF"/>
                </a:solidFill>
                <a:latin typeface="Arial"/>
                <a:ea typeface="Arial"/>
                <a:cs typeface="Arial"/>
              </a:rPr>
              <a:t>Cam kết thử nghiệm:</a:t>
            </a:r>
            <a:endParaRPr/>
          </a:p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1E40AF"/>
                </a:solidFill>
                <a:latin typeface="Arial"/>
                <a:ea typeface="Arial"/>
                <a:cs typeface="Arial"/>
              </a:rPr>
              <a:t>Nếu sau 30 ngày thời gian đối soát không giảm tối thiểu 50%, doanh nghiệp được hoàn lại 100% phí thí điểm.</a:t>
            </a:r>
            <a:endParaRPr/>
          </a:p>
        </p:txBody>
      </p:sp>
      <p:sp>
        <p:nvSpPr>
          <p:cNvPr id="271" name="Google Shape;271;p22">
            <a:extLst>
              <a:ext uri="{FF2B5EF4-FFF2-40B4-BE49-F238E27FC236}">
                <a16:creationId xmlns:a16="http://schemas.microsoft.com/office/drawing/2014/main" id="{1FCCD16E-AFBE-4319-91F8-6ACDA6A3E8B7}"/>
              </a:ext>
            </a:extLst>
          </p:cNvPr>
          <p:cNvSpPr>
            <a:spLocks noGrp="1"/>
          </p:cNvSpPr>
          <p:nvPr/>
        </p:nvSpPr>
        <p:spPr>
          <a:xfrm>
            <a:off x="876300" y="4326731"/>
            <a:ext cx="38100" cy="7143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2" name="Google Shape;272;p22">
            <a:extLst>
              <a:ext uri="{FF2B5EF4-FFF2-40B4-BE49-F238E27FC236}">
                <a16:creationId xmlns:a16="http://schemas.microsoft.com/office/drawing/2014/main" id="{CBC053EA-0FCC-463D-B0E4-F46D7E4376B2}"/>
              </a:ext>
            </a:extLst>
          </p:cNvPr>
          <p:cNvSpPr>
            <a:spLocks noGrp="1"/>
          </p:cNvSpPr>
          <p:nvPr/>
        </p:nvSpPr>
        <p:spPr>
          <a:xfrm>
            <a:off x="6562725" y="2288381"/>
            <a:ext cx="497062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15803D"/>
                </a:solidFill>
                <a:latin typeface="Arial"/>
                <a:ea typeface="Arial"/>
                <a:cs typeface="Arial"/>
              </a:rPr>
              <a:t>Kích hoạt trong 15 phút</a:t>
            </a:r>
            <a:endParaRPr/>
          </a:p>
        </p:txBody>
      </p:sp>
      <p:sp>
        <p:nvSpPr>
          <p:cNvPr id="273" name="Google Shape;273;p22">
            <a:extLst>
              <a:ext uri="{FF2B5EF4-FFF2-40B4-BE49-F238E27FC236}">
                <a16:creationId xmlns:a16="http://schemas.microsoft.com/office/drawing/2014/main" id="{18FC5C3F-98E2-460B-98ED-90AACAC48926}"/>
              </a:ext>
            </a:extLst>
          </p:cNvPr>
          <p:cNvSpPr>
            <a:spLocks noGrp="1"/>
          </p:cNvSpPr>
          <p:nvPr/>
        </p:nvSpPr>
        <p:spPr>
          <a:xfrm>
            <a:off x="6562725" y="2717006"/>
            <a:ext cx="4733925" cy="9525"/>
          </a:xfrm>
          <a:prstGeom prst="rect">
            <a:avLst/>
          </a:prstGeom>
          <a:solidFill>
            <a:srgbClr val="BBF7D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4" name="Google Shape;274;p22">
            <a:extLst>
              <a:ext uri="{FF2B5EF4-FFF2-40B4-BE49-F238E27FC236}">
                <a16:creationId xmlns:a16="http://schemas.microsoft.com/office/drawing/2014/main" id="{94738310-9442-4F8F-8894-A5EAFC3A382D}"/>
              </a:ext>
            </a:extLst>
          </p:cNvPr>
          <p:cNvSpPr>
            <a:spLocks noGrp="1"/>
          </p:cNvSpPr>
          <p:nvPr/>
        </p:nvSpPr>
        <p:spPr>
          <a:xfrm>
            <a:off x="6562725" y="4669631"/>
            <a:ext cx="4733925" cy="523875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5" name="Google Shape;275;p22">
            <a:extLst>
              <a:ext uri="{FF2B5EF4-FFF2-40B4-BE49-F238E27FC236}">
                <a16:creationId xmlns:a16="http://schemas.microsoft.com/office/drawing/2014/main" id="{B982E639-EACD-4497-8A5A-1562007DF781}"/>
              </a:ext>
            </a:extLst>
          </p:cNvPr>
          <p:cNvSpPr>
            <a:spLocks noGrp="1"/>
          </p:cNvSpPr>
          <p:nvPr/>
        </p:nvSpPr>
        <p:spPr>
          <a:xfrm>
            <a:off x="6829425" y="4802981"/>
            <a:ext cx="42005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KÍCH HOẠT HỆ THỐNG NGAY</a:t>
            </a:r>
            <a:endParaRPr/>
          </a:p>
        </p:txBody>
      </p:sp>
      <p:sp>
        <p:nvSpPr>
          <p:cNvPr id="276" name="Google Shape;276;p22">
            <a:extLst>
              <a:ext uri="{FF2B5EF4-FFF2-40B4-BE49-F238E27FC236}">
                <a16:creationId xmlns:a16="http://schemas.microsoft.com/office/drawing/2014/main" id="{ADD7A27D-2BC6-45B0-9152-B6D07295570C}"/>
              </a:ext>
            </a:extLst>
          </p:cNvPr>
          <p:cNvSpPr>
            <a:spLocks noGrp="1"/>
          </p:cNvSpPr>
          <p:nvPr/>
        </p:nvSpPr>
        <p:spPr>
          <a:xfrm>
            <a:off x="6562725" y="5288756"/>
            <a:ext cx="4733925" cy="22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ctr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64748B"/>
                </a:solidFill>
                <a:latin typeface="Arial"/>
                <a:ea typeface="Arial"/>
                <a:cs typeface="Arial"/>
              </a:rPr>
              <a:t>Hỗ trợ kỹ thuật qua Hotline/Zalo: 24/7</a:t>
            </a:r>
            <a:endParaRPr/>
          </a:p>
        </p:txBody>
      </p:sp>
      <p:sp>
        <p:nvSpPr>
          <p:cNvPr id="277" name="Google Shape;277;p22">
            <a:extLst>
              <a:ext uri="{FF2B5EF4-FFF2-40B4-BE49-F238E27FC236}">
                <a16:creationId xmlns:a16="http://schemas.microsoft.com/office/drawing/2014/main" id="{4CF6E248-3E3F-4212-B32B-4CB3F902568D}"/>
              </a:ext>
            </a:extLst>
          </p:cNvPr>
          <p:cNvSpPr>
            <a:spLocks noGrp="1"/>
          </p:cNvSpPr>
          <p:nvPr/>
        </p:nvSpPr>
        <p:spPr>
          <a:xfrm>
            <a:off x="1104900" y="3345656"/>
            <a:ext cx="454342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8FAFC"/>
                </a:solidFill>
                <a:latin typeface="Arial"/>
                <a:ea typeface="Arial"/>
                <a:cs typeface="Arial"/>
              </a:rPr>
              <a:t>Quản lý đến 500 lịch sử đi làm thực tế</a:t>
            </a:r>
            <a:endParaRPr/>
          </a:p>
        </p:txBody>
      </p:sp>
      <p:sp>
        <p:nvSpPr>
          <p:cNvPr id="278" name="Google Shape;278;p22">
            <a:extLst>
              <a:ext uri="{FF2B5EF4-FFF2-40B4-BE49-F238E27FC236}">
                <a16:creationId xmlns:a16="http://schemas.microsoft.com/office/drawing/2014/main" id="{7993793C-2B73-4AA7-B693-4903C87AA762}"/>
              </a:ext>
            </a:extLst>
          </p:cNvPr>
          <p:cNvSpPr>
            <a:spLocks noGrp="1"/>
          </p:cNvSpPr>
          <p:nvPr/>
        </p:nvSpPr>
        <p:spPr>
          <a:xfrm>
            <a:off x="1104900" y="3650456"/>
            <a:ext cx="454342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8FAFC"/>
                </a:solidFill>
                <a:latin typeface="Arial"/>
                <a:ea typeface="Arial"/>
                <a:cs typeface="Arial"/>
              </a:rPr>
              <a:t>5 tài khoản Staff + 5 Nhà máy / Đối tác</a:t>
            </a:r>
            <a:endParaRPr/>
          </a:p>
        </p:txBody>
      </p:sp>
      <p:sp>
        <p:nvSpPr>
          <p:cNvPr id="279" name="Google Shape;279;p22">
            <a:extLst>
              <a:ext uri="{FF2B5EF4-FFF2-40B4-BE49-F238E27FC236}">
                <a16:creationId xmlns:a16="http://schemas.microsoft.com/office/drawing/2014/main" id="{F4FBB94B-A971-4D9E-AA33-5BD07ECDE657}"/>
              </a:ext>
            </a:extLst>
          </p:cNvPr>
          <p:cNvSpPr>
            <a:spLocks noGrp="1"/>
          </p:cNvSpPr>
          <p:nvPr/>
        </p:nvSpPr>
        <p:spPr>
          <a:xfrm>
            <a:off x="1104900" y="3955256"/>
            <a:ext cx="4543425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8FAFC"/>
                </a:solidFill>
                <a:latin typeface="Arial"/>
                <a:ea typeface="Arial"/>
                <a:cs typeface="Arial"/>
              </a:rPr>
              <a:t>Cập nhật tính năng &amp; Bảo mật tự động</a:t>
            </a:r>
            <a:endParaRPr/>
          </a:p>
        </p:txBody>
      </p:sp>
      <p:sp>
        <p:nvSpPr>
          <p:cNvPr id="280" name="Google Shape;280;p22">
            <a:extLst>
              <a:ext uri="{FF2B5EF4-FFF2-40B4-BE49-F238E27FC236}">
                <a16:creationId xmlns:a16="http://schemas.microsoft.com/office/drawing/2014/main" id="{1A6ACA33-62AC-45FD-80BA-9C24B8125901}"/>
              </a:ext>
            </a:extLst>
          </p:cNvPr>
          <p:cNvSpPr>
            <a:spLocks noGrp="1"/>
          </p:cNvSpPr>
          <p:nvPr/>
        </p:nvSpPr>
        <p:spPr>
          <a:xfrm>
            <a:off x="6981825" y="2821781"/>
            <a:ext cx="431482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Xác nhận gói thí điểm và khởi tạo hệ thống riêng cho công ty.</a:t>
            </a:r>
            <a:endParaRPr/>
          </a:p>
        </p:txBody>
      </p:sp>
      <p:sp>
        <p:nvSpPr>
          <p:cNvPr id="281" name="Google Shape;281;p22">
            <a:extLst>
              <a:ext uri="{FF2B5EF4-FFF2-40B4-BE49-F238E27FC236}">
                <a16:creationId xmlns:a16="http://schemas.microsoft.com/office/drawing/2014/main" id="{0E0E7AB3-67AA-4641-B2F5-E643AB8D5A0C}"/>
              </a:ext>
            </a:extLst>
          </p:cNvPr>
          <p:cNvSpPr>
            <a:spLocks noGrp="1"/>
          </p:cNvSpPr>
          <p:nvPr/>
        </p:nvSpPr>
        <p:spPr>
          <a:xfrm>
            <a:off x="6981825" y="3374231"/>
            <a:ext cx="431482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Gửi file Excel mẫu; kỹ thuật chuẩn hóa và nhập dữ liệu ban đầu miễn phí.</a:t>
            </a:r>
            <a:endParaRPr/>
          </a:p>
        </p:txBody>
      </p:sp>
      <p:sp>
        <p:nvSpPr>
          <p:cNvPr id="282" name="Google Shape;282;p22">
            <a:extLst>
              <a:ext uri="{FF2B5EF4-FFF2-40B4-BE49-F238E27FC236}">
                <a16:creationId xmlns:a16="http://schemas.microsoft.com/office/drawing/2014/main" id="{41570006-5D98-480F-8EAA-BDD407DB5861}"/>
              </a:ext>
            </a:extLst>
          </p:cNvPr>
          <p:cNvSpPr>
            <a:spLocks noGrp="1"/>
          </p:cNvSpPr>
          <p:nvPr/>
        </p:nvSpPr>
        <p:spPr>
          <a:xfrm>
            <a:off x="6981825" y="3926681"/>
            <a:ext cx="43148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334155"/>
                </a:solidFill>
                <a:latin typeface="Arial"/>
                <a:ea typeface="Arial"/>
                <a:cs typeface="Arial"/>
              </a:rPr>
              <a:t>Nhận bàn giao và bắt đầu vận hành trong tuần này.</a:t>
            </a:r>
            <a:endParaRPr/>
          </a:p>
        </p:txBody>
      </p:sp>
      <p:pic>
        <p:nvPicPr>
          <p:cNvPr id="324" name="Google Shape;283;p22"/>
          <p:cNvPicPr>
            <a:picLocks noChangeAspect="1"/>
          </p:cNvPicPr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84306" y="4833022"/>
            <a:ext cx="171450" cy="171450"/>
          </a:xfrm>
          <a:prstGeom prst="rect">
            <a:avLst/>
          </a:prstGeom>
          <a:ln>
            <a:noFill/>
          </a:ln>
        </p:spPr>
      </p:pic>
      <p:sp>
        <p:nvSpPr>
          <p:cNvPr id="284" name="Google Shape;284;p22">
            <a:extLst>
              <a:ext uri="{FF2B5EF4-FFF2-40B4-BE49-F238E27FC236}">
                <a16:creationId xmlns:a16="http://schemas.microsoft.com/office/drawing/2014/main" id="{0CB4ABBD-1B12-41AE-940B-1F1D6AE89D5E}"/>
              </a:ext>
            </a:extLst>
          </p:cNvPr>
          <p:cNvSpPr>
            <a:spLocks noGrp="1"/>
          </p:cNvSpPr>
          <p:nvPr/>
        </p:nvSpPr>
        <p:spPr>
          <a:xfrm>
            <a:off x="876300" y="3307556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85" name="Google Shape;285;p22">
            <a:extLst>
              <a:ext uri="{FF2B5EF4-FFF2-40B4-BE49-F238E27FC236}">
                <a16:creationId xmlns:a16="http://schemas.microsoft.com/office/drawing/2014/main" id="{3237B6BC-5211-4BDA-84C4-34DDC183FA9B}"/>
              </a:ext>
            </a:extLst>
          </p:cNvPr>
          <p:cNvSpPr>
            <a:spLocks noGrp="1"/>
          </p:cNvSpPr>
          <p:nvPr/>
        </p:nvSpPr>
        <p:spPr>
          <a:xfrm>
            <a:off x="876300" y="3612356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86" name="Google Shape;286;p22">
            <a:extLst>
              <a:ext uri="{FF2B5EF4-FFF2-40B4-BE49-F238E27FC236}">
                <a16:creationId xmlns:a16="http://schemas.microsoft.com/office/drawing/2014/main" id="{B9C39A4C-4CBE-4203-B4AE-CE98FE0ED2D0}"/>
              </a:ext>
            </a:extLst>
          </p:cNvPr>
          <p:cNvSpPr>
            <a:spLocks noGrp="1"/>
          </p:cNvSpPr>
          <p:nvPr/>
        </p:nvSpPr>
        <p:spPr>
          <a:xfrm>
            <a:off x="876300" y="3917156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pic>
        <p:nvPicPr>
          <p:cNvPr id="328" name="Google Shape;287;p22"/>
          <p:cNvPicPr>
            <a:picLocks noChangeAspect="1"/>
          </p:cNvPicPr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9745" y="4460081"/>
            <a:ext cx="133350" cy="133350"/>
          </a:xfrm>
          <a:prstGeom prst="rect">
            <a:avLst/>
          </a:prstGeom>
          <a:ln>
            <a:noFill/>
          </a:ln>
        </p:spPr>
      </p:pic>
      <p:sp>
        <p:nvSpPr>
          <p:cNvPr id="288" name="Google Shape;288;p22">
            <a:extLst>
              <a:ext uri="{FF2B5EF4-FFF2-40B4-BE49-F238E27FC236}">
                <a16:creationId xmlns:a16="http://schemas.microsoft.com/office/drawing/2014/main" id="{C6857A7D-760F-4954-A953-D09B35991FA1}"/>
              </a:ext>
            </a:extLst>
          </p:cNvPr>
          <p:cNvSpPr>
            <a:spLocks noGrp="1"/>
          </p:cNvSpPr>
          <p:nvPr/>
        </p:nvSpPr>
        <p:spPr>
          <a:xfrm>
            <a:off x="6753225" y="2783681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89" name="Google Shape;289;p22">
            <a:extLst>
              <a:ext uri="{FF2B5EF4-FFF2-40B4-BE49-F238E27FC236}">
                <a16:creationId xmlns:a16="http://schemas.microsoft.com/office/drawing/2014/main" id="{3827847F-1B90-4C6E-99FB-C0112D076D7D}"/>
              </a:ext>
            </a:extLst>
          </p:cNvPr>
          <p:cNvSpPr>
            <a:spLocks noGrp="1"/>
          </p:cNvSpPr>
          <p:nvPr/>
        </p:nvSpPr>
        <p:spPr>
          <a:xfrm>
            <a:off x="6753225" y="3336131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sp>
        <p:nvSpPr>
          <p:cNvPr id="290" name="Google Shape;290;p22">
            <a:extLst>
              <a:ext uri="{FF2B5EF4-FFF2-40B4-BE49-F238E27FC236}">
                <a16:creationId xmlns:a16="http://schemas.microsoft.com/office/drawing/2014/main" id="{04A64BC0-1C9F-4470-A3C2-BC46AC65E3E2}"/>
              </a:ext>
            </a:extLst>
          </p:cNvPr>
          <p:cNvSpPr>
            <a:spLocks noGrp="1"/>
          </p:cNvSpPr>
          <p:nvPr/>
        </p:nvSpPr>
        <p:spPr>
          <a:xfrm>
            <a:off x="6753225" y="3888581"/>
            <a:ext cx="13335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 u="none" cap="none">
                <a:solidFill>
                  <a:srgbClr val="2563EB"/>
                </a:solidFill>
                <a:latin typeface="Arial"/>
                <a:ea typeface="Arial"/>
                <a:cs typeface="Arial"/>
              </a:rPr>
              <a:t>•</a:t>
            </a:r>
            <a:endParaRPr/>
          </a:p>
        </p:txBody>
      </p:sp>
      <p:pic>
        <p:nvPicPr>
          <p:cNvPr id="332" name="Google Shape;291;p22"/>
          <p:cNvPicPr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7510" y="3410132"/>
            <a:ext cx="152400" cy="152400"/>
          </a:xfrm>
          <a:prstGeom prst="rect">
            <a:avLst/>
          </a:prstGeom>
          <a:ln>
            <a:noFill/>
          </a:ln>
        </p:spPr>
      </p:pic>
      <p:pic>
        <p:nvPicPr>
          <p:cNvPr id="333" name="Google Shape;292;p22"/>
          <p:cNvPicPr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7510" y="3714932"/>
            <a:ext cx="152400" cy="152400"/>
          </a:xfrm>
          <a:prstGeom prst="rect">
            <a:avLst/>
          </a:prstGeom>
          <a:ln>
            <a:noFill/>
          </a:ln>
        </p:spPr>
      </p:pic>
      <p:pic>
        <p:nvPicPr>
          <p:cNvPr id="334" name="Google Shape;293;p22"/>
          <p:cNvPicPr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67510" y="4019732"/>
            <a:ext cx="152400" cy="152400"/>
          </a:xfrm>
          <a:prstGeom prst="rect">
            <a:avLst/>
          </a:prstGeom>
          <a:ln>
            <a:noFill/>
          </a:ln>
        </p:spPr>
      </p:pic>
      <p:sp>
        <p:nvSpPr>
          <p:cNvPr id="294" name="Google Shape;294;p22">
            <a:extLst>
              <a:ext uri="{FF2B5EF4-FFF2-40B4-BE49-F238E27FC236}">
                <a16:creationId xmlns:a16="http://schemas.microsoft.com/office/drawing/2014/main" id="{471D1458-79EF-4656-9629-BA1D0834265A}"/>
              </a:ext>
            </a:extLst>
          </p:cNvPr>
          <p:cNvSpPr>
            <a:spLocks noGrp="1"/>
          </p:cNvSpPr>
          <p:nvPr/>
        </p:nvSpPr>
        <p:spPr>
          <a:xfrm>
            <a:off x="571500" y="47625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1E293B"/>
                </a:solidFill>
                <a:latin typeface="Arial"/>
                <a:ea typeface="Arial"/>
                <a:cs typeface="Arial"/>
              </a:rPr>
              <a:t>Bắt đầu bằng gói thí điểm</a:t>
            </a:r>
            <a:endParaRPr/>
          </a:p>
        </p:txBody>
      </p:sp>
      <p:sp>
        <p:nvSpPr>
          <p:cNvPr id="295" name="Google Shape;295;p22">
            <a:extLst>
              <a:ext uri="{FF2B5EF4-FFF2-40B4-BE49-F238E27FC236}">
                <a16:creationId xmlns:a16="http://schemas.microsoft.com/office/drawing/2014/main" id="{27388AD0-AD36-4C4A-B5FB-68B7CE7B0053}"/>
              </a:ext>
            </a:extLst>
          </p:cNvPr>
          <p:cNvSpPr>
            <a:spLocks noGrp="1"/>
          </p:cNvSpPr>
          <p:nvPr/>
        </p:nvSpPr>
        <p:spPr>
          <a:xfrm>
            <a:off x="571500" y="1076325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24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982</Words>
  <Application>Microsoft Office PowerPoint</Application>
  <DocSecurity>0</DocSecurity>
  <PresentationFormat>Widescreen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</cp:lastModifiedBy>
  <cp:revision>5</cp:revision>
  <dcterms:created xsi:type="dcterms:W3CDTF">2026-09-05T08:34:37Z</dcterms:created>
  <dcterms:modified xsi:type="dcterms:W3CDTF">2026-09-05T12:45:35Z</dcterms:modified>
</cp:coreProperties>
</file>