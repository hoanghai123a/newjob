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f0386c82f264f27" /><Relationship Type="http://schemas.openxmlformats.org/officeDocument/2006/relationships/extended-properties" Target="/docProps/app.xml" Id="R0fbf985e9f1d4af6" /><Relationship Type="http://schemas.openxmlformats.org/officeDocument/2006/relationships/officeDocument" Target="/ppt/presentation.xml" Id="Rd090fe7ae76d4786" /></Relationships>
</file>

<file path=ppt/presentation.xml><?xml version="1.0" encoding="utf-8"?>
<p:presentation xmlns:p="http://schemas.openxmlformats.org/presentationml/2006/main">
  <p:sldMasterIdLst>
    <p:sldMasterId xmlns:r="http://schemas.openxmlformats.org/officeDocument/2006/relationships" id="2147483648" r:id="R3d0472b722fd4d8e"/>
  </p:sldMasterIdLst>
  <p:notesMasterIdLst>
    <p:notesMasterId xmlns:r="http://schemas.openxmlformats.org/officeDocument/2006/relationships" r:id="Rdfa23e8f35364ec5"/>
  </p:notesMasterIdLst>
  <p:sldIdLst>
    <p:sldId xmlns:r="http://schemas.openxmlformats.org/officeDocument/2006/relationships" id="256" r:id="Ra1d356736acf4547"/>
    <p:sldId xmlns:r="http://schemas.openxmlformats.org/officeDocument/2006/relationships" id="257" r:id="Ra06108a1f2124ec7"/>
    <p:sldId xmlns:r="http://schemas.openxmlformats.org/officeDocument/2006/relationships" id="258" r:id="R1ee8d49201c54ba9"/>
    <p:sldId xmlns:r="http://schemas.openxmlformats.org/officeDocument/2006/relationships" id="259" r:id="R87694f1bc6704c38"/>
    <p:sldId xmlns:r="http://schemas.openxmlformats.org/officeDocument/2006/relationships" id="260" r:id="R5dbf0c67f10a4748"/>
    <p:sldId xmlns:r="http://schemas.openxmlformats.org/officeDocument/2006/relationships" id="261" r:id="R56f0911ba325484d"/>
    <p:sldId xmlns:r="http://schemas.openxmlformats.org/officeDocument/2006/relationships" id="262" r:id="R0408274b153d4c42"/>
    <p:sldId xmlns:r="http://schemas.openxmlformats.org/officeDocument/2006/relationships" id="263" r:id="R2a9afb22a14c4bdc"/>
    <p:sldId xmlns:r="http://schemas.openxmlformats.org/officeDocument/2006/relationships" id="264" r:id="R0be051faf9af45e7"/>
    <p:sldId xmlns:r="http://schemas.openxmlformats.org/officeDocument/2006/relationships" id="265" r:id="R41b5a16335c8486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3fad7fc81647f0" /><Relationship Type="http://schemas.openxmlformats.org/officeDocument/2006/relationships/slideMaster" Target="/ppt/slideMasters/slideMaster1.xml" Id="R3d0472b722fd4d8e" /><Relationship Type="http://schemas.openxmlformats.org/officeDocument/2006/relationships/notesMaster" Target="/ppt/notesMasters/notesMaster1.xml" Id="Rdfa23e8f35364ec5" /><Relationship Type="http://schemas.openxmlformats.org/officeDocument/2006/relationships/presProps" Target="/ppt/presProps.xml" Id="Rd24a6081fee640a2" /><Relationship Type="http://schemas.openxmlformats.org/officeDocument/2006/relationships/tableStyles" Target="/ppt/tableStyles.xml" Id="R0ffb105f3afc47b4" /><Relationship Type="http://schemas.openxmlformats.org/officeDocument/2006/relationships/slide" Target="/ppt/slides/slide1.xml" Id="Ra1d356736acf4547" /><Relationship Type="http://schemas.openxmlformats.org/officeDocument/2006/relationships/slide" Target="/ppt/slides/slide2.xml" Id="Ra06108a1f2124ec7" /><Relationship Type="http://schemas.openxmlformats.org/officeDocument/2006/relationships/slide" Target="/ppt/slides/slide3.xml" Id="R1ee8d49201c54ba9" /><Relationship Type="http://schemas.openxmlformats.org/officeDocument/2006/relationships/slide" Target="/ppt/slides/slide4.xml" Id="R87694f1bc6704c38" /><Relationship Type="http://schemas.openxmlformats.org/officeDocument/2006/relationships/slide" Target="/ppt/slides/slide5.xml" Id="R5dbf0c67f10a4748" /><Relationship Type="http://schemas.openxmlformats.org/officeDocument/2006/relationships/slide" Target="/ppt/slides/slide6.xml" Id="R56f0911ba325484d" /><Relationship Type="http://schemas.openxmlformats.org/officeDocument/2006/relationships/slide" Target="/ppt/slides/slide7.xml" Id="R0408274b153d4c42" /><Relationship Type="http://schemas.openxmlformats.org/officeDocument/2006/relationships/slide" Target="/ppt/slides/slide8.xml" Id="R2a9afb22a14c4bdc" /><Relationship Type="http://schemas.openxmlformats.org/officeDocument/2006/relationships/slide" Target="/ppt/slides/slide9.xml" Id="R0be051faf9af45e7" /><Relationship Type="http://schemas.openxmlformats.org/officeDocument/2006/relationships/slide" Target="/ppt/slides/slide10.xml" Id="R41b5a16335c848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cd66f105e943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86fe5307a54a4a" /><Relationship Type="http://schemas.openxmlformats.org/officeDocument/2006/relationships/notesMaster" Target="/ppt/notesMasters/notesMaster1.xml" Id="R8a0532fc96944c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c057a707014723" /><Relationship Type="http://schemas.openxmlformats.org/officeDocument/2006/relationships/notesMaster" Target="/ppt/notesMasters/notesMaster1.xml" Id="R251d316bf23a45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4b4562f1d64085" /><Relationship Type="http://schemas.openxmlformats.org/officeDocument/2006/relationships/notesMaster" Target="/ppt/notesMasters/notesMaster1.xml" Id="Rc921f78344184c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61b8a41cd14297" /><Relationship Type="http://schemas.openxmlformats.org/officeDocument/2006/relationships/notesMaster" Target="/ppt/notesMasters/notesMaster1.xml" Id="Rc5e1a727f4c24a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2d2f9d914a4a4b" /><Relationship Type="http://schemas.openxmlformats.org/officeDocument/2006/relationships/notesMaster" Target="/ppt/notesMasters/notesMaster1.xml" Id="Ra74c92e2180a4d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17d52521964283" /><Relationship Type="http://schemas.openxmlformats.org/officeDocument/2006/relationships/notesMaster" Target="/ppt/notesMasters/notesMaster1.xml" Id="Rfd53e52c46e348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0536cb0c924ac1" /><Relationship Type="http://schemas.openxmlformats.org/officeDocument/2006/relationships/notesMaster" Target="/ppt/notesMasters/notesMaster1.xml" Id="R9c207926f7964a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28fa111a2374938" /><Relationship Type="http://schemas.openxmlformats.org/officeDocument/2006/relationships/notesMaster" Target="/ppt/notesMasters/notesMaster1.xml" Id="R9516ebe9bddf47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aff215fe8e4f9a" /><Relationship Type="http://schemas.openxmlformats.org/officeDocument/2006/relationships/notesMaster" Target="/ppt/notesMasters/notesMaster1.xml" Id="Rede5ed3d3e5848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9fea8e8cb984b0b" /><Relationship Type="http://schemas.openxmlformats.org/officeDocument/2006/relationships/notesMaster" Target="/ppt/notesMasters/notesMaster1.xml" Id="R92412f2fc88e42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nhận diện ứng dụng từ public/icons/app-icon-512.png. Nội dung tính năng đối chiếu PROJECT_MAP.md và mã nguồn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hệ quả là tổng hợp vấn đề vận hành được mô tả trong yêu cầu thương mại hóa. Đây là framing bán hàng, không phải số liệu khảo sát thị trường.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src/lib/employment.ts, src/lib/recruiters.ts, src/lib/staff-log.ts, src/lib/salary.ts và PROJECT_MAP.md.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PROJECT_MAP.md; src/routes/_authenticated/admin/workforce.tsx; src/routes/_authenticated/admin/imports.tsx; src/lib/salary.ts; src/lib/uid-counter.ts; src/components/admin/AccountActivityStats.tsx.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Bảng tổng hợp lợi ích định tính từ các luồng tính năng hiện có. Không gắn số liệu năng suất chưa được đo tại khách hàng.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dashboard nhân lực và các component workforce / approval / hour-stats trong PROJECT_MAP.md.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đề xuất giá tham khảo theo yêu cầu người dùng, không phải bảng giá đã được phê duyệt. Hạn mức minh họa: lịch sử đi làm, tài khoản staff, đối tác và nhà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Biểu đồ không phải số liệu khách hàng. Giả định minh họa: 10 giờ đối soát giảm mỗi tháng x 120.000 đ/giờ = 1,2 triệu đ; các gói lớn dùng giả định thời gian tiết kiệm cao hơn để minh họa logic định giá.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Lộ trình là đề xuất triển khai thương mại, không phải tính năng đã có sẵn trong ứng dụng.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CTA cho buổi bán hàng. Giá và pilot cần được phê duyệt trước khi công bố chính thức.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23df3f2fd942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f17566a8104b4f" /><Relationship Type="http://schemas.openxmlformats.org/officeDocument/2006/relationships/slideLayout" Target="/ppt/slideLayouts/slideLayout1.xml" Id="R133d5c66469947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3d5c66469947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b979c35a2564e88" /><Relationship Type="http://schemas.openxmlformats.org/officeDocument/2006/relationships/image" Target="/ppt/media/image.png" Id="R7f3e502d67874eef" /><Relationship Type="http://schemas.openxmlformats.org/officeDocument/2006/relationships/notesSlide" Target="/ppt/notesSlides/notesSlide1.xml" Id="R837ed988b22746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813f7417e8f4668" /><Relationship Type="http://schemas.openxmlformats.org/officeDocument/2006/relationships/notesSlide" Target="/ppt/notesSlides/notesSlide2.xml" Id="R44093cb0a4d14e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dedca870b04f40" /><Relationship Type="http://schemas.openxmlformats.org/officeDocument/2006/relationships/notesSlide" Target="/ppt/notesSlides/notesSlide3.xml" Id="Rab05dad6f97a47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135c4c795004e38" /><Relationship Type="http://schemas.openxmlformats.org/officeDocument/2006/relationships/notesSlide" Target="/ppt/notesSlides/notesSlide4.xml" Id="R3b6c2486be9f43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dc1e337b3ef4728" /><Relationship Type="http://schemas.openxmlformats.org/officeDocument/2006/relationships/notesSlide" Target="/ppt/notesSlides/notesSlide5.xml" Id="R2693a937f3e842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c1be9e1334f4463" /><Relationship Type="http://schemas.openxmlformats.org/officeDocument/2006/relationships/notesSlide" Target="/ppt/notesSlides/notesSlide6.xml" Id="Ree59f46285f940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6eb6f232dc34d39" /><Relationship Type="http://schemas.openxmlformats.org/officeDocument/2006/relationships/notesSlide" Target="/ppt/notesSlides/notesSlide7.xml" Id="Rc18f77fb6ecf49c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fb2a31706404a76" /><Relationship Type="http://schemas.openxmlformats.org/officeDocument/2006/relationships/chart" Target="/ppt/slides/charts/chart1.xml" Id="R96d4e690366b4e28" /><Relationship Type="http://schemas.openxmlformats.org/officeDocument/2006/relationships/notesSlide" Target="/ppt/notesSlides/notesSlide8.xml" Id="Rba9d76f940e143c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7f7a79be6f940f2" /><Relationship Type="http://schemas.openxmlformats.org/officeDocument/2006/relationships/notesSlide" Target="/ppt/notesSlides/notesSlide9.xml" Id="Rf6f60f2bf53848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f9815fe9c8a4a8d" /><Relationship Type="http://schemas.openxmlformats.org/officeDocument/2006/relationships/notesSlide" Target="/ppt/notesSlides/notesSlide10.xml" Id="R04203505bce74cf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Giá gói (triệu đ)</c:v>
          </c:tx>
          <c:spPr>
            <a:solidFill xmlns:a="http://schemas.openxmlformats.org/drawingml/2006/main">
              <a:srgbClr val="0B2538"/>
            </a:solidFill>
          </c:spPr>
          <c:cat>
            <c:strRef>
              <c:f>'Chart Data'!$A$2:$A$5</c:f>
              <c:strCache>
                <c:ptCount val="4"/>
                <c:pt idx="0">
                  <c:v>Khởi động</c:v>
                </c:pt>
                <c:pt idx="1">
                  <c:v>Tăng trưởng</c:v>
                </c:pt>
                <c:pt idx="2">
                  <c:v>Chuyên nghiệp</c:v>
                </c:pt>
                <c:pt idx="3">
                  <c:v>Doanh nghiệp</c:v>
                </c:pt>
              </c:strCache>
            </c:strRef>
          </c:cat>
          <c:val>
            <c:numRef>
              <c:f>'Chart Data'!$B$2:$B$5</c:f>
              <c:numCache>
                <c:formatCode>0.0</c:formatCode>
                <c:ptCount val="4"/>
                <c:pt idx="0">
                  <c:v>0.5</c:v>
                </c:pt>
                <c:pt idx="1">
                  <c:v>1.5</c:v>
                </c:pt>
                <c:pt idx="2">
                  <c:v>3</c:v>
                </c:pt>
                <c:pt idx="3">
                  <c:v>5</c:v>
                </c:pt>
              </c:numCache>
            </c:numRef>
          </c:val>
        </c:ser>
        <c:ser>
          <c:idx val="1"/>
          <c:order val="1"/>
          <c:tx>
            <c:v>Giá trị thời gian (triệu đ)</c:v>
          </c:tx>
          <c:spPr>
            <a:solidFill xmlns:a="http://schemas.openxmlformats.org/drawingml/2006/main">
              <a:srgbClr val="0F8B8D"/>
            </a:solidFill>
          </c:spPr>
          <c:cat>
            <c:strRef>
              <c:f>'Chart Data'!$C$2:$C$5</c:f>
              <c:strCache>
                <c:ptCount val="4"/>
                <c:pt idx="0">
                  <c:v>Khởi động</c:v>
                </c:pt>
                <c:pt idx="1">
                  <c:v>Tăng trưởng</c:v>
                </c:pt>
                <c:pt idx="2">
                  <c:v>Chuyên nghiệp</c:v>
                </c:pt>
                <c:pt idx="3">
                  <c:v>Doanh nghiệp</c:v>
                </c:pt>
              </c:strCache>
            </c:strRef>
          </c:cat>
          <c:val>
            <c:numRef>
              <c:f>'Chart Data'!$D$2:$D$5</c:f>
              <c:numCache>
                <c:formatCode>0.0</c:formatCode>
                <c:ptCount val="4"/>
                <c:pt idx="0">
                  <c:v>1.2</c:v>
                </c:pt>
                <c:pt idx="1">
                  <c:v>3.2</c:v>
                </c:pt>
                <c:pt idx="2">
                  <c:v>5.8</c:v>
                </c:pt>
                <c:pt idx="3">
                  <c:v>9.5</c:v>
                </c:pt>
              </c:numCache>
            </c:numRef>
          </c:val>
        </c:ser>
        <c:dLbls>
          <c:txPr>
            <a:bodyPr xmlns:a="http://schemas.openxmlformats.org/drawingml/2006/main" anchorCtr="1"/>
            <a:lstStyle xmlns:a="http://schemas.openxmlformats.org/drawingml/2006/main"/>
            <a:p xmlns:a="http://schemas.openxmlformats.org/drawingml/2006/main">
              <a:pPr>
                <a:defRPr sz="900" b="1">
                  <a:solidFill>
                    <a:srgbClr val="12212B"/>
                  </a:solidFill>
                  <a:latin typeface="Arial"/>
                  <a:ea typeface="Arial"/>
                  <a:cs typeface="Arial"/>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06D"/>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8E5E5"/>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Triệu đồng / tháng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06D"/>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52606D"/>
              </a:solidFill>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253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21B522D-A7ED-4C2C-A130-306C91273BE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F8B8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B297CD-0AD4-41C1-ABCE-87E7C1ACAE1F}"/>
              </a:ext>
            </a:extLst>
          </p:cNvPr>
          <p:cNvSpPr>
            <a:spLocks xmlns:a="http://schemas.openxmlformats.org/drawingml/2006/main" noGrp="1"/>
          </p:cNvSpPr>
          <p:nvPr/>
        </p:nvSpPr>
        <p:spPr>
          <a:xfrm xmlns:a="http://schemas.openxmlformats.org/drawingml/2006/main">
            <a:off x="8667750" y="0"/>
            <a:ext cx="3524250" cy="6858000"/>
          </a:xfrm>
          <a:prstGeom xmlns:a="http://schemas.openxmlformats.org/drawingml/2006/main" prst="rect">
            <a:avLst/>
          </a:prstGeom>
          <a:solidFill xmlns:a="http://schemas.openxmlformats.org/drawingml/2006/main">
            <a:srgbClr val="0F8B8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FF312A9-CFA0-45BA-BD75-4CE095AA2572}"/>
              </a:ext>
            </a:extLst>
          </p:cNvPr>
          <p:cNvSpPr>
            <a:spLocks xmlns:a="http://schemas.openxmlformats.org/drawingml/2006/main" noGrp="1"/>
          </p:cNvSpPr>
          <p:nvPr/>
        </p:nvSpPr>
        <p:spPr>
          <a:xfrm xmlns:a="http://schemas.openxmlformats.org/drawingml/2006/main">
            <a:off x="9182100" y="819150"/>
            <a:ext cx="2152650" cy="2152650"/>
          </a:xfrm>
          <a:prstGeom xmlns:a="http://schemas.openxmlformats.org/drawingml/2006/main" prst="roundRect">
            <a:avLst>
              <a:gd name="adj" fmla="val 15044"/>
            </a:avLst>
          </a:prstGeom>
          <a:solidFill xmlns:a="http://schemas.openxmlformats.org/drawingml/2006/main">
            <a:srgbClr val="FFFFFF"/>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f3e502d67874eef"/>
          <a:stretch xmlns:a="http://schemas.openxmlformats.org/drawingml/2006/main"/>
        </p:blipFill>
        <p:spPr>
          <a:xfrm xmlns:a="http://schemas.openxmlformats.org/drawingml/2006/main">
            <a:off x="9525000" y="1162050"/>
            <a:ext cx="1466850" cy="14668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BF6FFC1-1DA4-4CF9-BDE9-AC9B3B084C9A}"/>
              </a:ext>
            </a:extLst>
          </p:cNvPr>
          <p:cNvSpPr>
            <a:spLocks xmlns:a="http://schemas.openxmlformats.org/drawingml/2006/main" noGrp="1"/>
          </p:cNvSpPr>
          <p:nvPr/>
        </p:nvSpPr>
        <p:spPr>
          <a:xfrm xmlns:a="http://schemas.openxmlformats.org/drawingml/2006/main">
            <a:off x="857250" y="1371600"/>
            <a:ext cx="704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Tuyển dụng 4.0</a:t>
            </a:r>
          </a:p>
        </p:txBody>
      </p:sp>
      <p:sp>
        <p:nvSpPr>
          <p:cNvPr id="6" name="">
            <a:extLst xmlns:a="http://schemas.openxmlformats.org/drawingml/2006/main">
              <a:ext uri="{FF2B5EF4-FFF2-40B4-BE49-F238E27FC236}">
                <a16:creationId xmlns:a16="http://schemas.microsoft.com/office/drawing/2014/main" id="{8BE8BD10-9A46-4E2E-9C46-95908E94BC1C}"/>
              </a:ext>
            </a:extLst>
          </p:cNvPr>
          <p:cNvSpPr>
            <a:spLocks xmlns:a="http://schemas.openxmlformats.org/drawingml/2006/main" noGrp="1"/>
          </p:cNvSpPr>
          <p:nvPr/>
        </p:nvSpPr>
        <p:spPr>
          <a:xfrm xmlns:a="http://schemas.openxmlformats.org/drawingml/2006/main">
            <a:off x="876300" y="2324100"/>
            <a:ext cx="666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100" b="0">
                <a:solidFill>
                  <a:srgbClr val="D9F5F3"/>
                </a:solidFill>
                <a:latin typeface="Arial"/>
                <a:ea typeface="Arial"/>
                <a:cs typeface="Arial"/>
              </a:defRPr>
            </a:pPr>
            <a:r>
              <a:rPr sz="2100" b="0">
                <a:solidFill>
                  <a:srgbClr val="D9F5F3"/>
                </a:solidFill>
                <a:latin typeface="Arial"/>
                <a:ea typeface="Arial"/>
                <a:cs typeface="Arial"/>
              </a:rPr>
              <a:t>Từ file Excel rời rạc đến một nguồn dữ liệu điều hành thống nhất</a:t>
            </a:r>
          </a:p>
        </p:txBody>
      </p:sp>
      <p:sp>
        <p:nvSpPr>
          <p:cNvPr id="7" name="">
            <a:extLst xmlns:a="http://schemas.openxmlformats.org/drawingml/2006/main">
              <a:ext uri="{FF2B5EF4-FFF2-40B4-BE49-F238E27FC236}">
                <a16:creationId xmlns:a16="http://schemas.microsoft.com/office/drawing/2014/main" id="{113FDAB5-8A14-484E-ADEB-F7B453E928A2}"/>
              </a:ext>
            </a:extLst>
          </p:cNvPr>
          <p:cNvSpPr>
            <a:spLocks xmlns:a="http://schemas.openxmlformats.org/drawingml/2006/main" noGrp="1"/>
          </p:cNvSpPr>
          <p:nvPr/>
        </p:nvSpPr>
        <p:spPr>
          <a:xfrm xmlns:a="http://schemas.openxmlformats.org/drawingml/2006/main">
            <a:off x="876300" y="3600450"/>
            <a:ext cx="2476500" cy="4000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ADB4139-AE26-4849-B666-9869AA115FCB}"/>
              </a:ext>
            </a:extLst>
          </p:cNvPr>
          <p:cNvSpPr>
            <a:spLocks xmlns:a="http://schemas.openxmlformats.org/drawingml/2006/main" noGrp="1"/>
          </p:cNvSpPr>
          <p:nvPr/>
        </p:nvSpPr>
        <p:spPr>
          <a:xfrm xmlns:a="http://schemas.openxmlformats.org/drawingml/2006/main">
            <a:off x="1066800" y="36957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050" b="1">
                <a:solidFill>
                  <a:srgbClr val="0B2538"/>
                </a:solidFill>
                <a:latin typeface="Arial"/>
                <a:ea typeface="Arial"/>
                <a:cs typeface="Arial"/>
              </a:defRPr>
            </a:pPr>
            <a:r>
              <a:rPr sz="1050" b="1">
                <a:solidFill>
                  <a:srgbClr val="0B2538"/>
                </a:solidFill>
                <a:latin typeface="Arial"/>
                <a:ea typeface="Arial"/>
                <a:cs typeface="Arial"/>
              </a:rPr>
              <a:t>ĐỀ XUẤT THƯƠNG MẠI HÓA</a:t>
            </a:r>
          </a:p>
        </p:txBody>
      </p:sp>
      <p:sp>
        <p:nvSpPr>
          <p:cNvPr id="9" name="">
            <a:extLst xmlns:a="http://schemas.openxmlformats.org/drawingml/2006/main">
              <a:ext uri="{FF2B5EF4-FFF2-40B4-BE49-F238E27FC236}">
                <a16:creationId xmlns:a16="http://schemas.microsoft.com/office/drawing/2014/main" id="{52498BDB-C0FC-4C56-ADDE-D6C86F13C90C}"/>
              </a:ext>
            </a:extLst>
          </p:cNvPr>
          <p:cNvSpPr>
            <a:spLocks xmlns:a="http://schemas.openxmlformats.org/drawingml/2006/main" noGrp="1"/>
          </p:cNvSpPr>
          <p:nvPr/>
        </p:nvSpPr>
        <p:spPr>
          <a:xfrm xmlns:a="http://schemas.openxmlformats.org/drawingml/2006/main">
            <a:off x="876300" y="5334000"/>
            <a:ext cx="704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B7D1D3"/>
                </a:solidFill>
                <a:latin typeface="Arial"/>
                <a:ea typeface="Arial"/>
                <a:cs typeface="Arial"/>
              </a:defRPr>
            </a:pPr>
            <a:r>
              <a:rPr sz="1350" b="0">
                <a:solidFill>
                  <a:srgbClr val="B7D1D3"/>
                </a:solidFill>
                <a:latin typeface="Arial"/>
                <a:ea typeface="Arial"/>
                <a:cs typeface="Arial"/>
              </a:rPr>
              <a:t>Dành cho giám đốc, quản trị nhân sự và đội ngũ vận hành nhà máy</a:t>
            </a:r>
          </a:p>
        </p:txBody>
      </p:sp>
      <p:sp>
        <p:nvSpPr>
          <p:cNvPr id="10" name="">
            <a:extLst xmlns:a="http://schemas.openxmlformats.org/drawingml/2006/main">
              <a:ext uri="{FF2B5EF4-FFF2-40B4-BE49-F238E27FC236}">
                <a16:creationId xmlns:a16="http://schemas.microsoft.com/office/drawing/2014/main" id="{2FB8E3A9-897F-4FBC-9EFA-FFFC6B20575C}"/>
              </a:ext>
            </a:extLst>
          </p:cNvPr>
          <p:cNvSpPr>
            <a:spLocks xmlns:a="http://schemas.openxmlformats.org/drawingml/2006/main" noGrp="1"/>
          </p:cNvSpPr>
          <p:nvPr/>
        </p:nvSpPr>
        <p:spPr>
          <a:xfrm xmlns:a="http://schemas.openxmlformats.org/drawingml/2006/main">
            <a:off x="876300" y="596265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0">
                <a:solidFill>
                  <a:srgbClr val="B7D1D3"/>
                </a:solidFill>
                <a:latin typeface="Arial"/>
                <a:ea typeface="Arial"/>
                <a:cs typeface="Arial"/>
              </a:defRPr>
            </a:pPr>
            <a:r>
              <a:rPr sz="1050" b="0">
                <a:solidFill>
                  <a:srgbClr val="B7D1D3"/>
                </a:solidFill>
                <a:latin typeface="Arial"/>
                <a:ea typeface="Arial"/>
                <a:cs typeface="Arial"/>
              </a:rPr>
              <a:t>04.09.2026</a:t>
            </a:r>
          </a:p>
        </p:txBody>
      </p:sp>
    </p:spTree>
    <p:extLst>
      <p:ext uri="{BB962C8B-B14F-4D97-AF65-F5344CB8AC3E}">
        <p14:creationId xmlns:p14="http://schemas.microsoft.com/office/powerpoint/2010/main" val="481620933"/>
      </p:ext>
    </p:extLst>
  </p:cSld>
</p:sld>
</file>

<file path=ppt/slides/slide2.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430567C-C244-4D8F-88CA-C2BE05C00928}"/>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BỐI CẢNH VẬN HÀNH</a:t>
            </a:r>
          </a:p>
        </p:txBody>
      </p:sp>
      <p:sp>
        <p:nvSpPr>
          <p:cNvPr id="2" name="">
            <a:extLst xmlns:a="http://schemas.openxmlformats.org/drawingml/2006/main">
              <a:ext uri="{FF2B5EF4-FFF2-40B4-BE49-F238E27FC236}">
                <a16:creationId xmlns:a16="http://schemas.microsoft.com/office/drawing/2014/main" id="{5C2762C4-A619-4EF0-93F7-68DB13BFD03B}"/>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Excel tạo ra khoảng trống thông tin</a:t>
            </a:r>
          </a:p>
        </p:txBody>
      </p:sp>
      <p:sp>
        <p:nvSpPr>
          <p:cNvPr id="3" name="">
            <a:extLst xmlns:a="http://schemas.openxmlformats.org/drawingml/2006/main">
              <a:ext uri="{FF2B5EF4-FFF2-40B4-BE49-F238E27FC236}">
                <a16:creationId xmlns:a16="http://schemas.microsoft.com/office/drawing/2014/main" id="{195BB308-A252-4357-A3B9-FCA2EB1A48E3}"/>
              </a:ext>
            </a:extLst>
          </p:cNvPr>
          <p:cNvSpPr>
            <a:spLocks xmlns:a="http://schemas.openxmlformats.org/drawingml/2006/main" noGrp="1"/>
          </p:cNvSpPr>
          <p:nvPr/>
        </p:nvSpPr>
        <p:spPr>
          <a:xfrm xmlns:a="http://schemas.openxmlformats.org/drawingml/2006/main">
            <a:off x="685800" y="1295400"/>
            <a:ext cx="8096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0">
                <a:solidFill>
                  <a:srgbClr val="52606D"/>
                </a:solidFill>
                <a:latin typeface="Arial"/>
                <a:ea typeface="Arial"/>
                <a:cs typeface="Arial"/>
              </a:defRPr>
            </a:pPr>
            <a:r>
              <a:rPr sz="1725" b="0">
                <a:solidFill>
                  <a:srgbClr val="52606D"/>
                </a:solidFill>
                <a:latin typeface="Arial"/>
                <a:ea typeface="Arial"/>
                <a:cs typeface="Arial"/>
              </a:rPr>
              <a:t>Khi mỗi bộ phận giữ một file, người ra quyết định phải ghép dữ liệu bằng tay trước khi hiểu chuyện gì đang xảy ra.</a:t>
            </a:r>
          </a:p>
        </p:txBody>
      </p:sp>
      <p:sp>
        <p:nvSpPr>
          <p:cNvPr id="4" name="">
            <a:extLst xmlns:a="http://schemas.openxmlformats.org/drawingml/2006/main">
              <a:ext uri="{FF2B5EF4-FFF2-40B4-BE49-F238E27FC236}">
                <a16:creationId xmlns:a16="http://schemas.microsoft.com/office/drawing/2014/main" id="{4D5DD71B-18C9-465F-BD3D-FF3FA8D8199C}"/>
              </a:ext>
            </a:extLst>
          </p:cNvPr>
          <p:cNvSpPr>
            <a:spLocks xmlns:a="http://schemas.openxmlformats.org/drawingml/2006/main" noGrp="1"/>
          </p:cNvSpPr>
          <p:nvPr/>
        </p:nvSpPr>
        <p:spPr>
          <a:xfrm xmlns:a="http://schemas.openxmlformats.org/drawingml/2006/main">
            <a:off x="685800" y="2152650"/>
            <a:ext cx="4953000" cy="323850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9525">
            <a:solidFill>
              <a:srgbClr val="D8E5E5"/>
            </a:solidFill>
          </a:ln>
        </p:spPr>
      </p:sp>
      <p:sp>
        <p:nvSpPr>
          <p:cNvPr id="5" name="">
            <a:extLst xmlns:a="http://schemas.openxmlformats.org/drawingml/2006/main">
              <a:ext uri="{FF2B5EF4-FFF2-40B4-BE49-F238E27FC236}">
                <a16:creationId xmlns:a16="http://schemas.microsoft.com/office/drawing/2014/main" id="{CA1BDFEF-915B-44A9-A5CA-C9CFF129C677}"/>
              </a:ext>
            </a:extLst>
          </p:cNvPr>
          <p:cNvSpPr>
            <a:spLocks xmlns:a="http://schemas.openxmlformats.org/drawingml/2006/main" noGrp="1"/>
          </p:cNvSpPr>
          <p:nvPr/>
        </p:nvSpPr>
        <p:spPr>
          <a:xfrm xmlns:a="http://schemas.openxmlformats.org/drawingml/2006/main">
            <a:off x="990600" y="242887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5 hệ quả thường gặp</a:t>
            </a:r>
          </a:p>
        </p:txBody>
      </p:sp>
      <p:sp>
        <p:nvSpPr>
          <p:cNvPr id="6" name="">
            <a:extLst xmlns:a="http://schemas.openxmlformats.org/drawingml/2006/main">
              <a:ext uri="{FF2B5EF4-FFF2-40B4-BE49-F238E27FC236}">
                <a16:creationId xmlns:a16="http://schemas.microsoft.com/office/drawing/2014/main" id="{ABCA70B0-D824-49BB-8721-E46DC188B6C1}"/>
              </a:ext>
            </a:extLst>
          </p:cNvPr>
          <p:cNvSpPr>
            <a:spLocks xmlns:a="http://schemas.openxmlformats.org/drawingml/2006/main" noGrp="1"/>
          </p:cNvSpPr>
          <p:nvPr/>
        </p:nvSpPr>
        <p:spPr>
          <a:xfrm xmlns:a="http://schemas.openxmlformats.org/drawingml/2006/main">
            <a:off x="990600" y="297180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F5152AE-ACA9-45E8-A0B6-37FC1916F093}"/>
              </a:ext>
            </a:extLst>
          </p:cNvPr>
          <p:cNvSpPr>
            <a:spLocks xmlns:a="http://schemas.openxmlformats.org/drawingml/2006/main" noGrp="1"/>
          </p:cNvSpPr>
          <p:nvPr/>
        </p:nvSpPr>
        <p:spPr>
          <a:xfrm xmlns:a="http://schemas.openxmlformats.org/drawingml/2006/main">
            <a:off x="1219200" y="2905125"/>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Sai khác tên, mã NV, nhà máy giữa các file</a:t>
            </a:r>
          </a:p>
        </p:txBody>
      </p:sp>
      <p:sp>
        <p:nvSpPr>
          <p:cNvPr id="8" name="">
            <a:extLst xmlns:a="http://schemas.openxmlformats.org/drawingml/2006/main">
              <a:ext uri="{FF2B5EF4-FFF2-40B4-BE49-F238E27FC236}">
                <a16:creationId xmlns:a16="http://schemas.microsoft.com/office/drawing/2014/main" id="{27C38EDD-BF44-4375-82E5-E19945D274A4}"/>
              </a:ext>
            </a:extLst>
          </p:cNvPr>
          <p:cNvSpPr>
            <a:spLocks xmlns:a="http://schemas.openxmlformats.org/drawingml/2006/main" noGrp="1"/>
          </p:cNvSpPr>
          <p:nvPr/>
        </p:nvSpPr>
        <p:spPr>
          <a:xfrm xmlns:a="http://schemas.openxmlformats.org/drawingml/2006/main">
            <a:off x="990600" y="341947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8FABF1B-439B-4E39-B9D8-8FBFD4F1F70D}"/>
              </a:ext>
            </a:extLst>
          </p:cNvPr>
          <p:cNvSpPr>
            <a:spLocks xmlns:a="http://schemas.openxmlformats.org/drawingml/2006/main" noGrp="1"/>
          </p:cNvSpPr>
          <p:nvPr/>
        </p:nvSpPr>
        <p:spPr>
          <a:xfrm xmlns:a="http://schemas.openxmlformats.org/drawingml/2006/main">
            <a:off x="1219200" y="3352800"/>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Không biết bản ghi nào là mới nhất</a:t>
            </a:r>
          </a:p>
        </p:txBody>
      </p:sp>
      <p:sp>
        <p:nvSpPr>
          <p:cNvPr id="10" name="">
            <a:extLst xmlns:a="http://schemas.openxmlformats.org/drawingml/2006/main">
              <a:ext uri="{FF2B5EF4-FFF2-40B4-BE49-F238E27FC236}">
                <a16:creationId xmlns:a16="http://schemas.microsoft.com/office/drawing/2014/main" id="{22A6EFD5-2ABF-47CC-9D38-522D8821A1FE}"/>
              </a:ext>
            </a:extLst>
          </p:cNvPr>
          <p:cNvSpPr>
            <a:spLocks xmlns:a="http://schemas.openxmlformats.org/drawingml/2006/main" noGrp="1"/>
          </p:cNvSpPr>
          <p:nvPr/>
        </p:nvSpPr>
        <p:spPr>
          <a:xfrm xmlns:a="http://schemas.openxmlformats.org/drawingml/2006/main">
            <a:off x="990600" y="386715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2BE20C4-2E6B-4982-9A0C-53924CD7A813}"/>
              </a:ext>
            </a:extLst>
          </p:cNvPr>
          <p:cNvSpPr>
            <a:spLocks xmlns:a="http://schemas.openxmlformats.org/drawingml/2006/main" noGrp="1"/>
          </p:cNvSpPr>
          <p:nvPr/>
        </p:nvSpPr>
        <p:spPr>
          <a:xfrm xmlns:a="http://schemas.openxmlformats.org/drawingml/2006/main">
            <a:off x="1219200" y="3800475"/>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Đối soát tuyển nội bộ và đối tác chậm</a:t>
            </a:r>
          </a:p>
        </p:txBody>
      </p:sp>
      <p:sp>
        <p:nvSpPr>
          <p:cNvPr id="12" name="">
            <a:extLst xmlns:a="http://schemas.openxmlformats.org/drawingml/2006/main">
              <a:ext uri="{FF2B5EF4-FFF2-40B4-BE49-F238E27FC236}">
                <a16:creationId xmlns:a16="http://schemas.microsoft.com/office/drawing/2014/main" id="{692F4437-051C-45D2-89F7-6331E1EB764B}"/>
              </a:ext>
            </a:extLst>
          </p:cNvPr>
          <p:cNvSpPr>
            <a:spLocks xmlns:a="http://schemas.openxmlformats.org/drawingml/2006/main" noGrp="1"/>
          </p:cNvSpPr>
          <p:nvPr/>
        </p:nvSpPr>
        <p:spPr>
          <a:xfrm xmlns:a="http://schemas.openxmlformats.org/drawingml/2006/main">
            <a:off x="990600" y="431482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8A02A32-8494-4C18-AC1C-B5EA518D32A2}"/>
              </a:ext>
            </a:extLst>
          </p:cNvPr>
          <p:cNvSpPr>
            <a:spLocks xmlns:a="http://schemas.openxmlformats.org/drawingml/2006/main" noGrp="1"/>
          </p:cNvSpPr>
          <p:nvPr/>
        </p:nvSpPr>
        <p:spPr>
          <a:xfrm xmlns:a="http://schemas.openxmlformats.org/drawingml/2006/main">
            <a:off x="1219200" y="4248150"/>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Phê duyệt và trách nhiệm xử lý bị đứt quãng</a:t>
            </a:r>
          </a:p>
        </p:txBody>
      </p:sp>
      <p:sp>
        <p:nvSpPr>
          <p:cNvPr id="14" name="">
            <a:extLst xmlns:a="http://schemas.openxmlformats.org/drawingml/2006/main">
              <a:ext uri="{FF2B5EF4-FFF2-40B4-BE49-F238E27FC236}">
                <a16:creationId xmlns:a16="http://schemas.microsoft.com/office/drawing/2014/main" id="{32770D50-E917-44B7-B297-6DCAC6DA460A}"/>
              </a:ext>
            </a:extLst>
          </p:cNvPr>
          <p:cNvSpPr>
            <a:spLocks xmlns:a="http://schemas.openxmlformats.org/drawingml/2006/main" noGrp="1"/>
          </p:cNvSpPr>
          <p:nvPr/>
        </p:nvSpPr>
        <p:spPr>
          <a:xfrm xmlns:a="http://schemas.openxmlformats.org/drawingml/2006/main">
            <a:off x="990600" y="476250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E795C56-9F40-4DAB-828F-3CFFC7EE0BDF}"/>
              </a:ext>
            </a:extLst>
          </p:cNvPr>
          <p:cNvSpPr>
            <a:spLocks xmlns:a="http://schemas.openxmlformats.org/drawingml/2006/main" noGrp="1"/>
          </p:cNvSpPr>
          <p:nvPr/>
        </p:nvSpPr>
        <p:spPr>
          <a:xfrm xmlns:a="http://schemas.openxmlformats.org/drawingml/2006/main">
            <a:off x="1219200" y="4695825"/>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Báo cáo lãnh đạo phụ thuộc một người tổng hợp</a:t>
            </a:r>
          </a:p>
        </p:txBody>
      </p:sp>
      <p:sp>
        <p:nvSpPr>
          <p:cNvPr id="16" name="">
            <a:extLst xmlns:a="http://schemas.openxmlformats.org/drawingml/2006/main">
              <a:ext uri="{FF2B5EF4-FFF2-40B4-BE49-F238E27FC236}">
                <a16:creationId xmlns:a16="http://schemas.microsoft.com/office/drawing/2014/main" id="{D7AD0773-9D4F-4FD6-BE9F-16C13E2C4F70}"/>
              </a:ext>
            </a:extLst>
          </p:cNvPr>
          <p:cNvSpPr>
            <a:spLocks xmlns:a="http://schemas.openxmlformats.org/drawingml/2006/main" noGrp="1"/>
          </p:cNvSpPr>
          <p:nvPr/>
        </p:nvSpPr>
        <p:spPr>
          <a:xfrm xmlns:a="http://schemas.openxmlformats.org/drawingml/2006/main">
            <a:off x="6286500" y="2152650"/>
            <a:ext cx="5219700" cy="3238500"/>
          </a:xfrm>
          <a:prstGeom xmlns:a="http://schemas.openxmlformats.org/drawingml/2006/main" prst="roundRect">
            <a:avLst>
              <a:gd name="adj" fmla="val 5882"/>
            </a:avLst>
          </a:prstGeom>
          <a:solidFill xmlns:a="http://schemas.openxmlformats.org/drawingml/2006/main">
            <a:srgbClr val="0B253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54D4C57-A84C-4C14-9A3A-B6371C2875C9}"/>
              </a:ext>
            </a:extLst>
          </p:cNvPr>
          <p:cNvSpPr>
            <a:spLocks xmlns:a="http://schemas.openxmlformats.org/drawingml/2006/main" noGrp="1"/>
          </p:cNvSpPr>
          <p:nvPr/>
        </p:nvSpPr>
        <p:spPr>
          <a:xfrm xmlns:a="http://schemas.openxmlformats.org/drawingml/2006/main">
            <a:off x="6667500" y="2428875"/>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Một vòng lặp thủ công</a:t>
            </a:r>
          </a:p>
        </p:txBody>
      </p:sp>
      <p:sp>
        <p:nvSpPr>
          <p:cNvPr id="18" name="">
            <a:extLst xmlns:a="http://schemas.openxmlformats.org/drawingml/2006/main">
              <a:ext uri="{FF2B5EF4-FFF2-40B4-BE49-F238E27FC236}">
                <a16:creationId xmlns:a16="http://schemas.microsoft.com/office/drawing/2014/main" id="{A298B6AD-3284-4ABE-B589-42C056C2FAF2}"/>
              </a:ext>
            </a:extLst>
          </p:cNvPr>
          <p:cNvSpPr>
            <a:spLocks xmlns:a="http://schemas.openxmlformats.org/drawingml/2006/main" noGrp="1"/>
          </p:cNvSpPr>
          <p:nvPr/>
        </p:nvSpPr>
        <p:spPr>
          <a:xfrm xmlns:a="http://schemas.openxmlformats.org/drawingml/2006/main">
            <a:off x="6667500" y="2971800"/>
            <a:ext cx="1905000" cy="400050"/>
          </a:xfrm>
          <a:prstGeom xmlns:a="http://schemas.openxmlformats.org/drawingml/2006/main" prst="roundRect">
            <a:avLst>
              <a:gd name="adj" fmla="val 28571"/>
            </a:avLst>
          </a:prstGeom>
          <a:solidFill xmlns:a="http://schemas.openxmlformats.org/drawingml/2006/main">
            <a:srgbClr val="1D4158"/>
          </a:solidFill>
          <a:ln xmlns:a="http://schemas.openxmlformats.org/drawingml/2006/main" w="9525">
            <a:solidFill>
              <a:srgbClr val="4E7485"/>
            </a:solidFill>
          </a:ln>
        </p:spPr>
      </p:sp>
      <p:sp>
        <p:nvSpPr>
          <p:cNvPr id="19" name="">
            <a:extLst xmlns:a="http://schemas.openxmlformats.org/drawingml/2006/main">
              <a:ext uri="{FF2B5EF4-FFF2-40B4-BE49-F238E27FC236}">
                <a16:creationId xmlns:a16="http://schemas.microsoft.com/office/drawing/2014/main" id="{6F36F224-350C-4A5A-ACCC-30DDE431EC09}"/>
              </a:ext>
            </a:extLst>
          </p:cNvPr>
          <p:cNvSpPr>
            <a:spLocks xmlns:a="http://schemas.openxmlformats.org/drawingml/2006/main" noGrp="1"/>
          </p:cNvSpPr>
          <p:nvPr/>
        </p:nvSpPr>
        <p:spPr>
          <a:xfrm xmlns:a="http://schemas.openxmlformats.org/drawingml/2006/main">
            <a:off x="6762750" y="30765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File tuyển dụng</a:t>
            </a:r>
          </a:p>
        </p:txBody>
      </p:sp>
      <p:sp>
        <p:nvSpPr>
          <p:cNvPr id="20" name="">
            <a:extLst xmlns:a="http://schemas.openxmlformats.org/drawingml/2006/main">
              <a:ext uri="{FF2B5EF4-FFF2-40B4-BE49-F238E27FC236}">
                <a16:creationId xmlns:a16="http://schemas.microsoft.com/office/drawing/2014/main" id="{65A90263-4D46-489B-A871-C1F9C1B45443}"/>
              </a:ext>
            </a:extLst>
          </p:cNvPr>
          <p:cNvSpPr>
            <a:spLocks xmlns:a="http://schemas.openxmlformats.org/drawingml/2006/main" noGrp="1"/>
          </p:cNvSpPr>
          <p:nvPr/>
        </p:nvSpPr>
        <p:spPr>
          <a:xfrm xmlns:a="http://schemas.openxmlformats.org/drawingml/2006/main">
            <a:off x="8620125" y="3048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38BDF8"/>
                </a:solidFill>
                <a:latin typeface="Arial"/>
                <a:ea typeface="Arial"/>
                <a:cs typeface="Arial"/>
              </a:defRPr>
            </a:pPr>
            <a:r>
              <a:rPr sz="1500" b="1">
                <a:solidFill>
                  <a:srgbClr val="38BDF8"/>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324A6D1C-21EB-4AD8-A18A-E5A0D1319185}"/>
              </a:ext>
            </a:extLst>
          </p:cNvPr>
          <p:cNvSpPr>
            <a:spLocks xmlns:a="http://schemas.openxmlformats.org/drawingml/2006/main" noGrp="1"/>
          </p:cNvSpPr>
          <p:nvPr/>
        </p:nvSpPr>
        <p:spPr>
          <a:xfrm xmlns:a="http://schemas.openxmlformats.org/drawingml/2006/main">
            <a:off x="8905875" y="2971800"/>
            <a:ext cx="1905000" cy="400050"/>
          </a:xfrm>
          <a:prstGeom xmlns:a="http://schemas.openxmlformats.org/drawingml/2006/main" prst="roundRect">
            <a:avLst>
              <a:gd name="adj" fmla="val 28571"/>
            </a:avLst>
          </a:prstGeom>
          <a:solidFill xmlns:a="http://schemas.openxmlformats.org/drawingml/2006/main">
            <a:srgbClr val="1D4158"/>
          </a:solidFill>
          <a:ln xmlns:a="http://schemas.openxmlformats.org/drawingml/2006/main" w="9525">
            <a:solidFill>
              <a:srgbClr val="4E7485"/>
            </a:solidFill>
          </a:ln>
        </p:spPr>
      </p:sp>
      <p:sp>
        <p:nvSpPr>
          <p:cNvPr id="22" name="">
            <a:extLst xmlns:a="http://schemas.openxmlformats.org/drawingml/2006/main">
              <a:ext uri="{FF2B5EF4-FFF2-40B4-BE49-F238E27FC236}">
                <a16:creationId xmlns:a16="http://schemas.microsoft.com/office/drawing/2014/main" id="{4F62BBE7-A493-4FDB-BEAE-D245D20AAC3A}"/>
              </a:ext>
            </a:extLst>
          </p:cNvPr>
          <p:cNvSpPr>
            <a:spLocks xmlns:a="http://schemas.openxmlformats.org/drawingml/2006/main" noGrp="1"/>
          </p:cNvSpPr>
          <p:nvPr/>
        </p:nvSpPr>
        <p:spPr>
          <a:xfrm xmlns:a="http://schemas.openxmlformats.org/drawingml/2006/main">
            <a:off x="9001125" y="30765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File NLĐ</a:t>
            </a:r>
          </a:p>
        </p:txBody>
      </p:sp>
      <p:sp>
        <p:nvSpPr>
          <p:cNvPr id="23" name="">
            <a:extLst xmlns:a="http://schemas.openxmlformats.org/drawingml/2006/main">
              <a:ext uri="{FF2B5EF4-FFF2-40B4-BE49-F238E27FC236}">
                <a16:creationId xmlns:a16="http://schemas.microsoft.com/office/drawing/2014/main" id="{DE4E9406-1933-4D48-BA4D-DA9653EB6EF1}"/>
              </a:ext>
            </a:extLst>
          </p:cNvPr>
          <p:cNvSpPr>
            <a:spLocks xmlns:a="http://schemas.openxmlformats.org/drawingml/2006/main" noGrp="1"/>
          </p:cNvSpPr>
          <p:nvPr/>
        </p:nvSpPr>
        <p:spPr>
          <a:xfrm xmlns:a="http://schemas.openxmlformats.org/drawingml/2006/main">
            <a:off x="10858500" y="3048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38BDF8"/>
                </a:solidFill>
                <a:latin typeface="Arial"/>
                <a:ea typeface="Arial"/>
                <a:cs typeface="Arial"/>
              </a:defRPr>
            </a:pPr>
            <a:r>
              <a:rPr sz="1500" b="1">
                <a:solidFill>
                  <a:srgbClr val="38BDF8"/>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8B137245-0688-43FF-97E5-8BEE35635AFC}"/>
              </a:ext>
            </a:extLst>
          </p:cNvPr>
          <p:cNvSpPr>
            <a:spLocks xmlns:a="http://schemas.openxmlformats.org/drawingml/2006/main" noGrp="1"/>
          </p:cNvSpPr>
          <p:nvPr/>
        </p:nvSpPr>
        <p:spPr>
          <a:xfrm xmlns:a="http://schemas.openxmlformats.org/drawingml/2006/main">
            <a:off x="6667500" y="3657600"/>
            <a:ext cx="1905000" cy="400050"/>
          </a:xfrm>
          <a:prstGeom xmlns:a="http://schemas.openxmlformats.org/drawingml/2006/main" prst="roundRect">
            <a:avLst>
              <a:gd name="adj" fmla="val 28571"/>
            </a:avLst>
          </a:prstGeom>
          <a:solidFill xmlns:a="http://schemas.openxmlformats.org/drawingml/2006/main">
            <a:srgbClr val="1D4158"/>
          </a:solidFill>
          <a:ln xmlns:a="http://schemas.openxmlformats.org/drawingml/2006/main" w="9525">
            <a:solidFill>
              <a:srgbClr val="4E7485"/>
            </a:solidFill>
          </a:ln>
        </p:spPr>
      </p:sp>
      <p:sp>
        <p:nvSpPr>
          <p:cNvPr id="25" name="">
            <a:extLst xmlns:a="http://schemas.openxmlformats.org/drawingml/2006/main">
              <a:ext uri="{FF2B5EF4-FFF2-40B4-BE49-F238E27FC236}">
                <a16:creationId xmlns:a16="http://schemas.microsoft.com/office/drawing/2014/main" id="{FDA152F5-E89D-4EDB-9571-063B0A0984E2}"/>
              </a:ext>
            </a:extLst>
          </p:cNvPr>
          <p:cNvSpPr>
            <a:spLocks xmlns:a="http://schemas.openxmlformats.org/drawingml/2006/main" noGrp="1"/>
          </p:cNvSpPr>
          <p:nvPr/>
        </p:nvSpPr>
        <p:spPr>
          <a:xfrm xmlns:a="http://schemas.openxmlformats.org/drawingml/2006/main">
            <a:off x="6762750" y="37623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File nhà máy</a:t>
            </a:r>
          </a:p>
        </p:txBody>
      </p:sp>
      <p:sp>
        <p:nvSpPr>
          <p:cNvPr id="26" name="">
            <a:extLst xmlns:a="http://schemas.openxmlformats.org/drawingml/2006/main">
              <a:ext uri="{FF2B5EF4-FFF2-40B4-BE49-F238E27FC236}">
                <a16:creationId xmlns:a16="http://schemas.microsoft.com/office/drawing/2014/main" id="{6F9A2FAF-0BD5-4187-8A7E-9412BB5D88AC}"/>
              </a:ext>
            </a:extLst>
          </p:cNvPr>
          <p:cNvSpPr>
            <a:spLocks xmlns:a="http://schemas.openxmlformats.org/drawingml/2006/main" noGrp="1"/>
          </p:cNvSpPr>
          <p:nvPr/>
        </p:nvSpPr>
        <p:spPr>
          <a:xfrm xmlns:a="http://schemas.openxmlformats.org/drawingml/2006/main">
            <a:off x="8620125" y="37338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38BDF8"/>
                </a:solidFill>
                <a:latin typeface="Arial"/>
                <a:ea typeface="Arial"/>
                <a:cs typeface="Arial"/>
              </a:defRPr>
            </a:pPr>
            <a:r>
              <a:rPr sz="1500" b="1">
                <a:solidFill>
                  <a:srgbClr val="38BDF8"/>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D67D0461-542E-4655-8BCA-ED0F3ADBB2B3}"/>
              </a:ext>
            </a:extLst>
          </p:cNvPr>
          <p:cNvSpPr>
            <a:spLocks xmlns:a="http://schemas.openxmlformats.org/drawingml/2006/main" noGrp="1"/>
          </p:cNvSpPr>
          <p:nvPr/>
        </p:nvSpPr>
        <p:spPr>
          <a:xfrm xmlns:a="http://schemas.openxmlformats.org/drawingml/2006/main">
            <a:off x="8905875" y="3657600"/>
            <a:ext cx="1905000" cy="400050"/>
          </a:xfrm>
          <a:prstGeom xmlns:a="http://schemas.openxmlformats.org/drawingml/2006/main" prst="roundRect">
            <a:avLst>
              <a:gd name="adj" fmla="val 28571"/>
            </a:avLst>
          </a:prstGeom>
          <a:solidFill xmlns:a="http://schemas.openxmlformats.org/drawingml/2006/main">
            <a:srgbClr val="1D4158"/>
          </a:solidFill>
          <a:ln xmlns:a="http://schemas.openxmlformats.org/drawingml/2006/main" w="9525">
            <a:solidFill>
              <a:srgbClr val="4E7485"/>
            </a:solidFill>
          </a:ln>
        </p:spPr>
      </p:sp>
      <p:sp>
        <p:nvSpPr>
          <p:cNvPr id="28" name="">
            <a:extLst xmlns:a="http://schemas.openxmlformats.org/drawingml/2006/main">
              <a:ext uri="{FF2B5EF4-FFF2-40B4-BE49-F238E27FC236}">
                <a16:creationId xmlns:a16="http://schemas.microsoft.com/office/drawing/2014/main" id="{E4CB5B55-227D-4EB2-B774-AECFF83B555B}"/>
              </a:ext>
            </a:extLst>
          </p:cNvPr>
          <p:cNvSpPr>
            <a:spLocks xmlns:a="http://schemas.openxmlformats.org/drawingml/2006/main" noGrp="1"/>
          </p:cNvSpPr>
          <p:nvPr/>
        </p:nvSpPr>
        <p:spPr>
          <a:xfrm xmlns:a="http://schemas.openxmlformats.org/drawingml/2006/main">
            <a:off x="9001125" y="37623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File công/lương</a:t>
            </a:r>
          </a:p>
        </p:txBody>
      </p:sp>
      <p:sp>
        <p:nvSpPr>
          <p:cNvPr id="29" name="">
            <a:extLst xmlns:a="http://schemas.openxmlformats.org/drawingml/2006/main">
              <a:ext uri="{FF2B5EF4-FFF2-40B4-BE49-F238E27FC236}">
                <a16:creationId xmlns:a16="http://schemas.microsoft.com/office/drawing/2014/main" id="{C1E64932-28CD-4FDD-912F-3146CAB5416F}"/>
              </a:ext>
            </a:extLst>
          </p:cNvPr>
          <p:cNvSpPr>
            <a:spLocks xmlns:a="http://schemas.openxmlformats.org/drawingml/2006/main" noGrp="1"/>
          </p:cNvSpPr>
          <p:nvPr/>
        </p:nvSpPr>
        <p:spPr>
          <a:xfrm xmlns:a="http://schemas.openxmlformats.org/drawingml/2006/main">
            <a:off x="10858500" y="37338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38BDF8"/>
                </a:solidFill>
                <a:latin typeface="Arial"/>
                <a:ea typeface="Arial"/>
                <a:cs typeface="Arial"/>
              </a:defRPr>
            </a:pPr>
            <a:r>
              <a:rPr sz="1500" b="1">
                <a:solidFill>
                  <a:srgbClr val="38BDF8"/>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3A42A88F-2C71-4B16-982F-36D71528439D}"/>
              </a:ext>
            </a:extLst>
          </p:cNvPr>
          <p:cNvSpPr>
            <a:spLocks xmlns:a="http://schemas.openxmlformats.org/drawingml/2006/main" noGrp="1"/>
          </p:cNvSpPr>
          <p:nvPr/>
        </p:nvSpPr>
        <p:spPr>
          <a:xfrm xmlns:a="http://schemas.openxmlformats.org/drawingml/2006/main">
            <a:off x="6667500" y="4343400"/>
            <a:ext cx="1905000" cy="400050"/>
          </a:xfrm>
          <a:prstGeom xmlns:a="http://schemas.openxmlformats.org/drawingml/2006/main" prst="roundRect">
            <a:avLst>
              <a:gd name="adj" fmla="val 28571"/>
            </a:avLst>
          </a:prstGeom>
          <a:solidFill xmlns:a="http://schemas.openxmlformats.org/drawingml/2006/main">
            <a:srgbClr val="F59E0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71FFE4CA-251B-43E1-A845-B2F332DEC8F9}"/>
              </a:ext>
            </a:extLst>
          </p:cNvPr>
          <p:cNvSpPr>
            <a:spLocks xmlns:a="http://schemas.openxmlformats.org/drawingml/2006/main" noGrp="1"/>
          </p:cNvSpPr>
          <p:nvPr/>
        </p:nvSpPr>
        <p:spPr>
          <a:xfrm xmlns:a="http://schemas.openxmlformats.org/drawingml/2006/main">
            <a:off x="6762750" y="44481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0B2538"/>
                </a:solidFill>
                <a:latin typeface="Arial"/>
                <a:ea typeface="Arial"/>
                <a:cs typeface="Arial"/>
              </a:defRPr>
            </a:pPr>
            <a:r>
              <a:rPr sz="1125" b="1">
                <a:solidFill>
                  <a:srgbClr val="0B2538"/>
                </a:solidFill>
                <a:latin typeface="Arial"/>
                <a:ea typeface="Arial"/>
                <a:cs typeface="Arial"/>
              </a:rPr>
              <a:t>Báo cáo tổng hợp</a:t>
            </a:r>
          </a:p>
        </p:txBody>
      </p:sp>
      <p:sp>
        <p:nvSpPr>
          <p:cNvPr id="32" name="">
            <a:extLst xmlns:a="http://schemas.openxmlformats.org/drawingml/2006/main">
              <a:ext uri="{FF2B5EF4-FFF2-40B4-BE49-F238E27FC236}">
                <a16:creationId xmlns:a16="http://schemas.microsoft.com/office/drawing/2014/main" id="{16B15178-32A3-48C1-9ED7-5ED3FD89D90A}"/>
              </a:ext>
            </a:extLst>
          </p:cNvPr>
          <p:cNvSpPr>
            <a:spLocks xmlns:a="http://schemas.openxmlformats.org/drawingml/2006/main" noGrp="1"/>
          </p:cNvSpPr>
          <p:nvPr/>
        </p:nvSpPr>
        <p:spPr>
          <a:xfrm xmlns:a="http://schemas.openxmlformats.org/drawingml/2006/main">
            <a:off x="6667500" y="4762500"/>
            <a:ext cx="4095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D9F5F3"/>
                </a:solidFill>
                <a:latin typeface="Arial"/>
                <a:ea typeface="Arial"/>
                <a:cs typeface="Arial"/>
              </a:defRPr>
            </a:pPr>
            <a:r>
              <a:rPr sz="1425" b="0">
                <a:solidFill>
                  <a:srgbClr val="D9F5F3"/>
                </a:solidFill>
                <a:latin typeface="Arial"/>
                <a:ea typeface="Arial"/>
                <a:cs typeface="Arial"/>
              </a:rPr>
              <a:t>Mất thời gian không chỉ ở nhập liệu, mà ở việc xác định đâu là sự thật.</a:t>
            </a:r>
          </a:p>
        </p:txBody>
      </p:sp>
      <p:sp>
        <p:nvSpPr>
          <p:cNvPr id="33" name="">
            <a:extLst xmlns:a="http://schemas.openxmlformats.org/drawingml/2006/main">
              <a:ext uri="{FF2B5EF4-FFF2-40B4-BE49-F238E27FC236}">
                <a16:creationId xmlns:a16="http://schemas.microsoft.com/office/drawing/2014/main" id="{C055B60E-85A5-45F9-B1F2-837764CCEBDE}"/>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34" name="">
            <a:extLst xmlns:a="http://schemas.openxmlformats.org/drawingml/2006/main">
              <a:ext uri="{FF2B5EF4-FFF2-40B4-BE49-F238E27FC236}">
                <a16:creationId xmlns:a16="http://schemas.microsoft.com/office/drawing/2014/main" id="{4412C4BE-0273-49AF-A058-6551AEDA22C7}"/>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02</a:t>
            </a:r>
          </a:p>
        </p:txBody>
      </p:sp>
    </p:spTree>
    <p:extLst>
      <p:ext uri="{BB962C8B-B14F-4D97-AF65-F5344CB8AC3E}">
        <p14:creationId xmlns:p14="http://schemas.microsoft.com/office/powerpoint/2010/main" val="17686979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25C21E23-8AEC-4FA8-A69B-B3E55D867629}"/>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GIẢI PHÁP CỐT LÕI</a:t>
            </a:r>
          </a:p>
        </p:txBody>
      </p:sp>
      <p:sp>
        <p:nvSpPr>
          <p:cNvPr id="2" name="">
            <a:extLst xmlns:a="http://schemas.openxmlformats.org/drawingml/2006/main">
              <a:ext uri="{FF2B5EF4-FFF2-40B4-BE49-F238E27FC236}">
                <a16:creationId xmlns:a16="http://schemas.microsoft.com/office/drawing/2014/main" id="{0C8B73CD-B3A6-47EC-B5E6-347844FEC94B}"/>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Một hồ sơ, một nguồn dữ liệu</a:t>
            </a:r>
          </a:p>
        </p:txBody>
      </p:sp>
      <p:sp>
        <p:nvSpPr>
          <p:cNvPr id="3" name="">
            <a:extLst xmlns:a="http://schemas.openxmlformats.org/drawingml/2006/main">
              <a:ext uri="{FF2B5EF4-FFF2-40B4-BE49-F238E27FC236}">
                <a16:creationId xmlns:a16="http://schemas.microsoft.com/office/drawing/2014/main" id="{2FAB4622-D7DD-4CFA-B71D-C6D15210121E}"/>
              </a:ext>
            </a:extLst>
          </p:cNvPr>
          <p:cNvSpPr>
            <a:spLocks xmlns:a="http://schemas.openxmlformats.org/drawingml/2006/main" noGrp="1"/>
          </p:cNvSpPr>
          <p:nvPr/>
        </p:nvSpPr>
        <p:spPr>
          <a:xfrm xmlns:a="http://schemas.openxmlformats.org/drawingml/2006/main">
            <a:off x="685800" y="1295400"/>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0">
                <a:solidFill>
                  <a:srgbClr val="52606D"/>
                </a:solidFill>
                <a:latin typeface="Arial"/>
                <a:ea typeface="Arial"/>
                <a:cs typeface="Arial"/>
              </a:defRPr>
            </a:pPr>
            <a:r>
              <a:rPr sz="1725" b="0">
                <a:solidFill>
                  <a:srgbClr val="52606D"/>
                </a:solidFill>
                <a:latin typeface="Arial"/>
                <a:ea typeface="Arial"/>
                <a:cs typeface="Arial"/>
              </a:rPr>
              <a:t>Ứng dụng nối liền vòng đời người lao động từ lúc tuyển đến khi tính công, ứng lương và lưu vết xử lý.</a:t>
            </a:r>
          </a:p>
        </p:txBody>
      </p:sp>
      <p:sp>
        <p:nvSpPr>
          <p:cNvPr id="4" name="">
            <a:extLst xmlns:a="http://schemas.openxmlformats.org/drawingml/2006/main">
              <a:ext uri="{FF2B5EF4-FFF2-40B4-BE49-F238E27FC236}">
                <a16:creationId xmlns:a16="http://schemas.microsoft.com/office/drawing/2014/main" id="{03C6E2E8-2F26-436A-B5BF-234E13844B5D}"/>
              </a:ext>
            </a:extLst>
          </p:cNvPr>
          <p:cNvSpPr>
            <a:spLocks xmlns:a="http://schemas.openxmlformats.org/drawingml/2006/main" noGrp="1"/>
          </p:cNvSpPr>
          <p:nvPr/>
        </p:nvSpPr>
        <p:spPr>
          <a:xfrm xmlns:a="http://schemas.openxmlformats.org/drawingml/2006/main">
            <a:off x="685800" y="2571750"/>
            <a:ext cx="17526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0F8B8D"/>
            </a:solidFill>
          </a:ln>
        </p:spPr>
      </p:sp>
      <p:sp>
        <p:nvSpPr>
          <p:cNvPr id="5" name="">
            <a:extLst xmlns:a="http://schemas.openxmlformats.org/drawingml/2006/main">
              <a:ext uri="{FF2B5EF4-FFF2-40B4-BE49-F238E27FC236}">
                <a16:creationId xmlns:a16="http://schemas.microsoft.com/office/drawing/2014/main" id="{0C2F1D2B-B3FB-4FD6-9A87-07B9CB4A21B8}"/>
              </a:ext>
            </a:extLst>
          </p:cNvPr>
          <p:cNvSpPr>
            <a:spLocks xmlns:a="http://schemas.openxmlformats.org/drawingml/2006/main" noGrp="1"/>
          </p:cNvSpPr>
          <p:nvPr/>
        </p:nvSpPr>
        <p:spPr>
          <a:xfrm xmlns:a="http://schemas.openxmlformats.org/drawingml/2006/main">
            <a:off x="685800" y="2571750"/>
            <a:ext cx="76200" cy="121920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17CBEC0-78E5-44B6-9D3E-CB3992BA78C5}"/>
              </a:ext>
            </a:extLst>
          </p:cNvPr>
          <p:cNvSpPr>
            <a:spLocks xmlns:a="http://schemas.openxmlformats.org/drawingml/2006/main" noGrp="1"/>
          </p:cNvSpPr>
          <p:nvPr/>
        </p:nvSpPr>
        <p:spPr>
          <a:xfrm xmlns:a="http://schemas.openxmlformats.org/drawingml/2006/main">
            <a:off x="895350" y="28384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Hồ sơ NLĐ</a:t>
            </a:r>
          </a:p>
        </p:txBody>
      </p:sp>
      <p:sp>
        <p:nvSpPr>
          <p:cNvPr id="7" name="">
            <a:extLst xmlns:a="http://schemas.openxmlformats.org/drawingml/2006/main">
              <a:ext uri="{FF2B5EF4-FFF2-40B4-BE49-F238E27FC236}">
                <a16:creationId xmlns:a16="http://schemas.microsoft.com/office/drawing/2014/main" id="{521B986A-8C63-4702-9053-9D10178D84A5}"/>
              </a:ext>
            </a:extLst>
          </p:cNvPr>
          <p:cNvSpPr>
            <a:spLocks xmlns:a="http://schemas.openxmlformats.org/drawingml/2006/main" noGrp="1"/>
          </p:cNvSpPr>
          <p:nvPr/>
        </p:nvSpPr>
        <p:spPr>
          <a:xfrm xmlns:a="http://schemas.openxmlformats.org/drawingml/2006/main">
            <a:off x="895350" y="32575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UID · CCCD · tài khoản</a:t>
            </a:r>
          </a:p>
        </p:txBody>
      </p:sp>
      <p:sp>
        <p:nvSpPr>
          <p:cNvPr id="8" name="">
            <a:extLst xmlns:a="http://schemas.openxmlformats.org/drawingml/2006/main">
              <a:ext uri="{FF2B5EF4-FFF2-40B4-BE49-F238E27FC236}">
                <a16:creationId xmlns:a16="http://schemas.microsoft.com/office/drawing/2014/main" id="{E573112D-EEBF-4650-A33D-D14416366A52}"/>
              </a:ext>
            </a:extLst>
          </p:cNvPr>
          <p:cNvSpPr>
            <a:spLocks xmlns:a="http://schemas.openxmlformats.org/drawingml/2006/main" noGrp="1"/>
          </p:cNvSpPr>
          <p:nvPr/>
        </p:nvSpPr>
        <p:spPr>
          <a:xfrm xmlns:a="http://schemas.openxmlformats.org/drawingml/2006/main">
            <a:off x="2505075" y="30289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725" b="1">
                <a:solidFill>
                  <a:srgbClr val="0F8B8D"/>
                </a:solidFill>
                <a:latin typeface="Arial"/>
                <a:ea typeface="Arial"/>
                <a:cs typeface="Arial"/>
              </a:defRPr>
            </a:pPr>
            <a:r>
              <a:rPr sz="1725" b="1">
                <a:solidFill>
                  <a:srgbClr val="0F8B8D"/>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B782FA18-5452-40F7-955F-A6C29D790470}"/>
              </a:ext>
            </a:extLst>
          </p:cNvPr>
          <p:cNvSpPr>
            <a:spLocks xmlns:a="http://schemas.openxmlformats.org/drawingml/2006/main" noGrp="1"/>
          </p:cNvSpPr>
          <p:nvPr/>
        </p:nvSpPr>
        <p:spPr>
          <a:xfrm xmlns:a="http://schemas.openxmlformats.org/drawingml/2006/main">
            <a:off x="2781300" y="2571750"/>
            <a:ext cx="19050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38BDF8"/>
            </a:solidFill>
          </a:ln>
        </p:spPr>
      </p:sp>
      <p:sp>
        <p:nvSpPr>
          <p:cNvPr id="10" name="">
            <a:extLst xmlns:a="http://schemas.openxmlformats.org/drawingml/2006/main">
              <a:ext uri="{FF2B5EF4-FFF2-40B4-BE49-F238E27FC236}">
                <a16:creationId xmlns:a16="http://schemas.microsoft.com/office/drawing/2014/main" id="{3B16726F-65FB-42A2-A32D-2F4B84AD7A7A}"/>
              </a:ext>
            </a:extLst>
          </p:cNvPr>
          <p:cNvSpPr>
            <a:spLocks xmlns:a="http://schemas.openxmlformats.org/drawingml/2006/main" noGrp="1"/>
          </p:cNvSpPr>
          <p:nvPr/>
        </p:nvSpPr>
        <p:spPr>
          <a:xfrm xmlns:a="http://schemas.openxmlformats.org/drawingml/2006/main">
            <a:off x="2781300" y="2571750"/>
            <a:ext cx="76200" cy="12192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58C6CFD-E6D6-48FF-A651-C22D066692CF}"/>
              </a:ext>
            </a:extLst>
          </p:cNvPr>
          <p:cNvSpPr>
            <a:spLocks xmlns:a="http://schemas.openxmlformats.org/drawingml/2006/main" noGrp="1"/>
          </p:cNvSpPr>
          <p:nvPr/>
        </p:nvSpPr>
        <p:spPr>
          <a:xfrm xmlns:a="http://schemas.openxmlformats.org/drawingml/2006/main">
            <a:off x="2990850" y="283845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Lịch sử đi làm</a:t>
            </a:r>
          </a:p>
        </p:txBody>
      </p:sp>
      <p:sp>
        <p:nvSpPr>
          <p:cNvPr id="12" name="">
            <a:extLst xmlns:a="http://schemas.openxmlformats.org/drawingml/2006/main">
              <a:ext uri="{FF2B5EF4-FFF2-40B4-BE49-F238E27FC236}">
                <a16:creationId xmlns:a16="http://schemas.microsoft.com/office/drawing/2014/main" id="{00BB90AB-4601-48BF-BAC3-6E832F315B9F}"/>
              </a:ext>
            </a:extLst>
          </p:cNvPr>
          <p:cNvSpPr>
            <a:spLocks xmlns:a="http://schemas.openxmlformats.org/drawingml/2006/main" noGrp="1"/>
          </p:cNvSpPr>
          <p:nvPr/>
        </p:nvSpPr>
        <p:spPr>
          <a:xfrm xmlns:a="http://schemas.openxmlformats.org/drawingml/2006/main">
            <a:off x="2990850" y="3257550"/>
            <a:ext cx="1581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mã NV · ngày vào/nghỉ</a:t>
            </a:r>
          </a:p>
        </p:txBody>
      </p:sp>
      <p:sp>
        <p:nvSpPr>
          <p:cNvPr id="13" name="">
            <a:extLst xmlns:a="http://schemas.openxmlformats.org/drawingml/2006/main">
              <a:ext uri="{FF2B5EF4-FFF2-40B4-BE49-F238E27FC236}">
                <a16:creationId xmlns:a16="http://schemas.microsoft.com/office/drawing/2014/main" id="{8AA7E214-EBC4-4C27-998C-261CAFCC0148}"/>
              </a:ext>
            </a:extLst>
          </p:cNvPr>
          <p:cNvSpPr>
            <a:spLocks xmlns:a="http://schemas.openxmlformats.org/drawingml/2006/main" noGrp="1"/>
          </p:cNvSpPr>
          <p:nvPr/>
        </p:nvSpPr>
        <p:spPr>
          <a:xfrm xmlns:a="http://schemas.openxmlformats.org/drawingml/2006/main">
            <a:off x="4752975" y="30289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725" b="1">
                <a:solidFill>
                  <a:srgbClr val="0F8B8D"/>
                </a:solidFill>
                <a:latin typeface="Arial"/>
                <a:ea typeface="Arial"/>
                <a:cs typeface="Arial"/>
              </a:defRPr>
            </a:pPr>
            <a:r>
              <a:rPr sz="1725" b="1">
                <a:solidFill>
                  <a:srgbClr val="0F8B8D"/>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AD3A9ACE-8079-4A77-96C7-61E822FED6F9}"/>
              </a:ext>
            </a:extLst>
          </p:cNvPr>
          <p:cNvSpPr>
            <a:spLocks xmlns:a="http://schemas.openxmlformats.org/drawingml/2006/main" noGrp="1"/>
          </p:cNvSpPr>
          <p:nvPr/>
        </p:nvSpPr>
        <p:spPr>
          <a:xfrm xmlns:a="http://schemas.openxmlformats.org/drawingml/2006/main">
            <a:off x="5029200" y="2571750"/>
            <a:ext cx="17526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F59E0B"/>
            </a:solidFill>
          </a:ln>
        </p:spPr>
      </p:sp>
      <p:sp>
        <p:nvSpPr>
          <p:cNvPr id="15" name="">
            <a:extLst xmlns:a="http://schemas.openxmlformats.org/drawingml/2006/main">
              <a:ext uri="{FF2B5EF4-FFF2-40B4-BE49-F238E27FC236}">
                <a16:creationId xmlns:a16="http://schemas.microsoft.com/office/drawing/2014/main" id="{9EDD77A3-063F-45FD-815C-B3956E594A28}"/>
              </a:ext>
            </a:extLst>
          </p:cNvPr>
          <p:cNvSpPr>
            <a:spLocks xmlns:a="http://schemas.openxmlformats.org/drawingml/2006/main" noGrp="1"/>
          </p:cNvSpPr>
          <p:nvPr/>
        </p:nvSpPr>
        <p:spPr>
          <a:xfrm xmlns:a="http://schemas.openxmlformats.org/drawingml/2006/main">
            <a:off x="5029200" y="2571750"/>
            <a:ext cx="76200" cy="1219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9517A8E-3CD2-4E11-AAB5-16A67B380CB0}"/>
              </a:ext>
            </a:extLst>
          </p:cNvPr>
          <p:cNvSpPr>
            <a:spLocks xmlns:a="http://schemas.openxmlformats.org/drawingml/2006/main" noGrp="1"/>
          </p:cNvSpPr>
          <p:nvPr/>
        </p:nvSpPr>
        <p:spPr>
          <a:xfrm xmlns:a="http://schemas.openxmlformats.org/drawingml/2006/main">
            <a:off x="5238750" y="28384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Nhà máy &amp; đối tác</a:t>
            </a:r>
          </a:p>
        </p:txBody>
      </p:sp>
      <p:sp>
        <p:nvSpPr>
          <p:cNvPr id="17" name="">
            <a:extLst xmlns:a="http://schemas.openxmlformats.org/drawingml/2006/main">
              <a:ext uri="{FF2B5EF4-FFF2-40B4-BE49-F238E27FC236}">
                <a16:creationId xmlns:a16="http://schemas.microsoft.com/office/drawing/2014/main" id="{5DAD4F5F-7F92-42A1-952D-CA7AA6ECFE9E}"/>
              </a:ext>
            </a:extLst>
          </p:cNvPr>
          <p:cNvSpPr>
            <a:spLocks xmlns:a="http://schemas.openxmlformats.org/drawingml/2006/main" noGrp="1"/>
          </p:cNvSpPr>
          <p:nvPr/>
        </p:nvSpPr>
        <p:spPr>
          <a:xfrm xmlns:a="http://schemas.openxmlformats.org/drawingml/2006/main">
            <a:off x="5238750" y="32575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nguồn tuyển · phạm vi</a:t>
            </a:r>
          </a:p>
        </p:txBody>
      </p:sp>
      <p:sp>
        <p:nvSpPr>
          <p:cNvPr id="18" name="">
            <a:extLst xmlns:a="http://schemas.openxmlformats.org/drawingml/2006/main">
              <a:ext uri="{FF2B5EF4-FFF2-40B4-BE49-F238E27FC236}">
                <a16:creationId xmlns:a16="http://schemas.microsoft.com/office/drawing/2014/main" id="{37CC2D90-D3D5-4102-B191-01549083591B}"/>
              </a:ext>
            </a:extLst>
          </p:cNvPr>
          <p:cNvSpPr>
            <a:spLocks xmlns:a="http://schemas.openxmlformats.org/drawingml/2006/main" noGrp="1"/>
          </p:cNvSpPr>
          <p:nvPr/>
        </p:nvSpPr>
        <p:spPr>
          <a:xfrm xmlns:a="http://schemas.openxmlformats.org/drawingml/2006/main">
            <a:off x="6848475" y="30289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725" b="1">
                <a:solidFill>
                  <a:srgbClr val="0F8B8D"/>
                </a:solidFill>
                <a:latin typeface="Arial"/>
                <a:ea typeface="Arial"/>
                <a:cs typeface="Arial"/>
              </a:defRPr>
            </a:pPr>
            <a:r>
              <a:rPr sz="1725" b="1">
                <a:solidFill>
                  <a:srgbClr val="0F8B8D"/>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6424375D-0A37-4A0C-BFDF-1F1AF7661C17}"/>
              </a:ext>
            </a:extLst>
          </p:cNvPr>
          <p:cNvSpPr>
            <a:spLocks xmlns:a="http://schemas.openxmlformats.org/drawingml/2006/main" noGrp="1"/>
          </p:cNvSpPr>
          <p:nvPr/>
        </p:nvSpPr>
        <p:spPr>
          <a:xfrm xmlns:a="http://schemas.openxmlformats.org/drawingml/2006/main">
            <a:off x="7124700" y="2571750"/>
            <a:ext cx="17526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159A78"/>
            </a:solidFill>
          </a:ln>
        </p:spPr>
      </p:sp>
      <p:sp>
        <p:nvSpPr>
          <p:cNvPr id="20" name="">
            <a:extLst xmlns:a="http://schemas.openxmlformats.org/drawingml/2006/main">
              <a:ext uri="{FF2B5EF4-FFF2-40B4-BE49-F238E27FC236}">
                <a16:creationId xmlns:a16="http://schemas.microsoft.com/office/drawing/2014/main" id="{D4221358-A18D-44FE-A46A-095562F5CF02}"/>
              </a:ext>
            </a:extLst>
          </p:cNvPr>
          <p:cNvSpPr>
            <a:spLocks xmlns:a="http://schemas.openxmlformats.org/drawingml/2006/main" noGrp="1"/>
          </p:cNvSpPr>
          <p:nvPr/>
        </p:nvSpPr>
        <p:spPr>
          <a:xfrm xmlns:a="http://schemas.openxmlformats.org/drawingml/2006/main">
            <a:off x="7124700" y="2571750"/>
            <a:ext cx="76200" cy="1219200"/>
          </a:xfrm>
          <a:prstGeom xmlns:a="http://schemas.openxmlformats.org/drawingml/2006/main" prst="roundRect">
            <a:avLst>
              <a:gd name="adj" fmla="val 50000"/>
            </a:avLst>
          </a:prstGeom>
          <a:solidFill xmlns:a="http://schemas.openxmlformats.org/drawingml/2006/main">
            <a:srgbClr val="159A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5CDECCE-CE72-43F6-B292-C1AA7F1B0C48}"/>
              </a:ext>
            </a:extLst>
          </p:cNvPr>
          <p:cNvSpPr>
            <a:spLocks xmlns:a="http://schemas.openxmlformats.org/drawingml/2006/main" noGrp="1"/>
          </p:cNvSpPr>
          <p:nvPr/>
        </p:nvSpPr>
        <p:spPr>
          <a:xfrm xmlns:a="http://schemas.openxmlformats.org/drawingml/2006/main">
            <a:off x="7334250" y="28384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Công &amp; lương</a:t>
            </a:r>
          </a:p>
        </p:txBody>
      </p:sp>
      <p:sp>
        <p:nvSpPr>
          <p:cNvPr id="22" name="">
            <a:extLst xmlns:a="http://schemas.openxmlformats.org/drawingml/2006/main">
              <a:ext uri="{FF2B5EF4-FFF2-40B4-BE49-F238E27FC236}">
                <a16:creationId xmlns:a16="http://schemas.microsoft.com/office/drawing/2014/main" id="{135F0E05-62B3-4BD9-80D5-99F784E08D1E}"/>
              </a:ext>
            </a:extLst>
          </p:cNvPr>
          <p:cNvSpPr>
            <a:spLocks xmlns:a="http://schemas.openxmlformats.org/drawingml/2006/main" noGrp="1"/>
          </p:cNvSpPr>
          <p:nvPr/>
        </p:nvSpPr>
        <p:spPr>
          <a:xfrm xmlns:a="http://schemas.openxmlformats.org/drawingml/2006/main">
            <a:off x="7334250" y="32575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giờ · phụ cấp · khấu trừ</a:t>
            </a:r>
          </a:p>
        </p:txBody>
      </p:sp>
      <p:sp>
        <p:nvSpPr>
          <p:cNvPr id="23" name="">
            <a:extLst xmlns:a="http://schemas.openxmlformats.org/drawingml/2006/main">
              <a:ext uri="{FF2B5EF4-FFF2-40B4-BE49-F238E27FC236}">
                <a16:creationId xmlns:a16="http://schemas.microsoft.com/office/drawing/2014/main" id="{D7CCE9FA-CF62-4A05-82B3-A42A9CAD0239}"/>
              </a:ext>
            </a:extLst>
          </p:cNvPr>
          <p:cNvSpPr>
            <a:spLocks xmlns:a="http://schemas.openxmlformats.org/drawingml/2006/main" noGrp="1"/>
          </p:cNvSpPr>
          <p:nvPr/>
        </p:nvSpPr>
        <p:spPr>
          <a:xfrm xmlns:a="http://schemas.openxmlformats.org/drawingml/2006/main">
            <a:off x="8943975" y="30289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725" b="1">
                <a:solidFill>
                  <a:srgbClr val="0F8B8D"/>
                </a:solidFill>
                <a:latin typeface="Arial"/>
                <a:ea typeface="Arial"/>
                <a:cs typeface="Arial"/>
              </a:defRPr>
            </a:pPr>
            <a:r>
              <a:rPr sz="1725" b="1">
                <a:solidFill>
                  <a:srgbClr val="0F8B8D"/>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293B9749-C78B-4351-AC08-E7581AF53357}"/>
              </a:ext>
            </a:extLst>
          </p:cNvPr>
          <p:cNvSpPr>
            <a:spLocks xmlns:a="http://schemas.openxmlformats.org/drawingml/2006/main" noGrp="1"/>
          </p:cNvSpPr>
          <p:nvPr/>
        </p:nvSpPr>
        <p:spPr>
          <a:xfrm xmlns:a="http://schemas.openxmlformats.org/drawingml/2006/main">
            <a:off x="9220200" y="2571750"/>
            <a:ext cx="22860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D85C5C"/>
            </a:solidFill>
          </a:ln>
        </p:spPr>
      </p:sp>
      <p:sp>
        <p:nvSpPr>
          <p:cNvPr id="25" name="">
            <a:extLst xmlns:a="http://schemas.openxmlformats.org/drawingml/2006/main">
              <a:ext uri="{FF2B5EF4-FFF2-40B4-BE49-F238E27FC236}">
                <a16:creationId xmlns:a16="http://schemas.microsoft.com/office/drawing/2014/main" id="{D745E3F8-8797-4202-AC6A-66EE5F765947}"/>
              </a:ext>
            </a:extLst>
          </p:cNvPr>
          <p:cNvSpPr>
            <a:spLocks xmlns:a="http://schemas.openxmlformats.org/drawingml/2006/main" noGrp="1"/>
          </p:cNvSpPr>
          <p:nvPr/>
        </p:nvSpPr>
        <p:spPr>
          <a:xfrm xmlns:a="http://schemas.openxmlformats.org/drawingml/2006/main">
            <a:off x="9220200" y="2571750"/>
            <a:ext cx="76200" cy="1219200"/>
          </a:xfrm>
          <a:prstGeom xmlns:a="http://schemas.openxmlformats.org/drawingml/2006/main" prst="roundRect">
            <a:avLst>
              <a:gd name="adj" fmla="val 50000"/>
            </a:avLst>
          </a:prstGeom>
          <a:solidFill xmlns:a="http://schemas.openxmlformats.org/drawingml/2006/main">
            <a:srgbClr val="D85C5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5BE0573-1EB6-4D95-86A5-19F7DAE28120}"/>
              </a:ext>
            </a:extLst>
          </p:cNvPr>
          <p:cNvSpPr>
            <a:spLocks xmlns:a="http://schemas.openxmlformats.org/drawingml/2006/main" noGrp="1"/>
          </p:cNvSpPr>
          <p:nvPr/>
        </p:nvSpPr>
        <p:spPr>
          <a:xfrm xmlns:a="http://schemas.openxmlformats.org/drawingml/2006/main">
            <a:off x="9429750" y="2838450"/>
            <a:ext cx="1962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Phê duyệt &amp; nhật ký</a:t>
            </a:r>
          </a:p>
        </p:txBody>
      </p:sp>
      <p:sp>
        <p:nvSpPr>
          <p:cNvPr id="27" name="">
            <a:extLst xmlns:a="http://schemas.openxmlformats.org/drawingml/2006/main">
              <a:ext uri="{FF2B5EF4-FFF2-40B4-BE49-F238E27FC236}">
                <a16:creationId xmlns:a16="http://schemas.microsoft.com/office/drawing/2014/main" id="{BFB30726-7E64-4388-8605-3071DD1279B2}"/>
              </a:ext>
            </a:extLst>
          </p:cNvPr>
          <p:cNvSpPr>
            <a:spLocks xmlns:a="http://schemas.openxmlformats.org/drawingml/2006/main" noGrp="1"/>
          </p:cNvSpPr>
          <p:nvPr/>
        </p:nvSpPr>
        <p:spPr>
          <a:xfrm xmlns:a="http://schemas.openxmlformats.org/drawingml/2006/main">
            <a:off x="9429750" y="3257550"/>
            <a:ext cx="1962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ai làm · lúc nào · thay đổi gì</a:t>
            </a:r>
          </a:p>
        </p:txBody>
      </p:sp>
      <p:sp>
        <p:nvSpPr>
          <p:cNvPr id="28" name="">
            <a:extLst xmlns:a="http://schemas.openxmlformats.org/drawingml/2006/main">
              <a:ext uri="{FF2B5EF4-FFF2-40B4-BE49-F238E27FC236}">
                <a16:creationId xmlns:a16="http://schemas.microsoft.com/office/drawing/2014/main" id="{56838012-AC58-4F77-9200-5F736BCB90BF}"/>
              </a:ext>
            </a:extLst>
          </p:cNvPr>
          <p:cNvSpPr>
            <a:spLocks xmlns:a="http://schemas.openxmlformats.org/drawingml/2006/main" noGrp="1"/>
          </p:cNvSpPr>
          <p:nvPr/>
        </p:nvSpPr>
        <p:spPr>
          <a:xfrm xmlns:a="http://schemas.openxmlformats.org/drawingml/2006/main">
            <a:off x="685800" y="4495800"/>
            <a:ext cx="10820400" cy="895350"/>
          </a:xfrm>
          <a:prstGeom xmlns:a="http://schemas.openxmlformats.org/drawingml/2006/main" prst="roundRect">
            <a:avLst>
              <a:gd name="adj" fmla="val 19149"/>
            </a:avLst>
          </a:prstGeom>
          <a:solidFill xmlns:a="http://schemas.openxmlformats.org/drawingml/2006/main">
            <a:srgbClr val="0B253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5F03B226-5C58-4047-AE15-3A2E2A640094}"/>
              </a:ext>
            </a:extLst>
          </p:cNvPr>
          <p:cNvSpPr>
            <a:spLocks xmlns:a="http://schemas.openxmlformats.org/drawingml/2006/main" noGrp="1"/>
          </p:cNvSpPr>
          <p:nvPr/>
        </p:nvSpPr>
        <p:spPr>
          <a:xfrm xmlns:a="http://schemas.openxmlformats.org/drawingml/2006/main">
            <a:off x="1028700" y="4772025"/>
            <a:ext cx="1000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Khi một dữ liệu thay đổi, các vai trò liên quan nhìn thấy cùng một trạng thái đã được phân quyền.</a:t>
            </a:r>
          </a:p>
        </p:txBody>
      </p:sp>
      <p:sp>
        <p:nvSpPr>
          <p:cNvPr id="30" name="">
            <a:extLst xmlns:a="http://schemas.openxmlformats.org/drawingml/2006/main">
              <a:ext uri="{FF2B5EF4-FFF2-40B4-BE49-F238E27FC236}">
                <a16:creationId xmlns:a16="http://schemas.microsoft.com/office/drawing/2014/main" id="{40A035B3-39A3-4B73-89A1-A85DF293276B}"/>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31" name="">
            <a:extLst xmlns:a="http://schemas.openxmlformats.org/drawingml/2006/main">
              <a:ext uri="{FF2B5EF4-FFF2-40B4-BE49-F238E27FC236}">
                <a16:creationId xmlns:a16="http://schemas.microsoft.com/office/drawing/2014/main" id="{9EEB8640-0DB2-440C-9766-F0561C37D126}"/>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03</a:t>
            </a:r>
          </a:p>
        </p:txBody>
      </p:sp>
    </p:spTree>
    <p:extLst>
      <p:ext uri="{BB962C8B-B14F-4D97-AF65-F5344CB8AC3E}">
        <p14:creationId xmlns:p14="http://schemas.microsoft.com/office/powerpoint/2010/main" val="10164202"/>
      </p:ext>
    </p:extLst>
  </p:cSld>
</p:sld>
</file>

<file path=ppt/slides/slide4.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C1A7C12-02B8-4799-969B-75B763FF66AD}"/>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NĂNG LỰC SẢN PHẨM</a:t>
            </a:r>
          </a:p>
        </p:txBody>
      </p:sp>
      <p:sp>
        <p:nvSpPr>
          <p:cNvPr id="2" name="">
            <a:extLst xmlns:a="http://schemas.openxmlformats.org/drawingml/2006/main">
              <a:ext uri="{FF2B5EF4-FFF2-40B4-BE49-F238E27FC236}">
                <a16:creationId xmlns:a16="http://schemas.microsoft.com/office/drawing/2014/main" id="{7BA4D8BB-2F94-4DF8-BBBB-9D2E0B717ABA}"/>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Những gì ứng dụng đã sẵn sàng</a:t>
            </a:r>
          </a:p>
        </p:txBody>
      </p:sp>
      <p:sp>
        <p:nvSpPr>
          <p:cNvPr id="3" name="">
            <a:extLst xmlns:a="http://schemas.openxmlformats.org/drawingml/2006/main">
              <a:ext uri="{FF2B5EF4-FFF2-40B4-BE49-F238E27FC236}">
                <a16:creationId xmlns:a16="http://schemas.microsoft.com/office/drawing/2014/main" id="{333404DA-3A4D-486B-BAF8-6E9783074044}"/>
              </a:ext>
            </a:extLst>
          </p:cNvPr>
          <p:cNvSpPr>
            <a:spLocks xmlns:a="http://schemas.openxmlformats.org/drawingml/2006/main" noGrp="1"/>
          </p:cNvSpPr>
          <p:nvPr/>
        </p:nvSpPr>
        <p:spPr>
          <a:xfrm xmlns:a="http://schemas.openxmlformats.org/drawingml/2006/main">
            <a:off x="685800" y="1524000"/>
            <a:ext cx="24003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5E5"/>
            </a:solidFill>
          </a:ln>
        </p:spPr>
      </p:sp>
      <p:sp>
        <p:nvSpPr>
          <p:cNvPr id="4" name="">
            <a:extLst xmlns:a="http://schemas.openxmlformats.org/drawingml/2006/main">
              <a:ext uri="{FF2B5EF4-FFF2-40B4-BE49-F238E27FC236}">
                <a16:creationId xmlns:a16="http://schemas.microsoft.com/office/drawing/2014/main" id="{26EB9CB7-83E5-4E5B-9B6A-5772DCC6FE99}"/>
              </a:ext>
            </a:extLst>
          </p:cNvPr>
          <p:cNvSpPr>
            <a:spLocks xmlns:a="http://schemas.openxmlformats.org/drawingml/2006/main" noGrp="1"/>
          </p:cNvSpPr>
          <p:nvPr/>
        </p:nvSpPr>
        <p:spPr>
          <a:xfrm xmlns:a="http://schemas.openxmlformats.org/drawingml/2006/main">
            <a:off x="857250" y="1695450"/>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325" b="1">
                <a:solidFill>
                  <a:srgbClr val="0F8B8D"/>
                </a:solidFill>
                <a:latin typeface="Arial"/>
                <a:ea typeface="Arial"/>
                <a:cs typeface="Arial"/>
              </a:defRPr>
            </a:pPr>
            <a:r>
              <a:rPr sz="2325" b="1">
                <a:solidFill>
                  <a:srgbClr val="0F8B8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3A6392B6-D930-4448-A560-4C9DF25364D1}"/>
              </a:ext>
            </a:extLst>
          </p:cNvPr>
          <p:cNvSpPr>
            <a:spLocks xmlns:a="http://schemas.openxmlformats.org/drawingml/2006/main" noGrp="1"/>
          </p:cNvSpPr>
          <p:nvPr/>
        </p:nvSpPr>
        <p:spPr>
          <a:xfrm xmlns:a="http://schemas.openxmlformats.org/drawingml/2006/main">
            <a:off x="857250" y="21240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Dashboard nhân lực cho admin</a:t>
            </a:r>
          </a:p>
        </p:txBody>
      </p:sp>
      <p:sp>
        <p:nvSpPr>
          <p:cNvPr id="6" name="">
            <a:extLst xmlns:a="http://schemas.openxmlformats.org/drawingml/2006/main">
              <a:ext uri="{FF2B5EF4-FFF2-40B4-BE49-F238E27FC236}">
                <a16:creationId xmlns:a16="http://schemas.microsoft.com/office/drawing/2014/main" id="{331B671B-1D7E-4C18-8CA0-E7F3CF48E32E}"/>
              </a:ext>
            </a:extLst>
          </p:cNvPr>
          <p:cNvSpPr>
            <a:spLocks xmlns:a="http://schemas.openxmlformats.org/drawingml/2006/main" noGrp="1"/>
          </p:cNvSpPr>
          <p:nvPr/>
        </p:nvSpPr>
        <p:spPr>
          <a:xfrm xmlns:a="http://schemas.openxmlformats.org/drawingml/2006/main">
            <a:off x="3276600" y="1524000"/>
            <a:ext cx="24003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5E5"/>
            </a:solidFill>
          </a:ln>
        </p:spPr>
      </p:sp>
      <p:sp>
        <p:nvSpPr>
          <p:cNvPr id="7" name="">
            <a:extLst xmlns:a="http://schemas.openxmlformats.org/drawingml/2006/main">
              <a:ext uri="{FF2B5EF4-FFF2-40B4-BE49-F238E27FC236}">
                <a16:creationId xmlns:a16="http://schemas.microsoft.com/office/drawing/2014/main" id="{852F4724-6E49-4747-A48C-E80A520A38CB}"/>
              </a:ext>
            </a:extLst>
          </p:cNvPr>
          <p:cNvSpPr>
            <a:spLocks xmlns:a="http://schemas.openxmlformats.org/drawingml/2006/main" noGrp="1"/>
          </p:cNvSpPr>
          <p:nvPr/>
        </p:nvSpPr>
        <p:spPr>
          <a:xfrm xmlns:a="http://schemas.openxmlformats.org/drawingml/2006/main">
            <a:off x="3448050" y="1695450"/>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325" b="1">
                <a:solidFill>
                  <a:srgbClr val="38BDF8"/>
                </a:solidFill>
                <a:latin typeface="Arial"/>
                <a:ea typeface="Arial"/>
                <a:cs typeface="Arial"/>
              </a:defRPr>
            </a:pPr>
            <a:r>
              <a:rPr sz="2325" b="1">
                <a:solidFill>
                  <a:srgbClr val="38BDF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0E3ABF8-9368-4B20-AEE3-05B338251385}"/>
              </a:ext>
            </a:extLst>
          </p:cNvPr>
          <p:cNvSpPr>
            <a:spLocks xmlns:a="http://schemas.openxmlformats.org/drawingml/2006/main" noGrp="1"/>
          </p:cNvSpPr>
          <p:nvPr/>
        </p:nvSpPr>
        <p:spPr>
          <a:xfrm xmlns:a="http://schemas.openxmlformats.org/drawingml/2006/main">
            <a:off x="3448050" y="21240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Nhóm vai trò: admin và staff</a:t>
            </a:r>
          </a:p>
        </p:txBody>
      </p:sp>
      <p:sp>
        <p:nvSpPr>
          <p:cNvPr id="9" name="">
            <a:extLst xmlns:a="http://schemas.openxmlformats.org/drawingml/2006/main">
              <a:ext uri="{FF2B5EF4-FFF2-40B4-BE49-F238E27FC236}">
                <a16:creationId xmlns:a16="http://schemas.microsoft.com/office/drawing/2014/main" id="{93EF2563-F68C-46AF-A8BA-FA4BE7870CEC}"/>
              </a:ext>
            </a:extLst>
          </p:cNvPr>
          <p:cNvSpPr>
            <a:spLocks xmlns:a="http://schemas.openxmlformats.org/drawingml/2006/main" noGrp="1"/>
          </p:cNvSpPr>
          <p:nvPr/>
        </p:nvSpPr>
        <p:spPr>
          <a:xfrm xmlns:a="http://schemas.openxmlformats.org/drawingml/2006/main">
            <a:off x="5867400" y="1524000"/>
            <a:ext cx="24003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5E5"/>
            </a:solidFill>
          </a:ln>
        </p:spPr>
      </p:sp>
      <p:sp>
        <p:nvSpPr>
          <p:cNvPr id="10" name="">
            <a:extLst xmlns:a="http://schemas.openxmlformats.org/drawingml/2006/main">
              <a:ext uri="{FF2B5EF4-FFF2-40B4-BE49-F238E27FC236}">
                <a16:creationId xmlns:a16="http://schemas.microsoft.com/office/drawing/2014/main" id="{9EF991AB-77CC-4015-8FAA-4C6CDA332971}"/>
              </a:ext>
            </a:extLst>
          </p:cNvPr>
          <p:cNvSpPr>
            <a:spLocks xmlns:a="http://schemas.openxmlformats.org/drawingml/2006/main" noGrp="1"/>
          </p:cNvSpPr>
          <p:nvPr/>
        </p:nvSpPr>
        <p:spPr>
          <a:xfrm xmlns:a="http://schemas.openxmlformats.org/drawingml/2006/main">
            <a:off x="6038850" y="1695450"/>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325" b="1">
                <a:solidFill>
                  <a:srgbClr val="F59E0B"/>
                </a:solidFill>
                <a:latin typeface="Arial"/>
                <a:ea typeface="Arial"/>
                <a:cs typeface="Arial"/>
              </a:defRPr>
            </a:pPr>
            <a:r>
              <a:rPr sz="2325" b="1">
                <a:solidFill>
                  <a:srgbClr val="F59E0B"/>
                </a:solidFill>
                <a:latin typeface="Arial"/>
                <a:ea typeface="Arial"/>
                <a:cs typeface="Arial"/>
              </a:rPr>
              <a:t>Nhiều</a:t>
            </a:r>
          </a:p>
        </p:txBody>
      </p:sp>
      <p:sp>
        <p:nvSpPr>
          <p:cNvPr id="11" name="">
            <a:extLst xmlns:a="http://schemas.openxmlformats.org/drawingml/2006/main">
              <a:ext uri="{FF2B5EF4-FFF2-40B4-BE49-F238E27FC236}">
                <a16:creationId xmlns:a16="http://schemas.microsoft.com/office/drawing/2014/main" id="{85C07745-281C-47EA-A578-70C31C136C3C}"/>
              </a:ext>
            </a:extLst>
          </p:cNvPr>
          <p:cNvSpPr>
            <a:spLocks xmlns:a="http://schemas.openxmlformats.org/drawingml/2006/main" noGrp="1"/>
          </p:cNvSpPr>
          <p:nvPr/>
        </p:nvSpPr>
        <p:spPr>
          <a:xfrm xmlns:a="http://schemas.openxmlformats.org/drawingml/2006/main">
            <a:off x="6038850" y="21240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Nhà máy, nhà chính, đối tác</a:t>
            </a:r>
          </a:p>
        </p:txBody>
      </p:sp>
      <p:sp>
        <p:nvSpPr>
          <p:cNvPr id="12" name="">
            <a:extLst xmlns:a="http://schemas.openxmlformats.org/drawingml/2006/main">
              <a:ext uri="{FF2B5EF4-FFF2-40B4-BE49-F238E27FC236}">
                <a16:creationId xmlns:a16="http://schemas.microsoft.com/office/drawing/2014/main" id="{8B268E24-FC31-4E93-BE77-65F03A0C5EA0}"/>
              </a:ext>
            </a:extLst>
          </p:cNvPr>
          <p:cNvSpPr>
            <a:spLocks xmlns:a="http://schemas.openxmlformats.org/drawingml/2006/main" noGrp="1"/>
          </p:cNvSpPr>
          <p:nvPr/>
        </p:nvSpPr>
        <p:spPr>
          <a:xfrm xmlns:a="http://schemas.openxmlformats.org/drawingml/2006/main">
            <a:off x="8458200" y="1524000"/>
            <a:ext cx="30480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5E5"/>
            </a:solidFill>
          </a:ln>
        </p:spPr>
      </p:sp>
      <p:sp>
        <p:nvSpPr>
          <p:cNvPr id="13" name="">
            <a:extLst xmlns:a="http://schemas.openxmlformats.org/drawingml/2006/main">
              <a:ext uri="{FF2B5EF4-FFF2-40B4-BE49-F238E27FC236}">
                <a16:creationId xmlns:a16="http://schemas.microsoft.com/office/drawing/2014/main" id="{73F230EE-E54F-43C8-9AFE-BA832A8DD992}"/>
              </a:ext>
            </a:extLst>
          </p:cNvPr>
          <p:cNvSpPr>
            <a:spLocks xmlns:a="http://schemas.openxmlformats.org/drawingml/2006/main" noGrp="1"/>
          </p:cNvSpPr>
          <p:nvPr/>
        </p:nvSpPr>
        <p:spPr>
          <a:xfrm xmlns:a="http://schemas.openxmlformats.org/drawingml/2006/main">
            <a:off x="8629650" y="1695450"/>
            <a:ext cx="2705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325" b="1">
                <a:solidFill>
                  <a:srgbClr val="159A78"/>
                </a:solidFill>
                <a:latin typeface="Arial"/>
                <a:ea typeface="Arial"/>
                <a:cs typeface="Arial"/>
              </a:defRPr>
            </a:pPr>
            <a:r>
              <a:rPr sz="2325" b="1">
                <a:solidFill>
                  <a:srgbClr val="159A78"/>
                </a:solidFill>
                <a:latin typeface="Arial"/>
                <a:ea typeface="Arial"/>
                <a:cs typeface="Arial"/>
              </a:rPr>
              <a:t>500+</a:t>
            </a:r>
          </a:p>
        </p:txBody>
      </p:sp>
      <p:sp>
        <p:nvSpPr>
          <p:cNvPr id="14" name="">
            <a:extLst xmlns:a="http://schemas.openxmlformats.org/drawingml/2006/main">
              <a:ext uri="{FF2B5EF4-FFF2-40B4-BE49-F238E27FC236}">
                <a16:creationId xmlns:a16="http://schemas.microsoft.com/office/drawing/2014/main" id="{EAC33679-77EA-4D84-9308-CA5705FBA7A0}"/>
              </a:ext>
            </a:extLst>
          </p:cNvPr>
          <p:cNvSpPr>
            <a:spLocks xmlns:a="http://schemas.openxmlformats.org/drawingml/2006/main" noGrp="1"/>
          </p:cNvSpPr>
          <p:nvPr/>
        </p:nvSpPr>
        <p:spPr>
          <a:xfrm xmlns:a="http://schemas.openxmlformats.org/drawingml/2006/main">
            <a:off x="8629650" y="2124075"/>
            <a:ext cx="270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Bản ghi mỗi lần tải dữ liệu</a:t>
            </a:r>
          </a:p>
        </p:txBody>
      </p:sp>
      <p:sp>
        <p:nvSpPr>
          <p:cNvPr id="15" name="">
            <a:extLst xmlns:a="http://schemas.openxmlformats.org/drawingml/2006/main">
              <a:ext uri="{FF2B5EF4-FFF2-40B4-BE49-F238E27FC236}">
                <a16:creationId xmlns:a16="http://schemas.microsoft.com/office/drawing/2014/main" id="{FC23C9AF-72FC-4925-AD80-2AF5E1BA2002}"/>
              </a:ext>
            </a:extLst>
          </p:cNvPr>
          <p:cNvSpPr>
            <a:spLocks xmlns:a="http://schemas.openxmlformats.org/drawingml/2006/main" noGrp="1"/>
          </p:cNvSpPr>
          <p:nvPr/>
        </p:nvSpPr>
        <p:spPr>
          <a:xfrm xmlns:a="http://schemas.openxmlformats.org/drawingml/2006/main">
            <a:off x="685800" y="2952750"/>
            <a:ext cx="10820400" cy="533400"/>
          </a:xfrm>
          <a:prstGeom xmlns:a="http://schemas.openxmlformats.org/drawingml/2006/main" prst="roundRect">
            <a:avLst>
              <a:gd name="adj" fmla="val 21429"/>
            </a:avLst>
          </a:prstGeom>
          <a:solidFill xmlns:a="http://schemas.openxmlformats.org/drawingml/2006/main">
            <a:srgbClr val="EAF4F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8B76E74-3AA3-4413-8B49-4D4E337198A5}"/>
              </a:ext>
            </a:extLst>
          </p:cNvPr>
          <p:cNvSpPr>
            <a:spLocks xmlns:a="http://schemas.openxmlformats.org/drawingml/2006/main" noGrp="1"/>
          </p:cNvSpPr>
          <p:nvPr/>
        </p:nvSpPr>
        <p:spPr>
          <a:xfrm xmlns:a="http://schemas.openxmlformats.org/drawingml/2006/main">
            <a:off x="914400" y="31051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1">
                <a:solidFill>
                  <a:srgbClr val="0B2538"/>
                </a:solidFill>
                <a:latin typeface="Arial"/>
                <a:ea typeface="Arial"/>
                <a:cs typeface="Arial"/>
              </a:defRPr>
            </a:pPr>
            <a:r>
              <a:rPr sz="1350" b="1">
                <a:solidFill>
                  <a:srgbClr val="0B2538"/>
                </a:solidFill>
                <a:latin typeface="Arial"/>
                <a:ea typeface="Arial"/>
                <a:cs typeface="Arial"/>
              </a:rPr>
              <a:t>Theo dõi nhân lực</a:t>
            </a:r>
          </a:p>
        </p:txBody>
      </p:sp>
      <p:sp>
        <p:nvSpPr>
          <p:cNvPr id="17" name="">
            <a:extLst xmlns:a="http://schemas.openxmlformats.org/drawingml/2006/main">
              <a:ext uri="{FF2B5EF4-FFF2-40B4-BE49-F238E27FC236}">
                <a16:creationId xmlns:a16="http://schemas.microsoft.com/office/drawing/2014/main" id="{CB5F4834-E337-4D2D-8426-742543948675}"/>
              </a:ext>
            </a:extLst>
          </p:cNvPr>
          <p:cNvSpPr>
            <a:spLocks xmlns:a="http://schemas.openxmlformats.org/drawingml/2006/main" noGrp="1"/>
          </p:cNvSpPr>
          <p:nvPr/>
        </p:nvSpPr>
        <p:spPr>
          <a:xfrm xmlns:a="http://schemas.openxmlformats.org/drawingml/2006/main">
            <a:off x="3429000" y="3105150"/>
            <a:ext cx="776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Lọc theo nhà máy, người tuyển, đang làm/nghỉ; xem chi tiết từng NLĐ.</a:t>
            </a:r>
          </a:p>
        </p:txBody>
      </p:sp>
      <p:sp>
        <p:nvSpPr>
          <p:cNvPr id="18" name="">
            <a:extLst xmlns:a="http://schemas.openxmlformats.org/drawingml/2006/main">
              <a:ext uri="{FF2B5EF4-FFF2-40B4-BE49-F238E27FC236}">
                <a16:creationId xmlns:a16="http://schemas.microsoft.com/office/drawing/2014/main" id="{484C3042-7867-45E7-BDDD-B2C04D92A4ED}"/>
              </a:ext>
            </a:extLst>
          </p:cNvPr>
          <p:cNvSpPr>
            <a:spLocks xmlns:a="http://schemas.openxmlformats.org/drawingml/2006/main" noGrp="1"/>
          </p:cNvSpPr>
          <p:nvPr/>
        </p:nvSpPr>
        <p:spPr>
          <a:xfrm xmlns:a="http://schemas.openxmlformats.org/drawingml/2006/main">
            <a:off x="685800" y="3638550"/>
            <a:ext cx="108204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4EB0FB9-6775-4520-BA7B-8DF5C2626228}"/>
              </a:ext>
            </a:extLst>
          </p:cNvPr>
          <p:cNvSpPr>
            <a:spLocks xmlns:a="http://schemas.openxmlformats.org/drawingml/2006/main" noGrp="1"/>
          </p:cNvSpPr>
          <p:nvPr/>
        </p:nvSpPr>
        <p:spPr>
          <a:xfrm xmlns:a="http://schemas.openxmlformats.org/drawingml/2006/main">
            <a:off x="914400" y="37909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1">
                <a:solidFill>
                  <a:srgbClr val="0B2538"/>
                </a:solidFill>
                <a:latin typeface="Arial"/>
                <a:ea typeface="Arial"/>
                <a:cs typeface="Arial"/>
              </a:defRPr>
            </a:pPr>
            <a:r>
              <a:rPr sz="1350" b="1">
                <a:solidFill>
                  <a:srgbClr val="0B2538"/>
                </a:solidFill>
                <a:latin typeface="Arial"/>
                <a:ea typeface="Arial"/>
                <a:cs typeface="Arial"/>
              </a:rPr>
              <a:t>Nhập và xuất Excel</a:t>
            </a:r>
          </a:p>
        </p:txBody>
      </p:sp>
      <p:sp>
        <p:nvSpPr>
          <p:cNvPr id="20" name="">
            <a:extLst xmlns:a="http://schemas.openxmlformats.org/drawingml/2006/main">
              <a:ext uri="{FF2B5EF4-FFF2-40B4-BE49-F238E27FC236}">
                <a16:creationId xmlns:a16="http://schemas.microsoft.com/office/drawing/2014/main" id="{B643E682-FBEC-4231-9A87-028DE71D556D}"/>
              </a:ext>
            </a:extLst>
          </p:cNvPr>
          <p:cNvSpPr>
            <a:spLocks xmlns:a="http://schemas.openxmlformats.org/drawingml/2006/main" noGrp="1"/>
          </p:cNvSpPr>
          <p:nvPr/>
        </p:nvSpPr>
        <p:spPr>
          <a:xfrm xmlns:a="http://schemas.openxmlformats.org/drawingml/2006/main">
            <a:off x="3429000" y="3790950"/>
            <a:ext cx="776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Nhập mới/cập nhật theo UID; dòng lỗi được tách để sửa, không làm dừng dòng hợp lệ.</a:t>
            </a:r>
          </a:p>
        </p:txBody>
      </p:sp>
      <p:sp>
        <p:nvSpPr>
          <p:cNvPr id="21" name="">
            <a:extLst xmlns:a="http://schemas.openxmlformats.org/drawingml/2006/main">
              <a:ext uri="{FF2B5EF4-FFF2-40B4-BE49-F238E27FC236}">
                <a16:creationId xmlns:a16="http://schemas.microsoft.com/office/drawing/2014/main" id="{BF59C186-E775-4EE7-B24F-6C43F1DDE4B7}"/>
              </a:ext>
            </a:extLst>
          </p:cNvPr>
          <p:cNvSpPr>
            <a:spLocks xmlns:a="http://schemas.openxmlformats.org/drawingml/2006/main" noGrp="1"/>
          </p:cNvSpPr>
          <p:nvPr/>
        </p:nvSpPr>
        <p:spPr>
          <a:xfrm xmlns:a="http://schemas.openxmlformats.org/drawingml/2006/main">
            <a:off x="685800" y="4324350"/>
            <a:ext cx="10820400" cy="533400"/>
          </a:xfrm>
          <a:prstGeom xmlns:a="http://schemas.openxmlformats.org/drawingml/2006/main" prst="roundRect">
            <a:avLst>
              <a:gd name="adj" fmla="val 21429"/>
            </a:avLst>
          </a:prstGeom>
          <a:solidFill xmlns:a="http://schemas.openxmlformats.org/drawingml/2006/main">
            <a:srgbClr val="EAF4F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9F3ECA4-87C3-4306-B656-C6ECA2CF19FB}"/>
              </a:ext>
            </a:extLst>
          </p:cNvPr>
          <p:cNvSpPr>
            <a:spLocks xmlns:a="http://schemas.openxmlformats.org/drawingml/2006/main" noGrp="1"/>
          </p:cNvSpPr>
          <p:nvPr/>
        </p:nvSpPr>
        <p:spPr>
          <a:xfrm xmlns:a="http://schemas.openxmlformats.org/drawingml/2006/main">
            <a:off x="914400" y="44767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1">
                <a:solidFill>
                  <a:srgbClr val="0B2538"/>
                </a:solidFill>
                <a:latin typeface="Arial"/>
                <a:ea typeface="Arial"/>
                <a:cs typeface="Arial"/>
              </a:defRPr>
            </a:pPr>
            <a:r>
              <a:rPr sz="1350" b="1">
                <a:solidFill>
                  <a:srgbClr val="0B2538"/>
                </a:solidFill>
                <a:latin typeface="Arial"/>
                <a:ea typeface="Arial"/>
                <a:cs typeface="Arial"/>
              </a:rPr>
              <a:t>Tài chính vận hành</a:t>
            </a:r>
          </a:p>
        </p:txBody>
      </p:sp>
      <p:sp>
        <p:nvSpPr>
          <p:cNvPr id="23" name="">
            <a:extLst xmlns:a="http://schemas.openxmlformats.org/drawingml/2006/main">
              <a:ext uri="{FF2B5EF4-FFF2-40B4-BE49-F238E27FC236}">
                <a16:creationId xmlns:a16="http://schemas.microsoft.com/office/drawing/2014/main" id="{50B490AA-A9D5-419D-98A4-71FC0DC33770}"/>
              </a:ext>
            </a:extLst>
          </p:cNvPr>
          <p:cNvSpPr>
            <a:spLocks xmlns:a="http://schemas.openxmlformats.org/drawingml/2006/main" noGrp="1"/>
          </p:cNvSpPr>
          <p:nvPr/>
        </p:nvSpPr>
        <p:spPr>
          <a:xfrm xmlns:a="http://schemas.openxmlformats.org/drawingml/2006/main">
            <a:off x="3429000" y="4476750"/>
            <a:ext cx="776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Bảng công, bảng lương, ứng lương, giữ lương và quy trình phê duyệt.</a:t>
            </a:r>
          </a:p>
        </p:txBody>
      </p:sp>
      <p:sp>
        <p:nvSpPr>
          <p:cNvPr id="24" name="">
            <a:extLst xmlns:a="http://schemas.openxmlformats.org/drawingml/2006/main">
              <a:ext uri="{FF2B5EF4-FFF2-40B4-BE49-F238E27FC236}">
                <a16:creationId xmlns:a16="http://schemas.microsoft.com/office/drawing/2014/main" id="{58D94493-297D-48B3-813C-916BBF1C456B}"/>
              </a:ext>
            </a:extLst>
          </p:cNvPr>
          <p:cNvSpPr>
            <a:spLocks xmlns:a="http://schemas.openxmlformats.org/drawingml/2006/main" noGrp="1"/>
          </p:cNvSpPr>
          <p:nvPr/>
        </p:nvSpPr>
        <p:spPr>
          <a:xfrm xmlns:a="http://schemas.openxmlformats.org/drawingml/2006/main">
            <a:off x="685800" y="5010150"/>
            <a:ext cx="108204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09ABDF8-273F-42CA-B1D1-9020A5DC46C8}"/>
              </a:ext>
            </a:extLst>
          </p:cNvPr>
          <p:cNvSpPr>
            <a:spLocks xmlns:a="http://schemas.openxmlformats.org/drawingml/2006/main" noGrp="1"/>
          </p:cNvSpPr>
          <p:nvPr/>
        </p:nvSpPr>
        <p:spPr>
          <a:xfrm xmlns:a="http://schemas.openxmlformats.org/drawingml/2006/main">
            <a:off x="914400" y="51625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1">
                <a:solidFill>
                  <a:srgbClr val="0B2538"/>
                </a:solidFill>
                <a:latin typeface="Arial"/>
                <a:ea typeface="Arial"/>
                <a:cs typeface="Arial"/>
              </a:defRPr>
            </a:pPr>
            <a:r>
              <a:rPr sz="1350" b="1">
                <a:solidFill>
                  <a:srgbClr val="0B2538"/>
                </a:solidFill>
                <a:latin typeface="Arial"/>
                <a:ea typeface="Arial"/>
                <a:cs typeface="Arial"/>
              </a:rPr>
              <a:t>Kiểm soát dữ liệu</a:t>
            </a:r>
          </a:p>
        </p:txBody>
      </p:sp>
      <p:sp>
        <p:nvSpPr>
          <p:cNvPr id="26" name="">
            <a:extLst xmlns:a="http://schemas.openxmlformats.org/drawingml/2006/main">
              <a:ext uri="{FF2B5EF4-FFF2-40B4-BE49-F238E27FC236}">
                <a16:creationId xmlns:a16="http://schemas.microsoft.com/office/drawing/2014/main" id="{ED866C78-59F6-47FD-8EF7-951902171C49}"/>
              </a:ext>
            </a:extLst>
          </p:cNvPr>
          <p:cNvSpPr>
            <a:spLocks xmlns:a="http://schemas.openxmlformats.org/drawingml/2006/main" noGrp="1"/>
          </p:cNvSpPr>
          <p:nvPr/>
        </p:nvSpPr>
        <p:spPr>
          <a:xfrm xmlns:a="http://schemas.openxmlformats.org/drawingml/2006/main">
            <a:off x="3429000" y="5162550"/>
            <a:ext cx="776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Chặn lịch sử đang làm trùng, theo dõi CCCD phiên bản và lưu nhật ký thao tác.</a:t>
            </a:r>
          </a:p>
        </p:txBody>
      </p:sp>
      <p:sp>
        <p:nvSpPr>
          <p:cNvPr id="27" name="">
            <a:extLst xmlns:a="http://schemas.openxmlformats.org/drawingml/2006/main">
              <a:ext uri="{FF2B5EF4-FFF2-40B4-BE49-F238E27FC236}">
                <a16:creationId xmlns:a16="http://schemas.microsoft.com/office/drawing/2014/main" id="{8CD04438-1C8F-4907-AC79-B71EF8E1834C}"/>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28" name="">
            <a:extLst xmlns:a="http://schemas.openxmlformats.org/drawingml/2006/main">
              <a:ext uri="{FF2B5EF4-FFF2-40B4-BE49-F238E27FC236}">
                <a16:creationId xmlns:a16="http://schemas.microsoft.com/office/drawing/2014/main" id="{D1833555-6F7B-4F06-B4E3-16D9897529E9}"/>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04</a:t>
            </a:r>
          </a:p>
        </p:txBody>
      </p:sp>
    </p:spTree>
    <p:extLst>
      <p:ext uri="{BB962C8B-B14F-4D97-AF65-F5344CB8AC3E}">
        <p14:creationId xmlns:p14="http://schemas.microsoft.com/office/powerpoint/2010/main" val="623927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8A1E14-6A26-48F1-8D20-A5EF3619F6AC}"/>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GIÁ TRỊ TRỰC TIẾP</a:t>
            </a:r>
          </a:p>
        </p:txBody>
      </p:sp>
      <p:sp>
        <p:nvSpPr>
          <p:cNvPr id="2" name="">
            <a:extLst xmlns:a="http://schemas.openxmlformats.org/drawingml/2006/main">
              <a:ext uri="{FF2B5EF4-FFF2-40B4-BE49-F238E27FC236}">
                <a16:creationId xmlns:a16="http://schemas.microsoft.com/office/drawing/2014/main" id="{AEAFAE29-FA22-4396-8287-C2D9F0167371}"/>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5 điểm đau được khắc phục</a:t>
            </a:r>
          </a:p>
        </p:txBody>
      </p:sp>
      <p:graphicFrame>
        <p:nvGraphicFramePr>
          <p:cNvPr id="9" name=""/>
          <p:cNvGraphicFramePr/>
          <p:nvPr/>
        </p:nvGraphicFramePr>
        <p:xfrm>
          <a:off xmlns:a="http://schemas.openxmlformats.org/drawingml/2006/main" x="685800" y="1476375"/>
          <a:ext xmlns:a="http://schemas.openxmlformats.org/drawingml/2006/main" cx="10820400" cy="3952875"/>
        </p:xfrm>
        <a:graphic xmlns:a="http://schemas.openxmlformats.org/drawingml/2006/main">
          <a:graphicData uri="http://schemas.openxmlformats.org/drawingml/2006/table">
            <a:tbl>
              <a:tblPr firstRow="1" bandRow="1"/>
              <a:tblGrid>
                <a:gridCol w="2571750"/>
                <a:gridCol w="3905250"/>
                <a:gridCol w="4343400"/>
              </a:tblGrid>
              <a:tr h="658813">
                <a:tc>
                  <a:txBody>
                    <a:bodyPr/>
                    <a:lstStyle/>
                    <a:p>
                      <a:r>
                        <a:rPr sz="1200" b="1">
                          <a:solidFill>
                            <a:srgbClr val="FFFFFF"/>
                          </a:solidFill>
                          <a:latin typeface="Arial"/>
                          <a:ea typeface="Arial"/>
                          <a:cs typeface="Arial"/>
                        </a:rPr>
                        <a:t>Nỗi đau với Excel</a:t>
                      </a:r>
                    </a:p>
                  </a:txBody>
                  <a:tcPr marL="91440" marR="91440" marT="45720" marB="45720">
                    <a:solidFill>
                      <a:srgbClr val="0B2538"/>
                    </a:solidFill>
                  </a:tcPr>
                </a:tc>
                <a:tc>
                  <a:txBody>
                    <a:bodyPr/>
                    <a:lstStyle/>
                    <a:p>
                      <a:r>
                        <a:rPr sz="1200" b="1">
                          <a:solidFill>
                            <a:srgbClr val="FFFFFF"/>
                          </a:solidFill>
                          <a:latin typeface="Arial"/>
                          <a:ea typeface="Arial"/>
                          <a:cs typeface="Arial"/>
                        </a:rPr>
                        <a:t>Ảnh hưởng</a:t>
                      </a:r>
                    </a:p>
                  </a:txBody>
                  <a:tcPr marL="91440" marR="91440" marT="45720" marB="45720">
                    <a:solidFill>
                      <a:srgbClr val="0B2538"/>
                    </a:solidFill>
                  </a:tcPr>
                </a:tc>
                <a:tc>
                  <a:txBody>
                    <a:bodyPr/>
                    <a:lstStyle/>
                    <a:p>
                      <a:r>
                        <a:rPr sz="1200" b="1">
                          <a:solidFill>
                            <a:srgbClr val="FFFFFF"/>
                          </a:solidFill>
                          <a:latin typeface="Arial"/>
                          <a:ea typeface="Arial"/>
                          <a:cs typeface="Arial"/>
                        </a:rPr>
                        <a:t>Ứng dụng khắc phục bằng cách</a:t>
                      </a:r>
                    </a:p>
                  </a:txBody>
                  <a:tcPr marL="91440" marR="91440" marT="45720" marB="45720">
                    <a:solidFill>
                      <a:srgbClr val="0B2538"/>
                    </a:solidFill>
                  </a:tcPr>
                </a:tc>
              </a:tr>
              <a:tr h="658813">
                <a:tc>
                  <a:txBody>
                    <a:bodyPr/>
                    <a:lstStyle/>
                    <a:p>
                      <a:r>
                        <a:rPr sz="1125" b="1">
                          <a:solidFill>
                            <a:srgbClr val="12212B"/>
                          </a:solidFill>
                          <a:latin typeface="Arial"/>
                          <a:ea typeface="Arial"/>
                          <a:cs typeface="Arial"/>
                        </a:rPr>
                        <a:t>Dữ liệu phân tán</a:t>
                      </a:r>
                    </a:p>
                  </a:txBody>
                  <a:tcPr marL="91440" marR="91440" marT="45720" marB="45720">
                    <a:solidFill>
                      <a:srgbClr val="EEF7F7"/>
                    </a:solidFill>
                  </a:tcPr>
                </a:tc>
                <a:tc>
                  <a:txBody>
                    <a:bodyPr/>
                    <a:lstStyle/>
                    <a:p>
                      <a:r>
                        <a:rPr sz="1125" b="0">
                          <a:solidFill>
                            <a:srgbClr val="12212B"/>
                          </a:solidFill>
                          <a:latin typeface="Arial"/>
                          <a:ea typeface="Arial"/>
                          <a:cs typeface="Arial"/>
                        </a:rPr>
                        <a:t>Không xuyên suốt giữa tuyển dụng, nhà máy và lương</a:t>
                      </a:r>
                    </a:p>
                  </a:txBody>
                  <a:tcPr marL="91440" marR="91440" marT="45720" marB="45720"/>
                </a:tc>
                <a:tc>
                  <a:txBody>
                    <a:bodyPr/>
                    <a:lstStyle/>
                    <a:p>
                      <a:r>
                        <a:rPr sz="1125" b="0">
                          <a:solidFill>
                            <a:srgbClr val="12212B"/>
                          </a:solidFill>
                          <a:latin typeface="Arial"/>
                          <a:ea typeface="Arial"/>
                          <a:cs typeface="Arial"/>
                        </a:rPr>
                        <a:t>Gom hồ sơ, lịch sử và quan hệ vào một tenant công ty</a:t>
                      </a:r>
                    </a:p>
                  </a:txBody>
                  <a:tcPr marL="91440" marR="91440" marT="45720" marB="45720"/>
                </a:tc>
              </a:tr>
              <a:tr h="658813">
                <a:tc>
                  <a:txBody>
                    <a:bodyPr/>
                    <a:lstStyle/>
                    <a:p>
                      <a:r>
                        <a:rPr sz="1125" b="1">
                          <a:solidFill>
                            <a:srgbClr val="12212B"/>
                          </a:solidFill>
                          <a:latin typeface="Arial"/>
                          <a:ea typeface="Arial"/>
                          <a:cs typeface="Arial"/>
                        </a:rPr>
                        <a:t>Sai tên và mã</a:t>
                      </a:r>
                    </a:p>
                  </a:txBody>
                  <a:tcPr marL="91440" marR="91440" marT="45720" marB="45720">
                    <a:solidFill>
                      <a:srgbClr val="EEF7F7"/>
                    </a:solidFill>
                  </a:tcPr>
                </a:tc>
                <a:tc>
                  <a:txBody>
                    <a:bodyPr/>
                    <a:lstStyle/>
                    <a:p>
                      <a:r>
                        <a:rPr sz="1125" b="0">
                          <a:solidFill>
                            <a:srgbClr val="12212B"/>
                          </a:solidFill>
                          <a:latin typeface="Arial"/>
                          <a:ea typeface="Arial"/>
                          <a:cs typeface="Arial"/>
                        </a:rPr>
                        <a:t>Trùng hoặc nhầm người, khó truy ngược</a:t>
                      </a:r>
                    </a:p>
                  </a:txBody>
                  <a:tcPr marL="91440" marR="91440" marT="45720" marB="45720"/>
                </a:tc>
                <a:tc>
                  <a:txBody>
                    <a:bodyPr/>
                    <a:lstStyle/>
                    <a:p>
                      <a:r>
                        <a:rPr sz="1125" b="0">
                          <a:solidFill>
                            <a:srgbClr val="12212B"/>
                          </a:solidFill>
                          <a:latin typeface="Arial"/>
                          <a:ea typeface="Arial"/>
                          <a:cs typeface="Arial"/>
                        </a:rPr>
                        <a:t>UID, snapshot tại nhà máy và kiểm tra trùng lịch sử</a:t>
                      </a:r>
                    </a:p>
                  </a:txBody>
                  <a:tcPr marL="91440" marR="91440" marT="45720" marB="45720"/>
                </a:tc>
              </a:tr>
              <a:tr h="658813">
                <a:tc>
                  <a:txBody>
                    <a:bodyPr/>
                    <a:lstStyle/>
                    <a:p>
                      <a:r>
                        <a:rPr sz="1125" b="1">
                          <a:solidFill>
                            <a:srgbClr val="12212B"/>
                          </a:solidFill>
                          <a:latin typeface="Arial"/>
                          <a:ea typeface="Arial"/>
                          <a:cs typeface="Arial"/>
                        </a:rPr>
                        <a:t>Báo cáo chậm</a:t>
                      </a:r>
                    </a:p>
                  </a:txBody>
                  <a:tcPr marL="91440" marR="91440" marT="45720" marB="45720">
                    <a:solidFill>
                      <a:srgbClr val="EEF7F7"/>
                    </a:solidFill>
                  </a:tcPr>
                </a:tc>
                <a:tc>
                  <a:txBody>
                    <a:bodyPr/>
                    <a:lstStyle/>
                    <a:p>
                      <a:r>
                        <a:rPr sz="1125" b="0">
                          <a:solidFill>
                            <a:srgbClr val="12212B"/>
                          </a:solidFill>
                          <a:latin typeface="Arial"/>
                          <a:ea typeface="Arial"/>
                          <a:cs typeface="Arial"/>
                        </a:rPr>
                        <a:t>Giám đốc ra quyết định sau khi sự việc đã xảy ra</a:t>
                      </a:r>
                    </a:p>
                  </a:txBody>
                  <a:tcPr marL="91440" marR="91440" marT="45720" marB="45720"/>
                </a:tc>
                <a:tc>
                  <a:txBody>
                    <a:bodyPr/>
                    <a:lstStyle/>
                    <a:p>
                      <a:r>
                        <a:rPr sz="1125" b="0">
                          <a:solidFill>
                            <a:srgbClr val="12212B"/>
                          </a:solidFill>
                          <a:latin typeface="Arial"/>
                          <a:ea typeface="Arial"/>
                          <a:cs typeface="Arial"/>
                        </a:rPr>
                        <a:t>Dashboard lọc theo kỳ, nhà máy và người tuyển</a:t>
                      </a:r>
                    </a:p>
                  </a:txBody>
                  <a:tcPr marL="91440" marR="91440" marT="45720" marB="45720"/>
                </a:tc>
              </a:tr>
              <a:tr h="658813">
                <a:tc>
                  <a:txBody>
                    <a:bodyPr/>
                    <a:lstStyle/>
                    <a:p>
                      <a:r>
                        <a:rPr sz="1125" b="1">
                          <a:solidFill>
                            <a:srgbClr val="12212B"/>
                          </a:solidFill>
                          <a:latin typeface="Arial"/>
                          <a:ea typeface="Arial"/>
                          <a:cs typeface="Arial"/>
                        </a:rPr>
                        <a:t>Phê duyệt mơ hồ</a:t>
                      </a:r>
                    </a:p>
                  </a:txBody>
                  <a:tcPr marL="91440" marR="91440" marT="45720" marB="45720">
                    <a:solidFill>
                      <a:srgbClr val="EEF7F7"/>
                    </a:solidFill>
                  </a:tcPr>
                </a:tc>
                <a:tc>
                  <a:txBody>
                    <a:bodyPr/>
                    <a:lstStyle/>
                    <a:p>
                      <a:r>
                        <a:rPr sz="1125" b="0">
                          <a:solidFill>
                            <a:srgbClr val="12212B"/>
                          </a:solidFill>
                          <a:latin typeface="Arial"/>
                          <a:ea typeface="Arial"/>
                          <a:cs typeface="Arial"/>
                        </a:rPr>
                        <a:t>Không rõ ai chịu trách nhiệm</a:t>
                      </a:r>
                    </a:p>
                  </a:txBody>
                  <a:tcPr marL="91440" marR="91440" marT="45720" marB="45720"/>
                </a:tc>
                <a:tc>
                  <a:txBody>
                    <a:bodyPr/>
                    <a:lstStyle/>
                    <a:p>
                      <a:r>
                        <a:rPr sz="1125" b="0">
                          <a:solidFill>
                            <a:srgbClr val="12212B"/>
                          </a:solidFill>
                          <a:latin typeface="Arial"/>
                          <a:ea typeface="Arial"/>
                          <a:cs typeface="Arial"/>
                        </a:rPr>
                        <a:t>Trạng thái phê duyệt và nhật ký actor / thời điểm</a:t>
                      </a:r>
                    </a:p>
                  </a:txBody>
                  <a:tcPr marL="91440" marR="91440" marT="45720" marB="45720"/>
                </a:tc>
              </a:tr>
              <a:tr h="658813">
                <a:tc>
                  <a:txBody>
                    <a:bodyPr/>
                    <a:lstStyle/>
                    <a:p>
                      <a:r>
                        <a:rPr sz="1125" b="1">
                          <a:solidFill>
                            <a:srgbClr val="12212B"/>
                          </a:solidFill>
                          <a:latin typeface="Arial"/>
                          <a:ea typeface="Arial"/>
                          <a:cs typeface="Arial"/>
                        </a:rPr>
                        <a:t>Đối soát thủ công</a:t>
                      </a:r>
                    </a:p>
                  </a:txBody>
                  <a:tcPr marL="91440" marR="91440" marT="45720" marB="45720">
                    <a:solidFill>
                      <a:srgbClr val="EEF7F7"/>
                    </a:solidFill>
                  </a:tcPr>
                </a:tc>
                <a:tc>
                  <a:txBody>
                    <a:bodyPr/>
                    <a:lstStyle/>
                    <a:p>
                      <a:r>
                        <a:rPr sz="1125" b="0">
                          <a:solidFill>
                            <a:srgbClr val="12212B"/>
                          </a:solidFill>
                          <a:latin typeface="Arial"/>
                          <a:ea typeface="Arial"/>
                          <a:cs typeface="Arial"/>
                        </a:rPr>
                        <a:t>Tốn giờ tổng hợp, dễ bỏ sót</a:t>
                      </a:r>
                    </a:p>
                  </a:txBody>
                  <a:tcPr marL="91440" marR="91440" marT="45720" marB="45720"/>
                </a:tc>
                <a:tc>
                  <a:txBody>
                    <a:bodyPr/>
                    <a:lstStyle/>
                    <a:p>
                      <a:r>
                        <a:rPr sz="1125" b="0">
                          <a:solidFill>
                            <a:srgbClr val="12212B"/>
                          </a:solidFill>
                          <a:latin typeface="Arial"/>
                          <a:ea typeface="Arial"/>
                          <a:cs typeface="Arial"/>
                        </a:rPr>
                        <a:t>Nhập Excel có template, báo lỗi theo từng dòng, xuất lại file lỗi</a:t>
                      </a:r>
                    </a:p>
                  </a:txBody>
                  <a:tcPr marL="91440" marR="91440" marT="45720" marB="45720"/>
                </a:tc>
              </a:tr>
            </a:tbl>
          </a:graphicData>
        </a:graphic>
      </p:graphicFrame>
      <p:sp>
        <p:nvSpPr>
          <p:cNvPr id="4" name="">
            <a:extLst xmlns:a="http://schemas.openxmlformats.org/drawingml/2006/main">
              <a:ext uri="{FF2B5EF4-FFF2-40B4-BE49-F238E27FC236}">
                <a16:creationId xmlns:a16="http://schemas.microsoft.com/office/drawing/2014/main" id="{A69D0CDD-9A1E-4691-A771-3516F1C2DED7}"/>
              </a:ext>
            </a:extLst>
          </p:cNvPr>
          <p:cNvSpPr>
            <a:spLocks xmlns:a="http://schemas.openxmlformats.org/drawingml/2006/main" noGrp="1"/>
          </p:cNvSpPr>
          <p:nvPr/>
        </p:nvSpPr>
        <p:spPr>
          <a:xfrm xmlns:a="http://schemas.openxmlformats.org/drawingml/2006/main">
            <a:off x="685800" y="57435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75" b="1">
                <a:solidFill>
                  <a:srgbClr val="0F8B8D"/>
                </a:solidFill>
                <a:latin typeface="Arial"/>
                <a:ea typeface="Arial"/>
                <a:cs typeface="Arial"/>
              </a:defRPr>
            </a:pPr>
            <a:r>
              <a:rPr sz="1575" b="1">
                <a:solidFill>
                  <a:srgbClr val="0F8B8D"/>
                </a:solidFill>
                <a:latin typeface="Arial"/>
                <a:ea typeface="Arial"/>
                <a:cs typeface="Arial"/>
              </a:rPr>
              <a:t>Mục tiêu thương mại hóa: biến dữ liệu vận hành thành tài sản dùng chung, không phải file của riêng một người.</a:t>
            </a:r>
          </a:p>
        </p:txBody>
      </p:sp>
      <p:sp>
        <p:nvSpPr>
          <p:cNvPr id="5" name="">
            <a:extLst xmlns:a="http://schemas.openxmlformats.org/drawingml/2006/main">
              <a:ext uri="{FF2B5EF4-FFF2-40B4-BE49-F238E27FC236}">
                <a16:creationId xmlns:a16="http://schemas.microsoft.com/office/drawing/2014/main" id="{EA8F5D0C-0B82-4420-9889-5C9E01BD5123}"/>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6" name="">
            <a:extLst xmlns:a="http://schemas.openxmlformats.org/drawingml/2006/main">
              <a:ext uri="{FF2B5EF4-FFF2-40B4-BE49-F238E27FC236}">
                <a16:creationId xmlns:a16="http://schemas.microsoft.com/office/drawing/2014/main" id="{A5B67154-7E94-41F6-BE1B-552B6A5B2F6F}"/>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05</a:t>
            </a:r>
          </a:p>
        </p:txBody>
      </p:sp>
    </p:spTree>
    <p:extLst>
      <p:ext uri="{BB962C8B-B14F-4D97-AF65-F5344CB8AC3E}">
        <p14:creationId xmlns:p14="http://schemas.microsoft.com/office/powerpoint/2010/main" val="680624471"/>
      </p:ext>
    </p:extLst>
  </p:cSld>
</p:sld>
</file>

<file path=ppt/slides/slide6.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B5FDB5D-D2D0-419F-8971-CD56B786C82A}"/>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GÓC NHÌN ĐIỀU HÀNH</a:t>
            </a:r>
          </a:p>
        </p:txBody>
      </p:sp>
      <p:sp>
        <p:nvSpPr>
          <p:cNvPr id="2" name="">
            <a:extLst xmlns:a="http://schemas.openxmlformats.org/drawingml/2006/main">
              <a:ext uri="{FF2B5EF4-FFF2-40B4-BE49-F238E27FC236}">
                <a16:creationId xmlns:a16="http://schemas.microsoft.com/office/drawing/2014/main" id="{9AD2B6C5-CE1A-40D6-98D0-0F1F9D866B0F}"/>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Giám đốc thấy gì trong 5 phút?</a:t>
            </a:r>
          </a:p>
        </p:txBody>
      </p:sp>
      <p:sp>
        <p:nvSpPr>
          <p:cNvPr id="3" name="">
            <a:extLst xmlns:a="http://schemas.openxmlformats.org/drawingml/2006/main">
              <a:ext uri="{FF2B5EF4-FFF2-40B4-BE49-F238E27FC236}">
                <a16:creationId xmlns:a16="http://schemas.microsoft.com/office/drawing/2014/main" id="{F47814BC-A6FD-46AD-BFC9-B35F99B5802E}"/>
              </a:ext>
            </a:extLst>
          </p:cNvPr>
          <p:cNvSpPr>
            <a:spLocks xmlns:a="http://schemas.openxmlformats.org/drawingml/2006/main" noGrp="1"/>
          </p:cNvSpPr>
          <p:nvPr/>
        </p:nvSpPr>
        <p:spPr>
          <a:xfrm xmlns:a="http://schemas.openxmlformats.org/drawingml/2006/main">
            <a:off x="685800" y="1295400"/>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0">
                <a:solidFill>
                  <a:srgbClr val="52606D"/>
                </a:solidFill>
                <a:latin typeface="Arial"/>
                <a:ea typeface="Arial"/>
                <a:cs typeface="Arial"/>
              </a:defRPr>
            </a:pPr>
            <a:r>
              <a:rPr sz="1725" b="0">
                <a:solidFill>
                  <a:srgbClr val="52606D"/>
                </a:solidFill>
                <a:latin typeface="Arial"/>
                <a:ea typeface="Arial"/>
                <a:cs typeface="Arial"/>
              </a:rPr>
              <a:t>Một màn hình tốt phải trả lời được câu hỏi tiếp theo, không chỉ hiển thị thêm dữ liệu.</a:t>
            </a:r>
          </a:p>
        </p:txBody>
      </p:sp>
      <p:sp>
        <p:nvSpPr>
          <p:cNvPr id="4" name="">
            <a:extLst xmlns:a="http://schemas.openxmlformats.org/drawingml/2006/main">
              <a:ext uri="{FF2B5EF4-FFF2-40B4-BE49-F238E27FC236}">
                <a16:creationId xmlns:a16="http://schemas.microsoft.com/office/drawing/2014/main" id="{830B099B-CC38-4DE2-80F7-0553CF5D31B1}"/>
              </a:ext>
            </a:extLst>
          </p:cNvPr>
          <p:cNvSpPr>
            <a:spLocks xmlns:a="http://schemas.openxmlformats.org/drawingml/2006/main" noGrp="1"/>
          </p:cNvSpPr>
          <p:nvPr/>
        </p:nvSpPr>
        <p:spPr>
          <a:xfrm xmlns:a="http://schemas.openxmlformats.org/drawingml/2006/main">
            <a:off x="685800" y="2000250"/>
            <a:ext cx="4762500" cy="3429000"/>
          </a:xfrm>
          <a:prstGeom xmlns:a="http://schemas.openxmlformats.org/drawingml/2006/main" prst="roundRect">
            <a:avLst>
              <a:gd name="adj" fmla="val 5556"/>
            </a:avLst>
          </a:prstGeom>
          <a:solidFill xmlns:a="http://schemas.openxmlformats.org/drawingml/2006/main">
            <a:srgbClr val="0B253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F5E3FEF-824C-4066-971D-05B982F98E9E}"/>
              </a:ext>
            </a:extLst>
          </p:cNvPr>
          <p:cNvSpPr>
            <a:spLocks xmlns:a="http://schemas.openxmlformats.org/drawingml/2006/main" noGrp="1"/>
          </p:cNvSpPr>
          <p:nvPr/>
        </p:nvSpPr>
        <p:spPr>
          <a:xfrm xmlns:a="http://schemas.openxmlformats.org/drawingml/2006/main">
            <a:off x="1028700" y="2324100"/>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Câu hỏi điều hành</a:t>
            </a:r>
          </a:p>
        </p:txBody>
      </p:sp>
      <p:sp>
        <p:nvSpPr>
          <p:cNvPr id="6" name="">
            <a:extLst xmlns:a="http://schemas.openxmlformats.org/drawingml/2006/main">
              <a:ext uri="{FF2B5EF4-FFF2-40B4-BE49-F238E27FC236}">
                <a16:creationId xmlns:a16="http://schemas.microsoft.com/office/drawing/2014/main" id="{176FAB8C-0C66-46B8-BBF9-363734D55406}"/>
              </a:ext>
            </a:extLst>
          </p:cNvPr>
          <p:cNvSpPr>
            <a:spLocks xmlns:a="http://schemas.openxmlformats.org/drawingml/2006/main" noGrp="1"/>
          </p:cNvSpPr>
          <p:nvPr/>
        </p:nvSpPr>
        <p:spPr>
          <a:xfrm xmlns:a="http://schemas.openxmlformats.org/drawingml/2006/main">
            <a:off x="1028700" y="290512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6BA86D2-A4AE-4F4F-A672-C3CD72ACB31D}"/>
              </a:ext>
            </a:extLst>
          </p:cNvPr>
          <p:cNvSpPr>
            <a:spLocks xmlns:a="http://schemas.openxmlformats.org/drawingml/2006/main" noGrp="1"/>
          </p:cNvSpPr>
          <p:nvPr/>
        </p:nvSpPr>
        <p:spPr>
          <a:xfrm xmlns:a="http://schemas.openxmlformats.org/drawingml/2006/main">
            <a:off x="1257300" y="2838450"/>
            <a:ext cx="377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D9F5F3"/>
                </a:solidFill>
                <a:latin typeface="Arial"/>
                <a:ea typeface="Arial"/>
                <a:cs typeface="Arial"/>
              </a:defRPr>
            </a:pPr>
            <a:r>
              <a:rPr sz="1350" b="0">
                <a:solidFill>
                  <a:srgbClr val="D9F5F3"/>
                </a:solidFill>
                <a:latin typeface="Arial"/>
                <a:ea typeface="Arial"/>
                <a:cs typeface="Arial"/>
              </a:rPr>
              <a:t>Hôm nay có bao nhiêu NLĐ đang làm?</a:t>
            </a:r>
          </a:p>
        </p:txBody>
      </p:sp>
      <p:sp>
        <p:nvSpPr>
          <p:cNvPr id="8" name="">
            <a:extLst xmlns:a="http://schemas.openxmlformats.org/drawingml/2006/main">
              <a:ext uri="{FF2B5EF4-FFF2-40B4-BE49-F238E27FC236}">
                <a16:creationId xmlns:a16="http://schemas.microsoft.com/office/drawing/2014/main" id="{CAF24770-0CB2-4E74-8AB3-41612227EA42}"/>
              </a:ext>
            </a:extLst>
          </p:cNvPr>
          <p:cNvSpPr>
            <a:spLocks xmlns:a="http://schemas.openxmlformats.org/drawingml/2006/main" noGrp="1"/>
          </p:cNvSpPr>
          <p:nvPr/>
        </p:nvSpPr>
        <p:spPr>
          <a:xfrm xmlns:a="http://schemas.openxmlformats.org/drawingml/2006/main">
            <a:off x="1028700" y="345757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A58FBF0-8907-4E0E-B98C-475128F3B33D}"/>
              </a:ext>
            </a:extLst>
          </p:cNvPr>
          <p:cNvSpPr>
            <a:spLocks xmlns:a="http://schemas.openxmlformats.org/drawingml/2006/main" noGrp="1"/>
          </p:cNvSpPr>
          <p:nvPr/>
        </p:nvSpPr>
        <p:spPr>
          <a:xfrm xmlns:a="http://schemas.openxmlformats.org/drawingml/2006/main">
            <a:off x="1257300" y="3390900"/>
            <a:ext cx="377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D9F5F3"/>
                </a:solidFill>
                <a:latin typeface="Arial"/>
                <a:ea typeface="Arial"/>
                <a:cs typeface="Arial"/>
              </a:defRPr>
            </a:pPr>
            <a:r>
              <a:rPr sz="1350" b="0">
                <a:solidFill>
                  <a:srgbClr val="D9F5F3"/>
                </a:solidFill>
                <a:latin typeface="Arial"/>
                <a:ea typeface="Arial"/>
                <a:cs typeface="Arial"/>
              </a:rPr>
              <a:t>Nhà máy nào tuyển mới hoặc rời việc nhiều?</a:t>
            </a:r>
          </a:p>
        </p:txBody>
      </p:sp>
      <p:sp>
        <p:nvSpPr>
          <p:cNvPr id="10" name="">
            <a:extLst xmlns:a="http://schemas.openxmlformats.org/drawingml/2006/main">
              <a:ext uri="{FF2B5EF4-FFF2-40B4-BE49-F238E27FC236}">
                <a16:creationId xmlns:a16="http://schemas.microsoft.com/office/drawing/2014/main" id="{ED950559-632C-49CE-9EA7-8BE3868BE838}"/>
              </a:ext>
            </a:extLst>
          </p:cNvPr>
          <p:cNvSpPr>
            <a:spLocks xmlns:a="http://schemas.openxmlformats.org/drawingml/2006/main" noGrp="1"/>
          </p:cNvSpPr>
          <p:nvPr/>
        </p:nvSpPr>
        <p:spPr>
          <a:xfrm xmlns:a="http://schemas.openxmlformats.org/drawingml/2006/main">
            <a:off x="1028700" y="401002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C34579E-7C95-4E62-A1C4-C937946107B4}"/>
              </a:ext>
            </a:extLst>
          </p:cNvPr>
          <p:cNvSpPr>
            <a:spLocks xmlns:a="http://schemas.openxmlformats.org/drawingml/2006/main" noGrp="1"/>
          </p:cNvSpPr>
          <p:nvPr/>
        </p:nvSpPr>
        <p:spPr>
          <a:xfrm xmlns:a="http://schemas.openxmlformats.org/drawingml/2006/main">
            <a:off x="1257300" y="3943350"/>
            <a:ext cx="377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D9F5F3"/>
                </a:solidFill>
                <a:latin typeface="Arial"/>
                <a:ea typeface="Arial"/>
                <a:cs typeface="Arial"/>
              </a:defRPr>
            </a:pPr>
            <a:r>
              <a:rPr sz="1350" b="0">
                <a:solidFill>
                  <a:srgbClr val="D9F5F3"/>
                </a:solidFill>
                <a:latin typeface="Arial"/>
                <a:ea typeface="Arial"/>
                <a:cs typeface="Arial"/>
              </a:rPr>
              <a:t>Nguồn tuyển nội bộ hay đối tác hiệu quả hơn?</a:t>
            </a:r>
          </a:p>
        </p:txBody>
      </p:sp>
      <p:sp>
        <p:nvSpPr>
          <p:cNvPr id="12" name="">
            <a:extLst xmlns:a="http://schemas.openxmlformats.org/drawingml/2006/main">
              <a:ext uri="{FF2B5EF4-FFF2-40B4-BE49-F238E27FC236}">
                <a16:creationId xmlns:a16="http://schemas.microsoft.com/office/drawing/2014/main" id="{4DE3FEEB-0180-44E3-BDE9-175387D105AD}"/>
              </a:ext>
            </a:extLst>
          </p:cNvPr>
          <p:cNvSpPr>
            <a:spLocks xmlns:a="http://schemas.openxmlformats.org/drawingml/2006/main" noGrp="1"/>
          </p:cNvSpPr>
          <p:nvPr/>
        </p:nvSpPr>
        <p:spPr>
          <a:xfrm xmlns:a="http://schemas.openxmlformats.org/drawingml/2006/main">
            <a:off x="1028700" y="456247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B83B83F-43D4-408B-9F22-49976C8C3DF6}"/>
              </a:ext>
            </a:extLst>
          </p:cNvPr>
          <p:cNvSpPr>
            <a:spLocks xmlns:a="http://schemas.openxmlformats.org/drawingml/2006/main" noGrp="1"/>
          </p:cNvSpPr>
          <p:nvPr/>
        </p:nvSpPr>
        <p:spPr>
          <a:xfrm xmlns:a="http://schemas.openxmlformats.org/drawingml/2006/main">
            <a:off x="1257300" y="4495800"/>
            <a:ext cx="377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D9F5F3"/>
                </a:solidFill>
                <a:latin typeface="Arial"/>
                <a:ea typeface="Arial"/>
                <a:cs typeface="Arial"/>
              </a:defRPr>
            </a:pPr>
            <a:r>
              <a:rPr sz="1350" b="0">
                <a:solidFill>
                  <a:srgbClr val="D9F5F3"/>
                </a:solidFill>
                <a:latin typeface="Arial"/>
                <a:ea typeface="Arial"/>
                <a:cs typeface="Arial"/>
              </a:rPr>
              <a:t>Có yêu cầu nào đang chờ phê duyệt?</a:t>
            </a:r>
          </a:p>
        </p:txBody>
      </p:sp>
      <p:sp>
        <p:nvSpPr>
          <p:cNvPr id="14" name="">
            <a:extLst xmlns:a="http://schemas.openxmlformats.org/drawingml/2006/main">
              <a:ext uri="{FF2B5EF4-FFF2-40B4-BE49-F238E27FC236}">
                <a16:creationId xmlns:a16="http://schemas.microsoft.com/office/drawing/2014/main" id="{6A45B45E-00B8-466F-8C22-CEC6AAAF550D}"/>
              </a:ext>
            </a:extLst>
          </p:cNvPr>
          <p:cNvSpPr>
            <a:spLocks xmlns:a="http://schemas.openxmlformats.org/drawingml/2006/main" noGrp="1"/>
          </p:cNvSpPr>
          <p:nvPr/>
        </p:nvSpPr>
        <p:spPr>
          <a:xfrm xmlns:a="http://schemas.openxmlformats.org/drawingml/2006/main">
            <a:off x="5905500" y="2000250"/>
            <a:ext cx="5600700" cy="34290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D8E5E5"/>
            </a:solidFill>
          </a:ln>
        </p:spPr>
      </p:sp>
      <p:sp>
        <p:nvSpPr>
          <p:cNvPr id="15" name="">
            <a:extLst xmlns:a="http://schemas.openxmlformats.org/drawingml/2006/main">
              <a:ext uri="{FF2B5EF4-FFF2-40B4-BE49-F238E27FC236}">
                <a16:creationId xmlns:a16="http://schemas.microsoft.com/office/drawing/2014/main" id="{5E311C6F-4740-421B-A4C0-89E253301E9E}"/>
              </a:ext>
            </a:extLst>
          </p:cNvPr>
          <p:cNvSpPr>
            <a:spLocks xmlns:a="http://schemas.openxmlformats.org/drawingml/2006/main" noGrp="1"/>
          </p:cNvSpPr>
          <p:nvPr/>
        </p:nvSpPr>
        <p:spPr>
          <a:xfrm xmlns:a="http://schemas.openxmlformats.org/drawingml/2006/main">
            <a:off x="6248400" y="2324100"/>
            <a:ext cx="466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Câu trả lời từ hệ thống</a:t>
            </a:r>
          </a:p>
        </p:txBody>
      </p:sp>
      <p:sp>
        <p:nvSpPr>
          <p:cNvPr id="16" name="">
            <a:extLst xmlns:a="http://schemas.openxmlformats.org/drawingml/2006/main">
              <a:ext uri="{FF2B5EF4-FFF2-40B4-BE49-F238E27FC236}">
                <a16:creationId xmlns:a16="http://schemas.microsoft.com/office/drawing/2014/main" id="{89BA1E09-D105-4167-9918-912DD44940DB}"/>
              </a:ext>
            </a:extLst>
          </p:cNvPr>
          <p:cNvSpPr>
            <a:spLocks xmlns:a="http://schemas.openxmlformats.org/drawingml/2006/main" noGrp="1"/>
          </p:cNvSpPr>
          <p:nvPr/>
        </p:nvSpPr>
        <p:spPr>
          <a:xfrm xmlns:a="http://schemas.openxmlformats.org/drawingml/2006/main">
            <a:off x="6248400" y="2867025"/>
            <a:ext cx="95250" cy="3238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FE4F8C7-8238-4176-8F43-61E2ABCDCA3D}"/>
              </a:ext>
            </a:extLst>
          </p:cNvPr>
          <p:cNvSpPr>
            <a:spLocks xmlns:a="http://schemas.openxmlformats.org/drawingml/2006/main" noGrp="1"/>
          </p:cNvSpPr>
          <p:nvPr/>
        </p:nvSpPr>
        <p:spPr>
          <a:xfrm xmlns:a="http://schemas.openxmlformats.org/drawingml/2006/main">
            <a:off x="6477000" y="2838450"/>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1">
                <a:solidFill>
                  <a:srgbClr val="12212B"/>
                </a:solidFill>
                <a:latin typeface="Arial"/>
                <a:ea typeface="Arial"/>
                <a:cs typeface="Arial"/>
              </a:defRPr>
            </a:pPr>
            <a:r>
              <a:rPr sz="1275" b="1">
                <a:solidFill>
                  <a:srgbClr val="12212B"/>
                </a:solidFill>
                <a:latin typeface="Arial"/>
                <a:ea typeface="Arial"/>
                <a:cs typeface="Arial"/>
              </a:rPr>
              <a:t>Trạng thái làm việc</a:t>
            </a:r>
          </a:p>
        </p:txBody>
      </p:sp>
      <p:sp>
        <p:nvSpPr>
          <p:cNvPr id="18" name="">
            <a:extLst xmlns:a="http://schemas.openxmlformats.org/drawingml/2006/main">
              <a:ext uri="{FF2B5EF4-FFF2-40B4-BE49-F238E27FC236}">
                <a16:creationId xmlns:a16="http://schemas.microsoft.com/office/drawing/2014/main" id="{B6776B7F-C35D-4E94-88A1-21938A537DB3}"/>
              </a:ext>
            </a:extLst>
          </p:cNvPr>
          <p:cNvSpPr>
            <a:spLocks xmlns:a="http://schemas.openxmlformats.org/drawingml/2006/main" noGrp="1"/>
          </p:cNvSpPr>
          <p:nvPr/>
        </p:nvSpPr>
        <p:spPr>
          <a:xfrm xmlns:a="http://schemas.openxmlformats.org/drawingml/2006/main">
            <a:off x="8343900" y="283845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Đang làm / đã nghỉ / theo kỳ</a:t>
            </a:r>
          </a:p>
        </p:txBody>
      </p:sp>
      <p:sp>
        <p:nvSpPr>
          <p:cNvPr id="19" name="">
            <a:extLst xmlns:a="http://schemas.openxmlformats.org/drawingml/2006/main">
              <a:ext uri="{FF2B5EF4-FFF2-40B4-BE49-F238E27FC236}">
                <a16:creationId xmlns:a16="http://schemas.microsoft.com/office/drawing/2014/main" id="{1B2B3EB4-330A-4807-A2A4-3A0E32863871}"/>
              </a:ext>
            </a:extLst>
          </p:cNvPr>
          <p:cNvSpPr>
            <a:spLocks xmlns:a="http://schemas.openxmlformats.org/drawingml/2006/main" noGrp="1"/>
          </p:cNvSpPr>
          <p:nvPr/>
        </p:nvSpPr>
        <p:spPr>
          <a:xfrm xmlns:a="http://schemas.openxmlformats.org/drawingml/2006/main">
            <a:off x="6248400" y="3390900"/>
            <a:ext cx="95250" cy="3238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137776A-0B23-4448-B154-40AB4468D13F}"/>
              </a:ext>
            </a:extLst>
          </p:cNvPr>
          <p:cNvSpPr>
            <a:spLocks xmlns:a="http://schemas.openxmlformats.org/drawingml/2006/main" noGrp="1"/>
          </p:cNvSpPr>
          <p:nvPr/>
        </p:nvSpPr>
        <p:spPr>
          <a:xfrm xmlns:a="http://schemas.openxmlformats.org/drawingml/2006/main">
            <a:off x="6477000" y="3362325"/>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1">
                <a:solidFill>
                  <a:srgbClr val="12212B"/>
                </a:solidFill>
                <a:latin typeface="Arial"/>
                <a:ea typeface="Arial"/>
                <a:cs typeface="Arial"/>
              </a:defRPr>
            </a:pPr>
            <a:r>
              <a:rPr sz="1275" b="1">
                <a:solidFill>
                  <a:srgbClr val="12212B"/>
                </a:solidFill>
                <a:latin typeface="Arial"/>
                <a:ea typeface="Arial"/>
                <a:cs typeface="Arial"/>
              </a:rPr>
              <a:t>Hiệu quả tuyển</a:t>
            </a:r>
          </a:p>
        </p:txBody>
      </p:sp>
      <p:sp>
        <p:nvSpPr>
          <p:cNvPr id="21" name="">
            <a:extLst xmlns:a="http://schemas.openxmlformats.org/drawingml/2006/main">
              <a:ext uri="{FF2B5EF4-FFF2-40B4-BE49-F238E27FC236}">
                <a16:creationId xmlns:a16="http://schemas.microsoft.com/office/drawing/2014/main" id="{7ABD1542-C0CF-4D6C-A2B0-10F08A4E8B43}"/>
              </a:ext>
            </a:extLst>
          </p:cNvPr>
          <p:cNvSpPr>
            <a:spLocks xmlns:a="http://schemas.openxmlformats.org/drawingml/2006/main" noGrp="1"/>
          </p:cNvSpPr>
          <p:nvPr/>
        </p:nvSpPr>
        <p:spPr>
          <a:xfrm xmlns:a="http://schemas.openxmlformats.org/drawingml/2006/main">
            <a:off x="8343900" y="3362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Theo nhà máy và người tuyển</a:t>
            </a:r>
          </a:p>
        </p:txBody>
      </p:sp>
      <p:sp>
        <p:nvSpPr>
          <p:cNvPr id="22" name="">
            <a:extLst xmlns:a="http://schemas.openxmlformats.org/drawingml/2006/main">
              <a:ext uri="{FF2B5EF4-FFF2-40B4-BE49-F238E27FC236}">
                <a16:creationId xmlns:a16="http://schemas.microsoft.com/office/drawing/2014/main" id="{A60E4EBA-7642-4EDB-8A14-F5376A674D5B}"/>
              </a:ext>
            </a:extLst>
          </p:cNvPr>
          <p:cNvSpPr>
            <a:spLocks xmlns:a="http://schemas.openxmlformats.org/drawingml/2006/main" noGrp="1"/>
          </p:cNvSpPr>
          <p:nvPr/>
        </p:nvSpPr>
        <p:spPr>
          <a:xfrm xmlns:a="http://schemas.openxmlformats.org/drawingml/2006/main">
            <a:off x="6248400" y="3914775"/>
            <a:ext cx="95250" cy="323850"/>
          </a:xfrm>
          <a:prstGeom xmlns:a="http://schemas.openxmlformats.org/drawingml/2006/main" prst="roundRect">
            <a:avLst>
              <a:gd name="adj" fmla="val 50000"/>
            </a:avLst>
          </a:prstGeom>
          <a:solidFill xmlns:a="http://schemas.openxmlformats.org/drawingml/2006/main">
            <a:srgbClr val="159A7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53AA51F-6F4D-40AB-9805-ACFAA84B0D4E}"/>
              </a:ext>
            </a:extLst>
          </p:cNvPr>
          <p:cNvSpPr>
            <a:spLocks xmlns:a="http://schemas.openxmlformats.org/drawingml/2006/main" noGrp="1"/>
          </p:cNvSpPr>
          <p:nvPr/>
        </p:nvSpPr>
        <p:spPr>
          <a:xfrm xmlns:a="http://schemas.openxmlformats.org/drawingml/2006/main">
            <a:off x="6477000" y="3886200"/>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1">
                <a:solidFill>
                  <a:srgbClr val="12212B"/>
                </a:solidFill>
                <a:latin typeface="Arial"/>
                <a:ea typeface="Arial"/>
                <a:cs typeface="Arial"/>
              </a:defRPr>
            </a:pPr>
            <a:r>
              <a:rPr sz="1275" b="1">
                <a:solidFill>
                  <a:srgbClr val="12212B"/>
                </a:solidFill>
                <a:latin typeface="Arial"/>
                <a:ea typeface="Arial"/>
                <a:cs typeface="Arial"/>
              </a:rPr>
              <a:t>Công lương</a:t>
            </a:r>
          </a:p>
        </p:txBody>
      </p:sp>
      <p:sp>
        <p:nvSpPr>
          <p:cNvPr id="24" name="">
            <a:extLst xmlns:a="http://schemas.openxmlformats.org/drawingml/2006/main">
              <a:ext uri="{FF2B5EF4-FFF2-40B4-BE49-F238E27FC236}">
                <a16:creationId xmlns:a16="http://schemas.microsoft.com/office/drawing/2014/main" id="{FB20C82D-FFF6-4F68-BE9A-42229E2F913B}"/>
              </a:ext>
            </a:extLst>
          </p:cNvPr>
          <p:cNvSpPr>
            <a:spLocks xmlns:a="http://schemas.openxmlformats.org/drawingml/2006/main" noGrp="1"/>
          </p:cNvSpPr>
          <p:nvPr/>
        </p:nvSpPr>
        <p:spPr>
          <a:xfrm xmlns:a="http://schemas.openxmlformats.org/drawingml/2006/main">
            <a:off x="8343900" y="38862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Bảng công, lương, số giờ</a:t>
            </a:r>
          </a:p>
        </p:txBody>
      </p:sp>
      <p:sp>
        <p:nvSpPr>
          <p:cNvPr id="25" name="">
            <a:extLst xmlns:a="http://schemas.openxmlformats.org/drawingml/2006/main">
              <a:ext uri="{FF2B5EF4-FFF2-40B4-BE49-F238E27FC236}">
                <a16:creationId xmlns:a16="http://schemas.microsoft.com/office/drawing/2014/main" id="{67436287-7701-4FEC-BA0F-D76E539372FE}"/>
              </a:ext>
            </a:extLst>
          </p:cNvPr>
          <p:cNvSpPr>
            <a:spLocks xmlns:a="http://schemas.openxmlformats.org/drawingml/2006/main" noGrp="1"/>
          </p:cNvSpPr>
          <p:nvPr/>
        </p:nvSpPr>
        <p:spPr>
          <a:xfrm xmlns:a="http://schemas.openxmlformats.org/drawingml/2006/main">
            <a:off x="6248400" y="4438650"/>
            <a:ext cx="95250" cy="323850"/>
          </a:xfrm>
          <a:prstGeom xmlns:a="http://schemas.openxmlformats.org/drawingml/2006/main" prst="roundRect">
            <a:avLst>
              <a:gd name="adj" fmla="val 50000"/>
            </a:avLst>
          </a:prstGeom>
          <a:solidFill xmlns:a="http://schemas.openxmlformats.org/drawingml/2006/main">
            <a:srgbClr val="D85C5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CEB52DC-41FA-45FD-9859-B86741B62CD4}"/>
              </a:ext>
            </a:extLst>
          </p:cNvPr>
          <p:cNvSpPr>
            <a:spLocks xmlns:a="http://schemas.openxmlformats.org/drawingml/2006/main" noGrp="1"/>
          </p:cNvSpPr>
          <p:nvPr/>
        </p:nvSpPr>
        <p:spPr>
          <a:xfrm xmlns:a="http://schemas.openxmlformats.org/drawingml/2006/main">
            <a:off x="6477000" y="4410075"/>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1">
                <a:solidFill>
                  <a:srgbClr val="12212B"/>
                </a:solidFill>
                <a:latin typeface="Arial"/>
                <a:ea typeface="Arial"/>
                <a:cs typeface="Arial"/>
              </a:defRPr>
            </a:pPr>
            <a:r>
              <a:rPr sz="1275" b="1">
                <a:solidFill>
                  <a:srgbClr val="12212B"/>
                </a:solidFill>
                <a:latin typeface="Arial"/>
                <a:ea typeface="Arial"/>
                <a:cs typeface="Arial"/>
              </a:rPr>
              <a:t>Kiểm soát</a:t>
            </a:r>
          </a:p>
        </p:txBody>
      </p:sp>
      <p:sp>
        <p:nvSpPr>
          <p:cNvPr id="27" name="">
            <a:extLst xmlns:a="http://schemas.openxmlformats.org/drawingml/2006/main">
              <a:ext uri="{FF2B5EF4-FFF2-40B4-BE49-F238E27FC236}">
                <a16:creationId xmlns:a16="http://schemas.microsoft.com/office/drawing/2014/main" id="{23776C52-61F0-4004-B81A-CA8745DCF172}"/>
              </a:ext>
            </a:extLst>
          </p:cNvPr>
          <p:cNvSpPr>
            <a:spLocks xmlns:a="http://schemas.openxmlformats.org/drawingml/2006/main" noGrp="1"/>
          </p:cNvSpPr>
          <p:nvPr/>
        </p:nvSpPr>
        <p:spPr>
          <a:xfrm xmlns:a="http://schemas.openxmlformats.org/drawingml/2006/main">
            <a:off x="8343900" y="441007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Phê duyệt, log, cảnh báo trùng</a:t>
            </a:r>
          </a:p>
        </p:txBody>
      </p:sp>
      <p:sp>
        <p:nvSpPr>
          <p:cNvPr id="28" name="">
            <a:extLst xmlns:a="http://schemas.openxmlformats.org/drawingml/2006/main">
              <a:ext uri="{FF2B5EF4-FFF2-40B4-BE49-F238E27FC236}">
                <a16:creationId xmlns:a16="http://schemas.microsoft.com/office/drawing/2014/main" id="{EDA93075-CEF6-4E9E-9539-470E01B0E852}"/>
              </a:ext>
            </a:extLst>
          </p:cNvPr>
          <p:cNvSpPr>
            <a:spLocks xmlns:a="http://schemas.openxmlformats.org/drawingml/2006/main" noGrp="1"/>
          </p:cNvSpPr>
          <p:nvPr/>
        </p:nvSpPr>
        <p:spPr>
          <a:xfrm xmlns:a="http://schemas.openxmlformats.org/drawingml/2006/main">
            <a:off x="685800" y="58293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0F8B8D"/>
                </a:solidFill>
                <a:latin typeface="Arial"/>
                <a:ea typeface="Arial"/>
                <a:cs typeface="Arial"/>
              </a:defRPr>
            </a:pPr>
            <a:r>
              <a:rPr sz="1500" b="1">
                <a:solidFill>
                  <a:srgbClr val="0F8B8D"/>
                </a:solidFill>
                <a:latin typeface="Arial"/>
                <a:ea typeface="Arial"/>
                <a:cs typeface="Arial"/>
              </a:rPr>
              <a:t>Kết quả: cuộc họp bắt đầu từ quyết định, không bắt đầu từ việc hỏi “file nào mới nhất?”.</a:t>
            </a:r>
          </a:p>
        </p:txBody>
      </p:sp>
      <p:sp>
        <p:nvSpPr>
          <p:cNvPr id="29" name="">
            <a:extLst xmlns:a="http://schemas.openxmlformats.org/drawingml/2006/main">
              <a:ext uri="{FF2B5EF4-FFF2-40B4-BE49-F238E27FC236}">
                <a16:creationId xmlns:a16="http://schemas.microsoft.com/office/drawing/2014/main" id="{06C2B7F0-FCC1-4928-8F92-D0256286ACAB}"/>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30" name="">
            <a:extLst xmlns:a="http://schemas.openxmlformats.org/drawingml/2006/main">
              <a:ext uri="{FF2B5EF4-FFF2-40B4-BE49-F238E27FC236}">
                <a16:creationId xmlns:a16="http://schemas.microsoft.com/office/drawing/2014/main" id="{4D34B143-B531-4E14-9633-0203D5B52FD8}"/>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06</a:t>
            </a:r>
          </a:p>
        </p:txBody>
      </p:sp>
    </p:spTree>
    <p:extLst>
      <p:ext uri="{BB962C8B-B14F-4D97-AF65-F5344CB8AC3E}">
        <p14:creationId xmlns:p14="http://schemas.microsoft.com/office/powerpoint/2010/main" val="7854935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8B16BD-9C6E-40C2-BA10-5B44AB8B6DF1}"/>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ĐỀ XUẤT GIÁ NIÊM YẾT</a:t>
            </a:r>
          </a:p>
        </p:txBody>
      </p:sp>
      <p:sp>
        <p:nvSpPr>
          <p:cNvPr id="2" name="">
            <a:extLst xmlns:a="http://schemas.openxmlformats.org/drawingml/2006/main">
              <a:ext uri="{FF2B5EF4-FFF2-40B4-BE49-F238E27FC236}">
                <a16:creationId xmlns:a16="http://schemas.microsoft.com/office/drawing/2014/main" id="{944F5FB6-7F17-483A-A7C8-546CF85C98E0}"/>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Gói giá theo quy mô vận hành</a:t>
            </a:r>
          </a:p>
        </p:txBody>
      </p:sp>
      <p:sp>
        <p:nvSpPr>
          <p:cNvPr id="3" name="">
            <a:extLst xmlns:a="http://schemas.openxmlformats.org/drawingml/2006/main">
              <a:ext uri="{FF2B5EF4-FFF2-40B4-BE49-F238E27FC236}">
                <a16:creationId xmlns:a16="http://schemas.microsoft.com/office/drawing/2014/main" id="{2CE05F32-83A3-44B7-95BF-5A4A54FBFBCF}"/>
              </a:ext>
            </a:extLst>
          </p:cNvPr>
          <p:cNvSpPr>
            <a:spLocks xmlns:a="http://schemas.openxmlformats.org/drawingml/2006/main" noGrp="1"/>
          </p:cNvSpPr>
          <p:nvPr/>
        </p:nvSpPr>
        <p:spPr>
          <a:xfrm xmlns:a="http://schemas.openxmlformats.org/drawingml/2006/main">
            <a:off x="685800" y="12954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0">
                <a:solidFill>
                  <a:srgbClr val="52606D"/>
                </a:solidFill>
                <a:latin typeface="Arial"/>
                <a:ea typeface="Arial"/>
                <a:cs typeface="Arial"/>
              </a:defRPr>
            </a:pPr>
            <a:r>
              <a:rPr sz="1575" b="0">
                <a:solidFill>
                  <a:srgbClr val="52606D"/>
                </a:solidFill>
                <a:latin typeface="Arial"/>
                <a:ea typeface="Arial"/>
                <a:cs typeface="Arial"/>
              </a:rPr>
              <a:t>Đơn vị tính theo dữ liệu cần quản lý. Mỗi gói gồm một công ty, hỗ trợ onboarding từ xa và cập nhật tính năng nền tảng.</a:t>
            </a:r>
          </a:p>
        </p:txBody>
      </p:sp>
      <p:graphicFrame>
        <p:nvGraphicFramePr>
          <p:cNvPr id="12" name=""/>
          <p:cNvGraphicFramePr/>
          <p:nvPr/>
        </p:nvGraphicFramePr>
        <p:xfrm>
          <a:off xmlns:a="http://schemas.openxmlformats.org/drawingml/2006/main" x="685800" y="1943100"/>
          <a:ext xmlns:a="http://schemas.openxmlformats.org/drawingml/2006/main" cx="10820400" cy="3048000"/>
        </p:xfrm>
        <a:graphic xmlns:a="http://schemas.openxmlformats.org/drawingml/2006/main">
          <a:graphicData uri="http://schemas.openxmlformats.org/drawingml/2006/table">
            <a:tbl>
              <a:tblPr firstRow="1" bandRow="1"/>
              <a:tblGrid>
                <a:gridCol w="2266950"/>
                <a:gridCol w="1714500"/>
                <a:gridCol w="2266950"/>
                <a:gridCol w="2266950"/>
                <a:gridCol w="2305050"/>
              </a:tblGrid>
              <a:tr h="609600">
                <a:tc>
                  <a:txBody>
                    <a:bodyPr/>
                    <a:lstStyle/>
                    <a:p>
                      <a:pPr algn="l"/>
                      <a:r>
                        <a:rPr sz="1125" b="1">
                          <a:solidFill>
                            <a:srgbClr val="FFFFFF"/>
                          </a:solidFill>
                          <a:latin typeface="Arial"/>
                          <a:ea typeface="Arial"/>
                          <a:cs typeface="Arial"/>
                        </a:rPr>
                        <a:t>Gói</a:t>
                      </a:r>
                    </a:p>
                  </a:txBody>
                  <a:tcPr marL="91440" marR="91440" marT="45720" marB="45720">
                    <a:solidFill>
                      <a:srgbClr val="0B2538"/>
                    </a:solidFill>
                  </a:tcPr>
                </a:tc>
                <a:tc>
                  <a:txBody>
                    <a:bodyPr/>
                    <a:lstStyle/>
                    <a:p>
                      <a:pPr algn="ctr"/>
                      <a:r>
                        <a:rPr sz="1125" b="1">
                          <a:solidFill>
                            <a:srgbClr val="FFFFFF"/>
                          </a:solidFill>
                          <a:latin typeface="Arial"/>
                          <a:ea typeface="Arial"/>
                          <a:cs typeface="Arial"/>
                        </a:rPr>
                        <a:t>Giá / tháng</a:t>
                      </a:r>
                    </a:p>
                  </a:txBody>
                  <a:tcPr marL="91440" marR="91440" marT="45720" marB="45720">
                    <a:solidFill>
                      <a:srgbClr val="0B2538"/>
                    </a:solidFill>
                  </a:tcPr>
                </a:tc>
                <a:tc>
                  <a:txBody>
                    <a:bodyPr/>
                    <a:lstStyle/>
                    <a:p>
                      <a:pPr algn="ctr"/>
                      <a:r>
                        <a:rPr sz="1125" b="1">
                          <a:solidFill>
                            <a:srgbClr val="FFFFFF"/>
                          </a:solidFill>
                          <a:latin typeface="Arial"/>
                          <a:ea typeface="Arial"/>
                          <a:cs typeface="Arial"/>
                        </a:rPr>
                        <a:t>Lịch sử đi làm</a:t>
                      </a:r>
                    </a:p>
                  </a:txBody>
                  <a:tcPr marL="91440" marR="91440" marT="45720" marB="45720">
                    <a:solidFill>
                      <a:srgbClr val="0B2538"/>
                    </a:solidFill>
                  </a:tcPr>
                </a:tc>
                <a:tc>
                  <a:txBody>
                    <a:bodyPr/>
                    <a:lstStyle/>
                    <a:p>
                      <a:pPr algn="ctr"/>
                      <a:r>
                        <a:rPr sz="1125" b="1">
                          <a:solidFill>
                            <a:srgbClr val="FFFFFF"/>
                          </a:solidFill>
                          <a:latin typeface="Arial"/>
                          <a:ea typeface="Arial"/>
                          <a:cs typeface="Arial"/>
                        </a:rPr>
                        <a:t>Tài khoản staff</a:t>
                      </a:r>
                    </a:p>
                  </a:txBody>
                  <a:tcPr marL="91440" marR="91440" marT="45720" marB="45720">
                    <a:solidFill>
                      <a:srgbClr val="0B2538"/>
                    </a:solidFill>
                  </a:tcPr>
                </a:tc>
                <a:tc>
                  <a:txBody>
                    <a:bodyPr/>
                    <a:lstStyle/>
                    <a:p>
                      <a:pPr algn="ctr"/>
                      <a:r>
                        <a:rPr sz="1125" b="1">
                          <a:solidFill>
                            <a:srgbClr val="FFFFFF"/>
                          </a:solidFill>
                          <a:latin typeface="Arial"/>
                          <a:ea typeface="Arial"/>
                          <a:cs typeface="Arial"/>
                        </a:rPr>
                        <a:t>Đối tác / Nhà máy</a:t>
                      </a:r>
                    </a:p>
                  </a:txBody>
                  <a:tcPr marL="91440" marR="91440" marT="45720" marB="45720">
                    <a:solidFill>
                      <a:srgbClr val="0B2538"/>
                    </a:solidFill>
                  </a:tcPr>
                </a:tc>
              </a:tr>
              <a:tr h="609600">
                <a:tc>
                  <a:txBody>
                    <a:bodyPr/>
                    <a:lstStyle/>
                    <a:p>
                      <a:pPr algn="l"/>
                      <a:r>
                        <a:rPr sz="1350" b="1">
                          <a:solidFill>
                            <a:srgbClr val="12212B"/>
                          </a:solidFill>
                          <a:latin typeface="Arial"/>
                          <a:ea typeface="Arial"/>
                          <a:cs typeface="Arial"/>
                        </a:rPr>
                        <a:t>Khởi động</a:t>
                      </a:r>
                    </a:p>
                  </a:txBody>
                  <a:tcPr marL="91440" marR="91440" marT="45720" marB="45720"/>
                </a:tc>
                <a:tc>
                  <a:txBody>
                    <a:bodyPr/>
                    <a:lstStyle/>
                    <a:p>
                      <a:pPr algn="ctr"/>
                      <a:r>
                        <a:rPr sz="1350" b="1">
                          <a:solidFill>
                            <a:srgbClr val="12212B"/>
                          </a:solidFill>
                          <a:latin typeface="Arial"/>
                          <a:ea typeface="Arial"/>
                          <a:cs typeface="Arial"/>
                        </a:rPr>
                        <a:t>500.000 đ</a:t>
                      </a:r>
                    </a:p>
                  </a:txBody>
                  <a:tcPr marL="91440" marR="91440" marT="45720" marB="45720">
                    <a:solidFill>
                      <a:srgbClr val="FFF5DF"/>
                    </a:solidFill>
                  </a:tcPr>
                </a:tc>
                <a:tc>
                  <a:txBody>
                    <a:bodyPr/>
                    <a:lstStyle/>
                    <a:p>
                      <a:pPr algn="ctr"/>
                      <a:r>
                        <a:rPr sz="1350" b="0">
                          <a:solidFill>
                            <a:srgbClr val="12212B"/>
                          </a:solidFill>
                          <a:latin typeface="Arial"/>
                          <a:ea typeface="Arial"/>
                          <a:cs typeface="Arial"/>
                        </a:rPr>
                        <a:t>500</a:t>
                      </a:r>
                    </a:p>
                  </a:txBody>
                  <a:tcPr marL="91440" marR="91440" marT="45720" marB="45720"/>
                </a:tc>
                <a:tc>
                  <a:txBody>
                    <a:bodyPr/>
                    <a:lstStyle/>
                    <a:p>
                      <a:pPr algn="ctr"/>
                      <a:r>
                        <a:rPr sz="1350" b="0">
                          <a:solidFill>
                            <a:srgbClr val="12212B"/>
                          </a:solidFill>
                          <a:latin typeface="Arial"/>
                          <a:ea typeface="Arial"/>
                          <a:cs typeface="Arial"/>
                        </a:rPr>
                        <a:t>5</a:t>
                      </a:r>
                    </a:p>
                  </a:txBody>
                  <a:tcPr marL="91440" marR="91440" marT="45720" marB="45720"/>
                </a:tc>
                <a:tc>
                  <a:txBody>
                    <a:bodyPr/>
                    <a:lstStyle/>
                    <a:p>
                      <a:pPr algn="ctr"/>
                      <a:r>
                        <a:rPr sz="1350" b="0">
                          <a:solidFill>
                            <a:srgbClr val="12212B"/>
                          </a:solidFill>
                          <a:latin typeface="Arial"/>
                          <a:ea typeface="Arial"/>
                          <a:cs typeface="Arial"/>
                        </a:rPr>
                        <a:t>5 / 5</a:t>
                      </a:r>
                    </a:p>
                  </a:txBody>
                  <a:tcPr marL="91440" marR="91440" marT="45720" marB="45720"/>
                </a:tc>
              </a:tr>
              <a:tr h="609600">
                <a:tc>
                  <a:txBody>
                    <a:bodyPr/>
                    <a:lstStyle/>
                    <a:p>
                      <a:pPr algn="l"/>
                      <a:r>
                        <a:rPr sz="1350" b="1">
                          <a:solidFill>
                            <a:srgbClr val="12212B"/>
                          </a:solidFill>
                          <a:latin typeface="Arial"/>
                          <a:ea typeface="Arial"/>
                          <a:cs typeface="Arial"/>
                        </a:rPr>
                        <a:t>Tăng trưởng</a:t>
                      </a:r>
                    </a:p>
                  </a:txBody>
                  <a:tcPr marL="91440" marR="91440" marT="45720" marB="45720"/>
                </a:tc>
                <a:tc>
                  <a:txBody>
                    <a:bodyPr/>
                    <a:lstStyle/>
                    <a:p>
                      <a:pPr algn="ctr"/>
                      <a:r>
                        <a:rPr sz="1350" b="1">
                          <a:solidFill>
                            <a:srgbClr val="12212B"/>
                          </a:solidFill>
                          <a:latin typeface="Arial"/>
                          <a:ea typeface="Arial"/>
                          <a:cs typeface="Arial"/>
                        </a:rPr>
                        <a:t>1.500.000 đ</a:t>
                      </a:r>
                    </a:p>
                  </a:txBody>
                  <a:tcPr marL="91440" marR="91440" marT="45720" marB="45720"/>
                </a:tc>
                <a:tc>
                  <a:txBody>
                    <a:bodyPr/>
                    <a:lstStyle/>
                    <a:p>
                      <a:pPr algn="ctr"/>
                      <a:r>
                        <a:rPr sz="1350" b="0">
                          <a:solidFill>
                            <a:srgbClr val="12212B"/>
                          </a:solidFill>
                          <a:latin typeface="Arial"/>
                          <a:ea typeface="Arial"/>
                          <a:cs typeface="Arial"/>
                        </a:rPr>
                        <a:t>2.000</a:t>
                      </a:r>
                    </a:p>
                  </a:txBody>
                  <a:tcPr marL="91440" marR="91440" marT="45720" marB="45720"/>
                </a:tc>
                <a:tc>
                  <a:txBody>
                    <a:bodyPr/>
                    <a:lstStyle/>
                    <a:p>
                      <a:pPr algn="ctr"/>
                      <a:r>
                        <a:rPr sz="1350" b="0">
                          <a:solidFill>
                            <a:srgbClr val="12212B"/>
                          </a:solidFill>
                          <a:latin typeface="Arial"/>
                          <a:ea typeface="Arial"/>
                          <a:cs typeface="Arial"/>
                        </a:rPr>
                        <a:t>15</a:t>
                      </a:r>
                    </a:p>
                  </a:txBody>
                  <a:tcPr marL="91440" marR="91440" marT="45720" marB="45720"/>
                </a:tc>
                <a:tc>
                  <a:txBody>
                    <a:bodyPr/>
                    <a:lstStyle/>
                    <a:p>
                      <a:pPr algn="ctr"/>
                      <a:r>
                        <a:rPr sz="1350" b="0">
                          <a:solidFill>
                            <a:srgbClr val="12212B"/>
                          </a:solidFill>
                          <a:latin typeface="Arial"/>
                          <a:ea typeface="Arial"/>
                          <a:cs typeface="Arial"/>
                        </a:rPr>
                        <a:t>15 / 15</a:t>
                      </a:r>
                    </a:p>
                  </a:txBody>
                  <a:tcPr marL="91440" marR="91440" marT="45720" marB="45720"/>
                </a:tc>
              </a:tr>
              <a:tr h="609600">
                <a:tc>
                  <a:txBody>
                    <a:bodyPr/>
                    <a:lstStyle/>
                    <a:p>
                      <a:pPr algn="l"/>
                      <a:r>
                        <a:rPr sz="1350" b="1">
                          <a:solidFill>
                            <a:srgbClr val="12212B"/>
                          </a:solidFill>
                          <a:latin typeface="Arial"/>
                          <a:ea typeface="Arial"/>
                          <a:cs typeface="Arial"/>
                        </a:rPr>
                        <a:t>Chuyên nghiệp</a:t>
                      </a:r>
                    </a:p>
                  </a:txBody>
                  <a:tcPr marL="91440" marR="91440" marT="45720" marB="45720"/>
                </a:tc>
                <a:tc>
                  <a:txBody>
                    <a:bodyPr/>
                    <a:lstStyle/>
                    <a:p>
                      <a:pPr algn="ctr"/>
                      <a:r>
                        <a:rPr sz="1350" b="1">
                          <a:solidFill>
                            <a:srgbClr val="12212B"/>
                          </a:solidFill>
                          <a:latin typeface="Arial"/>
                          <a:ea typeface="Arial"/>
                          <a:cs typeface="Arial"/>
                        </a:rPr>
                        <a:t>3.000.000 đ</a:t>
                      </a:r>
                    </a:p>
                  </a:txBody>
                  <a:tcPr marL="91440" marR="91440" marT="45720" marB="45720">
                    <a:solidFill>
                      <a:srgbClr val="EAF8F3"/>
                    </a:solidFill>
                  </a:tcPr>
                </a:tc>
                <a:tc>
                  <a:txBody>
                    <a:bodyPr/>
                    <a:lstStyle/>
                    <a:p>
                      <a:pPr algn="ctr"/>
                      <a:r>
                        <a:rPr sz="1350" b="0">
                          <a:solidFill>
                            <a:srgbClr val="12212B"/>
                          </a:solidFill>
                          <a:latin typeface="Arial"/>
                          <a:ea typeface="Arial"/>
                          <a:cs typeface="Arial"/>
                        </a:rPr>
                        <a:t>5.000</a:t>
                      </a:r>
                    </a:p>
                  </a:txBody>
                  <a:tcPr marL="91440" marR="91440" marT="45720" marB="45720"/>
                </a:tc>
                <a:tc>
                  <a:txBody>
                    <a:bodyPr/>
                    <a:lstStyle/>
                    <a:p>
                      <a:pPr algn="ctr"/>
                      <a:r>
                        <a:rPr sz="1350" b="0">
                          <a:solidFill>
                            <a:srgbClr val="12212B"/>
                          </a:solidFill>
                          <a:latin typeface="Arial"/>
                          <a:ea typeface="Arial"/>
                          <a:cs typeface="Arial"/>
                        </a:rPr>
                        <a:t>30</a:t>
                      </a:r>
                    </a:p>
                  </a:txBody>
                  <a:tcPr marL="91440" marR="91440" marT="45720" marB="45720"/>
                </a:tc>
                <a:tc>
                  <a:txBody>
                    <a:bodyPr/>
                    <a:lstStyle/>
                    <a:p>
                      <a:pPr algn="ctr"/>
                      <a:r>
                        <a:rPr sz="1350" b="0">
                          <a:solidFill>
                            <a:srgbClr val="12212B"/>
                          </a:solidFill>
                          <a:latin typeface="Arial"/>
                          <a:ea typeface="Arial"/>
                          <a:cs typeface="Arial"/>
                        </a:rPr>
                        <a:t>30 / 30</a:t>
                      </a:r>
                    </a:p>
                  </a:txBody>
                  <a:tcPr marL="91440" marR="91440" marT="45720" marB="45720"/>
                </a:tc>
              </a:tr>
              <a:tr h="609600">
                <a:tc>
                  <a:txBody>
                    <a:bodyPr/>
                    <a:lstStyle/>
                    <a:p>
                      <a:pPr algn="l"/>
                      <a:r>
                        <a:rPr sz="1350" b="1">
                          <a:solidFill>
                            <a:srgbClr val="12212B"/>
                          </a:solidFill>
                          <a:latin typeface="Arial"/>
                          <a:ea typeface="Arial"/>
                          <a:cs typeface="Arial"/>
                        </a:rPr>
                        <a:t>Doanh nghiệp</a:t>
                      </a:r>
                    </a:p>
                  </a:txBody>
                  <a:tcPr marL="91440" marR="91440" marT="45720" marB="45720"/>
                </a:tc>
                <a:tc>
                  <a:txBody>
                    <a:bodyPr/>
                    <a:lstStyle/>
                    <a:p>
                      <a:pPr algn="ctr"/>
                      <a:r>
                        <a:rPr sz="1350" b="1">
                          <a:solidFill>
                            <a:srgbClr val="12212B"/>
                          </a:solidFill>
                          <a:latin typeface="Arial"/>
                          <a:ea typeface="Arial"/>
                          <a:cs typeface="Arial"/>
                        </a:rPr>
                        <a:t>5.000.000 đ</a:t>
                      </a:r>
                    </a:p>
                  </a:txBody>
                  <a:tcPr marL="91440" marR="91440" marT="45720" marB="45720"/>
                </a:tc>
                <a:tc>
                  <a:txBody>
                    <a:bodyPr/>
                    <a:lstStyle/>
                    <a:p>
                      <a:pPr algn="ctr"/>
                      <a:r>
                        <a:rPr sz="1350" b="0">
                          <a:solidFill>
                            <a:srgbClr val="12212B"/>
                          </a:solidFill>
                          <a:latin typeface="Arial"/>
                          <a:ea typeface="Arial"/>
                          <a:cs typeface="Arial"/>
                        </a:rPr>
                        <a:t>15.000</a:t>
                      </a:r>
                    </a:p>
                  </a:txBody>
                  <a:tcPr marL="91440" marR="91440" marT="45720" marB="45720"/>
                </a:tc>
                <a:tc>
                  <a:txBody>
                    <a:bodyPr/>
                    <a:lstStyle/>
                    <a:p>
                      <a:pPr algn="ctr"/>
                      <a:r>
                        <a:rPr sz="1350" b="0">
                          <a:solidFill>
                            <a:srgbClr val="12212B"/>
                          </a:solidFill>
                          <a:latin typeface="Arial"/>
                          <a:ea typeface="Arial"/>
                          <a:cs typeface="Arial"/>
                        </a:rPr>
                        <a:t>100</a:t>
                      </a:r>
                    </a:p>
                  </a:txBody>
                  <a:tcPr marL="91440" marR="91440" marT="45720" marB="45720"/>
                </a:tc>
                <a:tc>
                  <a:txBody>
                    <a:bodyPr/>
                    <a:lstStyle/>
                    <a:p>
                      <a:pPr algn="ctr"/>
                      <a:r>
                        <a:rPr sz="1350" b="0">
                          <a:solidFill>
                            <a:srgbClr val="12212B"/>
                          </a:solidFill>
                          <a:latin typeface="Arial"/>
                          <a:ea typeface="Arial"/>
                          <a:cs typeface="Arial"/>
                        </a:rPr>
                        <a:t>100 / 100</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2C7F9097-2E33-49BA-B27B-6B6D49131A60}"/>
              </a:ext>
            </a:extLst>
          </p:cNvPr>
          <p:cNvSpPr>
            <a:spLocks xmlns:a="http://schemas.openxmlformats.org/drawingml/2006/main" noGrp="1"/>
          </p:cNvSpPr>
          <p:nvPr/>
        </p:nvSpPr>
        <p:spPr>
          <a:xfrm xmlns:a="http://schemas.openxmlformats.org/drawingml/2006/main">
            <a:off x="685800" y="5314950"/>
            <a:ext cx="10820400" cy="552450"/>
          </a:xfrm>
          <a:prstGeom xmlns:a="http://schemas.openxmlformats.org/drawingml/2006/main" prst="roundRect">
            <a:avLst>
              <a:gd name="adj" fmla="val 24138"/>
            </a:avLst>
          </a:prstGeom>
          <a:solidFill xmlns:a="http://schemas.openxmlformats.org/drawingml/2006/main">
            <a:srgbClr val="FFF5D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1778C09-6066-4F89-B253-CA79632C9090}"/>
              </a:ext>
            </a:extLst>
          </p:cNvPr>
          <p:cNvSpPr>
            <a:spLocks xmlns:a="http://schemas.openxmlformats.org/drawingml/2006/main" noGrp="1"/>
          </p:cNvSpPr>
          <p:nvPr/>
        </p:nvSpPr>
        <p:spPr>
          <a:xfrm xmlns:a="http://schemas.openxmlformats.org/drawingml/2006/main">
            <a:off x="895350" y="5476875"/>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350" b="1">
                <a:solidFill>
                  <a:srgbClr val="805A00"/>
                </a:solidFill>
                <a:latin typeface="Arial"/>
                <a:ea typeface="Arial"/>
                <a:cs typeface="Arial"/>
              </a:defRPr>
            </a:pPr>
            <a:r>
              <a:rPr sz="1350" b="1">
                <a:solidFill>
                  <a:srgbClr val="805A00"/>
                </a:solidFill>
                <a:latin typeface="Arial"/>
                <a:ea typeface="Arial"/>
                <a:cs typeface="Arial"/>
              </a:rPr>
              <a:t>Nguyên tắc mở rộng: nâng gói khi chạm 80% hạn mức; không cần thay đổi quy trình hay di chuyển dữ liệu.</a:t>
            </a:r>
          </a:p>
        </p:txBody>
      </p:sp>
      <p:sp>
        <p:nvSpPr>
          <p:cNvPr id="7" name="">
            <a:extLst xmlns:a="http://schemas.openxmlformats.org/drawingml/2006/main">
              <a:ext uri="{FF2B5EF4-FFF2-40B4-BE49-F238E27FC236}">
                <a16:creationId xmlns:a16="http://schemas.microsoft.com/office/drawing/2014/main" id="{4A625120-CB69-4FC8-BA13-E6591AF2C7C6}"/>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giá tham khảo | Có thể điều chỉnh theo số công ty, SLA và nhu cầu tích hợp</a:t>
            </a:r>
          </a:p>
        </p:txBody>
      </p:sp>
      <p:sp>
        <p:nvSpPr>
          <p:cNvPr id="8" name="">
            <a:extLst xmlns:a="http://schemas.openxmlformats.org/drawingml/2006/main">
              <a:ext uri="{FF2B5EF4-FFF2-40B4-BE49-F238E27FC236}">
                <a16:creationId xmlns:a16="http://schemas.microsoft.com/office/drawing/2014/main" id="{A4A24DFA-B6F5-4AF7-A31D-10F2916FB0F8}"/>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07</a:t>
            </a:r>
          </a:p>
        </p:txBody>
      </p:sp>
    </p:spTree>
    <p:extLst>
      <p:ext uri="{BB962C8B-B14F-4D97-AF65-F5344CB8AC3E}">
        <p14:creationId xmlns:p14="http://schemas.microsoft.com/office/powerpoint/2010/main" val="1291553172"/>
      </p:ext>
    </p:extLst>
  </p:cSld>
</p:sld>
</file>

<file path=ppt/slides/slide8.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491D177-D857-499E-B307-F6F81B92FF44}"/>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LẬP LUẬN GIÁ TRỊ</a:t>
            </a:r>
          </a:p>
        </p:txBody>
      </p:sp>
      <p:sp>
        <p:nvSpPr>
          <p:cNvPr id="2" name="">
            <a:extLst xmlns:a="http://schemas.openxmlformats.org/drawingml/2006/main">
              <a:ext uri="{FF2B5EF4-FFF2-40B4-BE49-F238E27FC236}">
                <a16:creationId xmlns:a16="http://schemas.microsoft.com/office/drawing/2014/main" id="{F2851D10-AEE7-4270-A37E-6C29120E8EC9}"/>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Chi phí nhỏ hơn một lỗi vận hành</a:t>
            </a:r>
          </a:p>
        </p:txBody>
      </p:sp>
      <p:sp>
        <p:nvSpPr>
          <p:cNvPr id="3" name="">
            <a:extLst xmlns:a="http://schemas.openxmlformats.org/drawingml/2006/main">
              <a:ext uri="{FF2B5EF4-FFF2-40B4-BE49-F238E27FC236}">
                <a16:creationId xmlns:a16="http://schemas.microsoft.com/office/drawing/2014/main" id="{5E25D8F3-75DF-48CE-9837-1FF371DFAF03}"/>
              </a:ext>
            </a:extLst>
          </p:cNvPr>
          <p:cNvSpPr>
            <a:spLocks xmlns:a="http://schemas.openxmlformats.org/drawingml/2006/main" noGrp="1"/>
          </p:cNvSpPr>
          <p:nvPr/>
        </p:nvSpPr>
        <p:spPr>
          <a:xfrm xmlns:a="http://schemas.openxmlformats.org/drawingml/2006/main">
            <a:off x="685800" y="12954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650" b="0">
                <a:solidFill>
                  <a:srgbClr val="52606D"/>
                </a:solidFill>
                <a:latin typeface="Arial"/>
                <a:ea typeface="Arial"/>
                <a:cs typeface="Arial"/>
              </a:defRPr>
            </a:pPr>
            <a:r>
              <a:rPr sz="1650" b="0">
                <a:solidFill>
                  <a:srgbClr val="52606D"/>
                </a:solidFill>
                <a:latin typeface="Arial"/>
                <a:ea typeface="Arial"/>
                <a:cs typeface="Arial"/>
              </a:rPr>
              <a:t>Mô hình minh họa: chỉ cần giảm một phần thời gian đối soát mỗi tháng, gói phần mềm đã có thể tự hoàn vốn.</a:t>
            </a:r>
          </a:p>
        </p:txBody>
      </p:sp>
      <p:graphicFrame>
        <p:nvGraphicFramePr>
          <p:cNvPr id="22" name="Chart"/>
          <p:cNvGraphicFramePr/>
          <p:nvPr/>
        </p:nvGraphicFramePr>
        <p:xfrm>
          <a:off xmlns:a="http://schemas.openxmlformats.org/drawingml/2006/main" x="685800" y="2076450"/>
          <a:ext xmlns:a="http://schemas.openxmlformats.org/drawingml/2006/main" cx="7334250" cy="3333750"/>
        </p:xfrm>
        <a:graphic xmlns:a="http://schemas.openxmlformats.org/drawingml/2006/main">
          <a:graphicData uri="http://schemas.openxmlformats.org/drawingml/2006/chart">
            <c:chart xmlns:r="http://schemas.openxmlformats.org/officeDocument/2006/relationships" xmlns:c="http://schemas.openxmlformats.org/drawingml/2006/chart" r:id="R96d4e690366b4e28"/>
          </a:graphicData>
        </a:graphic>
      </p:graphicFrame>
      <p:sp>
        <p:nvSpPr>
          <p:cNvPr id="5" name="">
            <a:extLst xmlns:a="http://schemas.openxmlformats.org/drawingml/2006/main">
              <a:ext uri="{FF2B5EF4-FFF2-40B4-BE49-F238E27FC236}">
                <a16:creationId xmlns:a16="http://schemas.microsoft.com/office/drawing/2014/main" id="{9893389F-E150-48E0-AA9E-66C259E47B2B}"/>
              </a:ext>
            </a:extLst>
          </p:cNvPr>
          <p:cNvSpPr>
            <a:spLocks xmlns:a="http://schemas.openxmlformats.org/drawingml/2006/main" noGrp="1"/>
          </p:cNvSpPr>
          <p:nvPr/>
        </p:nvSpPr>
        <p:spPr>
          <a:xfrm xmlns:a="http://schemas.openxmlformats.org/drawingml/2006/main">
            <a:off x="8572500" y="2076450"/>
            <a:ext cx="2933700" cy="3333750"/>
          </a:xfrm>
          <a:prstGeom xmlns:a="http://schemas.openxmlformats.org/drawingml/2006/main" prst="roundRect">
            <a:avLst>
              <a:gd name="adj" fmla="val 5844"/>
            </a:avLst>
          </a:prstGeom>
          <a:solidFill xmlns:a="http://schemas.openxmlformats.org/drawingml/2006/main">
            <a:srgbClr val="FFFFFF"/>
          </a:solidFill>
          <a:ln xmlns:a="http://schemas.openxmlformats.org/drawingml/2006/main" w="9525">
            <a:solidFill>
              <a:srgbClr val="D8E5E5"/>
            </a:solidFill>
          </a:ln>
        </p:spPr>
      </p:sp>
      <p:sp>
        <p:nvSpPr>
          <p:cNvPr id="6" name="">
            <a:extLst xmlns:a="http://schemas.openxmlformats.org/drawingml/2006/main">
              <a:ext uri="{FF2B5EF4-FFF2-40B4-BE49-F238E27FC236}">
                <a16:creationId xmlns:a16="http://schemas.microsoft.com/office/drawing/2014/main" id="{0309C161-B751-481F-A62A-79988B232B58}"/>
              </a:ext>
            </a:extLst>
          </p:cNvPr>
          <p:cNvSpPr>
            <a:spLocks xmlns:a="http://schemas.openxmlformats.org/drawingml/2006/main" noGrp="1"/>
          </p:cNvSpPr>
          <p:nvPr/>
        </p:nvSpPr>
        <p:spPr>
          <a:xfrm xmlns:a="http://schemas.openxmlformats.org/drawingml/2006/main">
            <a:off x="8877300" y="2381250"/>
            <a:ext cx="2333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650" b="1">
                <a:solidFill>
                  <a:srgbClr val="0B2538"/>
                </a:solidFill>
                <a:latin typeface="Arial"/>
                <a:ea typeface="Arial"/>
                <a:cs typeface="Arial"/>
              </a:defRPr>
            </a:pPr>
            <a:r>
              <a:rPr sz="1650" b="1">
                <a:solidFill>
                  <a:srgbClr val="0B2538"/>
                </a:solidFill>
                <a:latin typeface="Arial"/>
                <a:ea typeface="Arial"/>
                <a:cs typeface="Arial"/>
              </a:rPr>
              <a:t>Giả định minh họa</a:t>
            </a:r>
          </a:p>
        </p:txBody>
      </p:sp>
      <p:sp>
        <p:nvSpPr>
          <p:cNvPr id="7" name="">
            <a:extLst xmlns:a="http://schemas.openxmlformats.org/drawingml/2006/main">
              <a:ext uri="{FF2B5EF4-FFF2-40B4-BE49-F238E27FC236}">
                <a16:creationId xmlns:a16="http://schemas.microsoft.com/office/drawing/2014/main" id="{D09FDC54-3A52-4495-9F42-7594C052243C}"/>
              </a:ext>
            </a:extLst>
          </p:cNvPr>
          <p:cNvSpPr>
            <a:spLocks xmlns:a="http://schemas.openxmlformats.org/drawingml/2006/main" noGrp="1"/>
          </p:cNvSpPr>
          <p:nvPr/>
        </p:nvSpPr>
        <p:spPr>
          <a:xfrm xmlns:a="http://schemas.openxmlformats.org/drawingml/2006/main">
            <a:off x="8877300" y="297180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F17E2C1-E054-425A-8933-30A8634FAAFC}"/>
              </a:ext>
            </a:extLst>
          </p:cNvPr>
          <p:cNvSpPr>
            <a:spLocks xmlns:a="http://schemas.openxmlformats.org/drawingml/2006/main" noGrp="1"/>
          </p:cNvSpPr>
          <p:nvPr/>
        </p:nvSpPr>
        <p:spPr>
          <a:xfrm xmlns:a="http://schemas.openxmlformats.org/drawingml/2006/main">
            <a:off x="9105900" y="2905125"/>
            <a:ext cx="21050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12212B"/>
                </a:solidFill>
                <a:latin typeface="Arial"/>
                <a:ea typeface="Arial"/>
                <a:cs typeface="Arial"/>
              </a:defRPr>
            </a:pPr>
            <a:r>
              <a:rPr sz="1200" b="0">
                <a:solidFill>
                  <a:srgbClr val="12212B"/>
                </a:solidFill>
                <a:latin typeface="Arial"/>
                <a:ea typeface="Arial"/>
                <a:cs typeface="Arial"/>
              </a:rPr>
              <a:t>10 giờ đối soát giảm mỗi tháng</a:t>
            </a:r>
          </a:p>
        </p:txBody>
      </p:sp>
      <p:sp>
        <p:nvSpPr>
          <p:cNvPr id="9" name="">
            <a:extLst xmlns:a="http://schemas.openxmlformats.org/drawingml/2006/main">
              <a:ext uri="{FF2B5EF4-FFF2-40B4-BE49-F238E27FC236}">
                <a16:creationId xmlns:a16="http://schemas.microsoft.com/office/drawing/2014/main" id="{C06ED415-B411-433F-B338-1C20D8CC0772}"/>
              </a:ext>
            </a:extLst>
          </p:cNvPr>
          <p:cNvSpPr>
            <a:spLocks xmlns:a="http://schemas.openxmlformats.org/drawingml/2006/main" noGrp="1"/>
          </p:cNvSpPr>
          <p:nvPr/>
        </p:nvSpPr>
        <p:spPr>
          <a:xfrm xmlns:a="http://schemas.openxmlformats.org/drawingml/2006/main">
            <a:off x="8877300" y="349567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BBEB9D8-ACB1-49C8-BEDD-9013B5AFB3B4}"/>
              </a:ext>
            </a:extLst>
          </p:cNvPr>
          <p:cNvSpPr>
            <a:spLocks xmlns:a="http://schemas.openxmlformats.org/drawingml/2006/main" noGrp="1"/>
          </p:cNvSpPr>
          <p:nvPr/>
        </p:nvSpPr>
        <p:spPr>
          <a:xfrm xmlns:a="http://schemas.openxmlformats.org/drawingml/2006/main">
            <a:off x="9105900" y="3429000"/>
            <a:ext cx="21050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12212B"/>
                </a:solidFill>
                <a:latin typeface="Arial"/>
                <a:ea typeface="Arial"/>
                <a:cs typeface="Arial"/>
              </a:defRPr>
            </a:pPr>
            <a:r>
              <a:rPr sz="1200" b="0">
                <a:solidFill>
                  <a:srgbClr val="12212B"/>
                </a:solidFill>
                <a:latin typeface="Arial"/>
                <a:ea typeface="Arial"/>
                <a:cs typeface="Arial"/>
              </a:rPr>
              <a:t>120.000 đ / giờ chi phí thời gian</a:t>
            </a:r>
          </a:p>
        </p:txBody>
      </p:sp>
      <p:sp>
        <p:nvSpPr>
          <p:cNvPr id="11" name="">
            <a:extLst xmlns:a="http://schemas.openxmlformats.org/drawingml/2006/main">
              <a:ext uri="{FF2B5EF4-FFF2-40B4-BE49-F238E27FC236}">
                <a16:creationId xmlns:a16="http://schemas.microsoft.com/office/drawing/2014/main" id="{39734598-5897-4503-8D85-009A0C315C4C}"/>
              </a:ext>
            </a:extLst>
          </p:cNvPr>
          <p:cNvSpPr>
            <a:spLocks xmlns:a="http://schemas.openxmlformats.org/drawingml/2006/main" noGrp="1"/>
          </p:cNvSpPr>
          <p:nvPr/>
        </p:nvSpPr>
        <p:spPr>
          <a:xfrm xmlns:a="http://schemas.openxmlformats.org/drawingml/2006/main">
            <a:off x="8877300" y="401955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2A86F6C-528A-408E-BE05-D3B56BB70433}"/>
              </a:ext>
            </a:extLst>
          </p:cNvPr>
          <p:cNvSpPr>
            <a:spLocks xmlns:a="http://schemas.openxmlformats.org/drawingml/2006/main" noGrp="1"/>
          </p:cNvSpPr>
          <p:nvPr/>
        </p:nvSpPr>
        <p:spPr>
          <a:xfrm xmlns:a="http://schemas.openxmlformats.org/drawingml/2006/main">
            <a:off x="9105900" y="3952875"/>
            <a:ext cx="21050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12212B"/>
                </a:solidFill>
                <a:latin typeface="Arial"/>
                <a:ea typeface="Arial"/>
                <a:cs typeface="Arial"/>
              </a:defRPr>
            </a:pPr>
            <a:r>
              <a:rPr sz="1200" b="0">
                <a:solidFill>
                  <a:srgbClr val="12212B"/>
                </a:solidFill>
                <a:latin typeface="Arial"/>
                <a:ea typeface="Arial"/>
                <a:cs typeface="Arial"/>
              </a:rPr>
              <a:t>Giá trị trực tiếp: 1,2 triệu đ</a:t>
            </a:r>
          </a:p>
        </p:txBody>
      </p:sp>
      <p:sp>
        <p:nvSpPr>
          <p:cNvPr id="13" name="">
            <a:extLst xmlns:a="http://schemas.openxmlformats.org/drawingml/2006/main">
              <a:ext uri="{FF2B5EF4-FFF2-40B4-BE49-F238E27FC236}">
                <a16:creationId xmlns:a16="http://schemas.microsoft.com/office/drawing/2014/main" id="{F0AEE818-1E6B-43A4-905E-FC73C8265355}"/>
              </a:ext>
            </a:extLst>
          </p:cNvPr>
          <p:cNvSpPr>
            <a:spLocks xmlns:a="http://schemas.openxmlformats.org/drawingml/2006/main" noGrp="1"/>
          </p:cNvSpPr>
          <p:nvPr/>
        </p:nvSpPr>
        <p:spPr>
          <a:xfrm xmlns:a="http://schemas.openxmlformats.org/drawingml/2006/main">
            <a:off x="8877300" y="454342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ED2568A-3CF0-4D84-AD51-571CF6BDD9C2}"/>
              </a:ext>
            </a:extLst>
          </p:cNvPr>
          <p:cNvSpPr>
            <a:spLocks xmlns:a="http://schemas.openxmlformats.org/drawingml/2006/main" noGrp="1"/>
          </p:cNvSpPr>
          <p:nvPr/>
        </p:nvSpPr>
        <p:spPr>
          <a:xfrm xmlns:a="http://schemas.openxmlformats.org/drawingml/2006/main">
            <a:off x="9105900" y="4476750"/>
            <a:ext cx="21050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12212B"/>
                </a:solidFill>
                <a:latin typeface="Arial"/>
                <a:ea typeface="Arial"/>
                <a:cs typeface="Arial"/>
              </a:defRPr>
            </a:pPr>
            <a:r>
              <a:rPr sz="1200" b="0">
                <a:solidFill>
                  <a:srgbClr val="12212B"/>
                </a:solidFill>
                <a:latin typeface="Arial"/>
                <a:ea typeface="Arial"/>
                <a:cs typeface="Arial"/>
              </a:rPr>
              <a:t>Chưa tính chi phí sai dữ liệu và chậm quyết định</a:t>
            </a:r>
          </a:p>
        </p:txBody>
      </p:sp>
      <p:sp>
        <p:nvSpPr>
          <p:cNvPr id="15" name="">
            <a:extLst xmlns:a="http://schemas.openxmlformats.org/drawingml/2006/main">
              <a:ext uri="{FF2B5EF4-FFF2-40B4-BE49-F238E27FC236}">
                <a16:creationId xmlns:a16="http://schemas.microsoft.com/office/drawing/2014/main" id="{A37DC0FB-B63E-48D2-A73F-3BEE8AF65935}"/>
              </a:ext>
            </a:extLst>
          </p:cNvPr>
          <p:cNvSpPr>
            <a:spLocks xmlns:a="http://schemas.openxmlformats.org/drawingml/2006/main" noGrp="1"/>
          </p:cNvSpPr>
          <p:nvPr/>
        </p:nvSpPr>
        <p:spPr>
          <a:xfrm xmlns:a="http://schemas.openxmlformats.org/drawingml/2006/main">
            <a:off x="8877300" y="4810125"/>
            <a:ext cx="2324100" cy="381000"/>
          </a:xfrm>
          <a:prstGeom xmlns:a="http://schemas.openxmlformats.org/drawingml/2006/main" prst="roundRect">
            <a:avLst>
              <a:gd name="adj" fmla="val 30000"/>
            </a:avLst>
          </a:prstGeom>
          <a:solidFill xmlns:a="http://schemas.openxmlformats.org/drawingml/2006/main">
            <a:srgbClr val="EAF8F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7D9D84A-F522-47D7-BE73-768B5FBE3F4B}"/>
              </a:ext>
            </a:extLst>
          </p:cNvPr>
          <p:cNvSpPr>
            <a:spLocks xmlns:a="http://schemas.openxmlformats.org/drawingml/2006/main" noGrp="1"/>
          </p:cNvSpPr>
          <p:nvPr/>
        </p:nvSpPr>
        <p:spPr>
          <a:xfrm xmlns:a="http://schemas.openxmlformats.org/drawingml/2006/main">
            <a:off x="8991600" y="491490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159A78"/>
                </a:solidFill>
                <a:latin typeface="Arial"/>
                <a:ea typeface="Arial"/>
                <a:cs typeface="Arial"/>
              </a:defRPr>
            </a:pPr>
            <a:r>
              <a:rPr sz="1125" b="1">
                <a:solidFill>
                  <a:srgbClr val="159A78"/>
                </a:solidFill>
                <a:latin typeface="Arial"/>
                <a:ea typeface="Arial"/>
                <a:cs typeface="Arial"/>
              </a:rPr>
              <a:t>Khởi động: 2,4× giá trị / chi phí</a:t>
            </a:r>
          </a:p>
        </p:txBody>
      </p:sp>
      <p:sp>
        <p:nvSpPr>
          <p:cNvPr id="17" name="">
            <a:extLst xmlns:a="http://schemas.openxmlformats.org/drawingml/2006/main">
              <a:ext uri="{FF2B5EF4-FFF2-40B4-BE49-F238E27FC236}">
                <a16:creationId xmlns:a16="http://schemas.microsoft.com/office/drawing/2014/main" id="{C18DB4F1-24AE-4608-9F4B-63C099805ACF}"/>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Giả định minh họa, cần đo lại trong pilot 30 ngày</a:t>
            </a:r>
          </a:p>
        </p:txBody>
      </p:sp>
      <p:sp>
        <p:nvSpPr>
          <p:cNvPr id="18" name="">
            <a:extLst xmlns:a="http://schemas.openxmlformats.org/drawingml/2006/main">
              <a:ext uri="{FF2B5EF4-FFF2-40B4-BE49-F238E27FC236}">
                <a16:creationId xmlns:a16="http://schemas.microsoft.com/office/drawing/2014/main" id="{FB145B41-9936-45EB-B3A7-4B4A165DEB2E}"/>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08</a:t>
            </a:r>
          </a:p>
        </p:txBody>
      </p:sp>
    </p:spTree>
    <p:extLst>
      <p:ext uri="{BB962C8B-B14F-4D97-AF65-F5344CB8AC3E}">
        <p14:creationId xmlns:p14="http://schemas.microsoft.com/office/powerpoint/2010/main" val="15291329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23EFA36-4E05-4AA6-842C-59639FA1F539}"/>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CÁCH BÁN VÀ TRIỂN KHAI</a:t>
            </a:r>
          </a:p>
        </p:txBody>
      </p:sp>
      <p:sp>
        <p:nvSpPr>
          <p:cNvPr id="2" name="">
            <a:extLst xmlns:a="http://schemas.openxmlformats.org/drawingml/2006/main">
              <a:ext uri="{FF2B5EF4-FFF2-40B4-BE49-F238E27FC236}">
                <a16:creationId xmlns:a16="http://schemas.microsoft.com/office/drawing/2014/main" id="{E2EF8861-B690-45B6-8C42-E46A545BCFB9}"/>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Lộ trình thí điểm 30 ngày</a:t>
            </a:r>
          </a:p>
        </p:txBody>
      </p:sp>
      <p:sp>
        <p:nvSpPr>
          <p:cNvPr id="3" name="">
            <a:extLst xmlns:a="http://schemas.openxmlformats.org/drawingml/2006/main">
              <a:ext uri="{FF2B5EF4-FFF2-40B4-BE49-F238E27FC236}">
                <a16:creationId xmlns:a16="http://schemas.microsoft.com/office/drawing/2014/main" id="{5985CAD0-4D5D-4C88-921C-79FF5D314482}"/>
              </a:ext>
            </a:extLst>
          </p:cNvPr>
          <p:cNvSpPr>
            <a:spLocks xmlns:a="http://schemas.openxmlformats.org/drawingml/2006/main" noGrp="1"/>
          </p:cNvSpPr>
          <p:nvPr/>
        </p:nvSpPr>
        <p:spPr>
          <a:xfrm xmlns:a="http://schemas.openxmlformats.org/drawingml/2006/main">
            <a:off x="685800" y="1295400"/>
            <a:ext cx="876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650" b="0">
                <a:solidFill>
                  <a:srgbClr val="52606D"/>
                </a:solidFill>
                <a:latin typeface="Arial"/>
                <a:ea typeface="Arial"/>
                <a:cs typeface="Arial"/>
              </a:defRPr>
            </a:pPr>
            <a:r>
              <a:rPr sz="1650" b="0">
                <a:solidFill>
                  <a:srgbClr val="52606D"/>
                </a:solidFill>
                <a:latin typeface="Arial"/>
                <a:ea typeface="Arial"/>
                <a:cs typeface="Arial"/>
              </a:rPr>
              <a:t>Bắt đầu nhỏ, đo được, và chỉ mở rộng khi người dùng đã nhìn thấy dữ liệu của chính họ.</a:t>
            </a:r>
          </a:p>
        </p:txBody>
      </p:sp>
      <p:sp>
        <p:nvSpPr>
          <p:cNvPr id="4" name="">
            <a:extLst xmlns:a="http://schemas.openxmlformats.org/drawingml/2006/main">
              <a:ext uri="{FF2B5EF4-FFF2-40B4-BE49-F238E27FC236}">
                <a16:creationId xmlns:a16="http://schemas.microsoft.com/office/drawing/2014/main" id="{08EE1814-F029-48F5-B445-AFEDF69FCFED}"/>
              </a:ext>
            </a:extLst>
          </p:cNvPr>
          <p:cNvSpPr>
            <a:spLocks xmlns:a="http://schemas.openxmlformats.org/drawingml/2006/main" noGrp="1"/>
          </p:cNvSpPr>
          <p:nvPr/>
        </p:nvSpPr>
        <p:spPr>
          <a:xfrm xmlns:a="http://schemas.openxmlformats.org/drawingml/2006/main">
            <a:off x="685800" y="2286000"/>
            <a:ext cx="2362200" cy="2428875"/>
          </a:xfrm>
          <a:prstGeom xmlns:a="http://schemas.openxmlformats.org/drawingml/2006/main" prst="roundRect">
            <a:avLst>
              <a:gd name="adj" fmla="val 7258"/>
            </a:avLst>
          </a:prstGeom>
          <a:solidFill xmlns:a="http://schemas.openxmlformats.org/drawingml/2006/main">
            <a:srgbClr val="F3F8F8"/>
          </a:solidFill>
          <a:ln xmlns:a="http://schemas.openxmlformats.org/drawingml/2006/main" w="9525">
            <a:solidFill>
              <a:srgbClr val="0F8B8D"/>
            </a:solidFill>
          </a:ln>
        </p:spPr>
      </p:sp>
      <p:sp>
        <p:nvSpPr>
          <p:cNvPr id="5" name="">
            <a:extLst xmlns:a="http://schemas.openxmlformats.org/drawingml/2006/main">
              <a:ext uri="{FF2B5EF4-FFF2-40B4-BE49-F238E27FC236}">
                <a16:creationId xmlns:a16="http://schemas.microsoft.com/office/drawing/2014/main" id="{0EAF85E0-487F-437D-91AD-BD723F6C6837}"/>
              </a:ext>
            </a:extLst>
          </p:cNvPr>
          <p:cNvSpPr>
            <a:spLocks xmlns:a="http://schemas.openxmlformats.org/drawingml/2006/main" noGrp="1"/>
          </p:cNvSpPr>
          <p:nvPr/>
        </p:nvSpPr>
        <p:spPr>
          <a:xfrm xmlns:a="http://schemas.openxmlformats.org/drawingml/2006/main">
            <a:off x="685800" y="2286000"/>
            <a:ext cx="2362200" cy="11430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0F67839-8C4E-4D0F-8014-F9E4A3900F8C}"/>
              </a:ext>
            </a:extLst>
          </p:cNvPr>
          <p:cNvSpPr>
            <a:spLocks xmlns:a="http://schemas.openxmlformats.org/drawingml/2006/main" noGrp="1"/>
          </p:cNvSpPr>
          <p:nvPr/>
        </p:nvSpPr>
        <p:spPr>
          <a:xfrm xmlns:a="http://schemas.openxmlformats.org/drawingml/2006/main">
            <a:off x="914400" y="260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125" b="1">
                <a:solidFill>
                  <a:srgbClr val="0F8B8D"/>
                </a:solidFill>
                <a:latin typeface="Arial"/>
                <a:ea typeface="Arial"/>
                <a:cs typeface="Arial"/>
              </a:defRPr>
            </a:pPr>
            <a:r>
              <a:rPr sz="1125" b="1">
                <a:solidFill>
                  <a:srgbClr val="0F8B8D"/>
                </a:solidFill>
                <a:latin typeface="Arial"/>
                <a:ea typeface="Arial"/>
                <a:cs typeface="Arial"/>
              </a:rPr>
              <a:t>Tuần 1</a:t>
            </a:r>
          </a:p>
        </p:txBody>
      </p:sp>
      <p:sp>
        <p:nvSpPr>
          <p:cNvPr id="7" name="">
            <a:extLst xmlns:a="http://schemas.openxmlformats.org/drawingml/2006/main">
              <a:ext uri="{FF2B5EF4-FFF2-40B4-BE49-F238E27FC236}">
                <a16:creationId xmlns:a16="http://schemas.microsoft.com/office/drawing/2014/main" id="{D3A0ED9E-DB9B-43E1-B6CC-DC153A175EE7}"/>
              </a:ext>
            </a:extLst>
          </p:cNvPr>
          <p:cNvSpPr>
            <a:spLocks xmlns:a="http://schemas.openxmlformats.org/drawingml/2006/main" noGrp="1"/>
          </p:cNvSpPr>
          <p:nvPr/>
        </p:nvSpPr>
        <p:spPr>
          <a:xfrm xmlns:a="http://schemas.openxmlformats.org/drawingml/2006/main">
            <a:off x="914400" y="29908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Thiết lập</a:t>
            </a:r>
          </a:p>
        </p:txBody>
      </p:sp>
      <p:sp>
        <p:nvSpPr>
          <p:cNvPr id="8" name="">
            <a:extLst xmlns:a="http://schemas.openxmlformats.org/drawingml/2006/main">
              <a:ext uri="{FF2B5EF4-FFF2-40B4-BE49-F238E27FC236}">
                <a16:creationId xmlns:a16="http://schemas.microsoft.com/office/drawing/2014/main" id="{452E4714-F31A-4C0A-A717-D75D48225FAA}"/>
              </a:ext>
            </a:extLst>
          </p:cNvPr>
          <p:cNvSpPr>
            <a:spLocks xmlns:a="http://schemas.openxmlformats.org/drawingml/2006/main" noGrp="1"/>
          </p:cNvSpPr>
          <p:nvPr/>
        </p:nvSpPr>
        <p:spPr>
          <a:xfrm xmlns:a="http://schemas.openxmlformats.org/drawingml/2006/main">
            <a:off x="914400" y="3543300"/>
            <a:ext cx="190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Chốt công ty, nhà máy, staff, đối tác và quyền truy cập.</a:t>
            </a:r>
          </a:p>
        </p:txBody>
      </p:sp>
      <p:sp>
        <p:nvSpPr>
          <p:cNvPr id="9" name="">
            <a:extLst xmlns:a="http://schemas.openxmlformats.org/drawingml/2006/main">
              <a:ext uri="{FF2B5EF4-FFF2-40B4-BE49-F238E27FC236}">
                <a16:creationId xmlns:a16="http://schemas.microsoft.com/office/drawing/2014/main" id="{B18F54C3-8C09-46CD-B62A-BFACCB2E1E2A}"/>
              </a:ext>
            </a:extLst>
          </p:cNvPr>
          <p:cNvSpPr>
            <a:spLocks xmlns:a="http://schemas.openxmlformats.org/drawingml/2006/main" noGrp="1"/>
          </p:cNvSpPr>
          <p:nvPr/>
        </p:nvSpPr>
        <p:spPr>
          <a:xfrm xmlns:a="http://schemas.openxmlformats.org/drawingml/2006/main">
            <a:off x="3086100" y="33337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800" b="1">
                <a:solidFill>
                  <a:srgbClr val="0F8B8D"/>
                </a:solidFill>
                <a:latin typeface="Arial"/>
                <a:ea typeface="Arial"/>
                <a:cs typeface="Arial"/>
              </a:defRPr>
            </a:pPr>
            <a:r>
              <a:rPr sz="1800" b="1">
                <a:solidFill>
                  <a:srgbClr val="0F8B8D"/>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D85579D0-0776-4B4E-BAC3-5DC769ECA41D}"/>
              </a:ext>
            </a:extLst>
          </p:cNvPr>
          <p:cNvSpPr>
            <a:spLocks xmlns:a="http://schemas.openxmlformats.org/drawingml/2006/main" noGrp="1"/>
          </p:cNvSpPr>
          <p:nvPr/>
        </p:nvSpPr>
        <p:spPr>
          <a:xfrm xmlns:a="http://schemas.openxmlformats.org/drawingml/2006/main">
            <a:off x="3390900" y="2286000"/>
            <a:ext cx="2362200" cy="2428875"/>
          </a:xfrm>
          <a:prstGeom xmlns:a="http://schemas.openxmlformats.org/drawingml/2006/main" prst="roundRect">
            <a:avLst>
              <a:gd name="adj" fmla="val 7258"/>
            </a:avLst>
          </a:prstGeom>
          <a:solidFill xmlns:a="http://schemas.openxmlformats.org/drawingml/2006/main">
            <a:srgbClr val="F3F8F8"/>
          </a:solidFill>
          <a:ln xmlns:a="http://schemas.openxmlformats.org/drawingml/2006/main" w="9525">
            <a:solidFill>
              <a:srgbClr val="38BDF8"/>
            </a:solidFill>
          </a:ln>
        </p:spPr>
      </p:sp>
      <p:sp>
        <p:nvSpPr>
          <p:cNvPr id="11" name="">
            <a:extLst xmlns:a="http://schemas.openxmlformats.org/drawingml/2006/main">
              <a:ext uri="{FF2B5EF4-FFF2-40B4-BE49-F238E27FC236}">
                <a16:creationId xmlns:a16="http://schemas.microsoft.com/office/drawing/2014/main" id="{74351737-1EF8-41D0-A71A-D595147E8801}"/>
              </a:ext>
            </a:extLst>
          </p:cNvPr>
          <p:cNvSpPr>
            <a:spLocks xmlns:a="http://schemas.openxmlformats.org/drawingml/2006/main" noGrp="1"/>
          </p:cNvSpPr>
          <p:nvPr/>
        </p:nvSpPr>
        <p:spPr>
          <a:xfrm xmlns:a="http://schemas.openxmlformats.org/drawingml/2006/main">
            <a:off x="3390900" y="2286000"/>
            <a:ext cx="2362200" cy="1143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A9F2ECA-EB98-4B94-A802-3DA20093D120}"/>
              </a:ext>
            </a:extLst>
          </p:cNvPr>
          <p:cNvSpPr>
            <a:spLocks xmlns:a="http://schemas.openxmlformats.org/drawingml/2006/main" noGrp="1"/>
          </p:cNvSpPr>
          <p:nvPr/>
        </p:nvSpPr>
        <p:spPr>
          <a:xfrm xmlns:a="http://schemas.openxmlformats.org/drawingml/2006/main">
            <a:off x="3619500" y="260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125" b="1">
                <a:solidFill>
                  <a:srgbClr val="38BDF8"/>
                </a:solidFill>
                <a:latin typeface="Arial"/>
                <a:ea typeface="Arial"/>
                <a:cs typeface="Arial"/>
              </a:defRPr>
            </a:pPr>
            <a:r>
              <a:rPr sz="1125" b="1">
                <a:solidFill>
                  <a:srgbClr val="38BDF8"/>
                </a:solidFill>
                <a:latin typeface="Arial"/>
                <a:ea typeface="Arial"/>
                <a:cs typeface="Arial"/>
              </a:rPr>
              <a:t>Tuần 2</a:t>
            </a:r>
          </a:p>
        </p:txBody>
      </p:sp>
      <p:sp>
        <p:nvSpPr>
          <p:cNvPr id="13" name="">
            <a:extLst xmlns:a="http://schemas.openxmlformats.org/drawingml/2006/main">
              <a:ext uri="{FF2B5EF4-FFF2-40B4-BE49-F238E27FC236}">
                <a16:creationId xmlns:a16="http://schemas.microsoft.com/office/drawing/2014/main" id="{754F14F8-6198-4B35-BD14-9704BD4E3935}"/>
              </a:ext>
            </a:extLst>
          </p:cNvPr>
          <p:cNvSpPr>
            <a:spLocks xmlns:a="http://schemas.openxmlformats.org/drawingml/2006/main" noGrp="1"/>
          </p:cNvSpPr>
          <p:nvPr/>
        </p:nvSpPr>
        <p:spPr>
          <a:xfrm xmlns:a="http://schemas.openxmlformats.org/drawingml/2006/main">
            <a:off x="3619500" y="29908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Di chuyển dữ liệu</a:t>
            </a:r>
          </a:p>
        </p:txBody>
      </p:sp>
      <p:sp>
        <p:nvSpPr>
          <p:cNvPr id="14" name="">
            <a:extLst xmlns:a="http://schemas.openxmlformats.org/drawingml/2006/main">
              <a:ext uri="{FF2B5EF4-FFF2-40B4-BE49-F238E27FC236}">
                <a16:creationId xmlns:a16="http://schemas.microsoft.com/office/drawing/2014/main" id="{C80129AB-0D84-4FE6-A79A-781085A43D7C}"/>
              </a:ext>
            </a:extLst>
          </p:cNvPr>
          <p:cNvSpPr>
            <a:spLocks xmlns:a="http://schemas.openxmlformats.org/drawingml/2006/main" noGrp="1"/>
          </p:cNvSpPr>
          <p:nvPr/>
        </p:nvSpPr>
        <p:spPr>
          <a:xfrm xmlns:a="http://schemas.openxmlformats.org/drawingml/2006/main">
            <a:off x="3619500" y="3543300"/>
            <a:ext cx="190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Nhập Excel theo template; xử lý các dòng lỗi còn lại.</a:t>
            </a:r>
          </a:p>
        </p:txBody>
      </p:sp>
      <p:sp>
        <p:nvSpPr>
          <p:cNvPr id="15" name="">
            <a:extLst xmlns:a="http://schemas.openxmlformats.org/drawingml/2006/main">
              <a:ext uri="{FF2B5EF4-FFF2-40B4-BE49-F238E27FC236}">
                <a16:creationId xmlns:a16="http://schemas.microsoft.com/office/drawing/2014/main" id="{5695973F-2904-48D1-AA37-67C8C9CD6FC8}"/>
              </a:ext>
            </a:extLst>
          </p:cNvPr>
          <p:cNvSpPr>
            <a:spLocks xmlns:a="http://schemas.openxmlformats.org/drawingml/2006/main" noGrp="1"/>
          </p:cNvSpPr>
          <p:nvPr/>
        </p:nvSpPr>
        <p:spPr>
          <a:xfrm xmlns:a="http://schemas.openxmlformats.org/drawingml/2006/main">
            <a:off x="5791200" y="33337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800" b="1">
                <a:solidFill>
                  <a:srgbClr val="0F8B8D"/>
                </a:solidFill>
                <a:latin typeface="Arial"/>
                <a:ea typeface="Arial"/>
                <a:cs typeface="Arial"/>
              </a:defRPr>
            </a:pPr>
            <a:r>
              <a:rPr sz="1800" b="1">
                <a:solidFill>
                  <a:srgbClr val="0F8B8D"/>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7C1ADE88-358D-4CDE-913F-6A8445D55555}"/>
              </a:ext>
            </a:extLst>
          </p:cNvPr>
          <p:cNvSpPr>
            <a:spLocks xmlns:a="http://schemas.openxmlformats.org/drawingml/2006/main" noGrp="1"/>
          </p:cNvSpPr>
          <p:nvPr/>
        </p:nvSpPr>
        <p:spPr>
          <a:xfrm xmlns:a="http://schemas.openxmlformats.org/drawingml/2006/main">
            <a:off x="6096000" y="2286000"/>
            <a:ext cx="2362200" cy="2428875"/>
          </a:xfrm>
          <a:prstGeom xmlns:a="http://schemas.openxmlformats.org/drawingml/2006/main" prst="roundRect">
            <a:avLst>
              <a:gd name="adj" fmla="val 7258"/>
            </a:avLst>
          </a:prstGeom>
          <a:solidFill xmlns:a="http://schemas.openxmlformats.org/drawingml/2006/main">
            <a:srgbClr val="F3F8F8"/>
          </a:solidFill>
          <a:ln xmlns:a="http://schemas.openxmlformats.org/drawingml/2006/main" w="9525">
            <a:solidFill>
              <a:srgbClr val="F59E0B"/>
            </a:solidFill>
          </a:ln>
        </p:spPr>
      </p:sp>
      <p:sp>
        <p:nvSpPr>
          <p:cNvPr id="17" name="">
            <a:extLst xmlns:a="http://schemas.openxmlformats.org/drawingml/2006/main">
              <a:ext uri="{FF2B5EF4-FFF2-40B4-BE49-F238E27FC236}">
                <a16:creationId xmlns:a16="http://schemas.microsoft.com/office/drawing/2014/main" id="{AC4E103C-A32F-44E4-A976-97C377315645}"/>
              </a:ext>
            </a:extLst>
          </p:cNvPr>
          <p:cNvSpPr>
            <a:spLocks xmlns:a="http://schemas.openxmlformats.org/drawingml/2006/main" noGrp="1"/>
          </p:cNvSpPr>
          <p:nvPr/>
        </p:nvSpPr>
        <p:spPr>
          <a:xfrm xmlns:a="http://schemas.openxmlformats.org/drawingml/2006/main">
            <a:off x="6096000" y="2286000"/>
            <a:ext cx="2362200" cy="1143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F5C1F05-C4D7-4460-A790-15B0972BEC94}"/>
              </a:ext>
            </a:extLst>
          </p:cNvPr>
          <p:cNvSpPr>
            <a:spLocks xmlns:a="http://schemas.openxmlformats.org/drawingml/2006/main" noGrp="1"/>
          </p:cNvSpPr>
          <p:nvPr/>
        </p:nvSpPr>
        <p:spPr>
          <a:xfrm xmlns:a="http://schemas.openxmlformats.org/drawingml/2006/main">
            <a:off x="6324600" y="260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125" b="1">
                <a:solidFill>
                  <a:srgbClr val="F59E0B"/>
                </a:solidFill>
                <a:latin typeface="Arial"/>
                <a:ea typeface="Arial"/>
                <a:cs typeface="Arial"/>
              </a:defRPr>
            </a:pPr>
            <a:r>
              <a:rPr sz="1125" b="1">
                <a:solidFill>
                  <a:srgbClr val="F59E0B"/>
                </a:solidFill>
                <a:latin typeface="Arial"/>
                <a:ea typeface="Arial"/>
                <a:cs typeface="Arial"/>
              </a:rPr>
              <a:t>Tuần 3</a:t>
            </a:r>
          </a:p>
        </p:txBody>
      </p:sp>
      <p:sp>
        <p:nvSpPr>
          <p:cNvPr id="19" name="">
            <a:extLst xmlns:a="http://schemas.openxmlformats.org/drawingml/2006/main">
              <a:ext uri="{FF2B5EF4-FFF2-40B4-BE49-F238E27FC236}">
                <a16:creationId xmlns:a16="http://schemas.microsoft.com/office/drawing/2014/main" id="{F853A35E-B65B-40BD-85A8-B3C8915BF326}"/>
              </a:ext>
            </a:extLst>
          </p:cNvPr>
          <p:cNvSpPr>
            <a:spLocks xmlns:a="http://schemas.openxmlformats.org/drawingml/2006/main" noGrp="1"/>
          </p:cNvSpPr>
          <p:nvPr/>
        </p:nvSpPr>
        <p:spPr>
          <a:xfrm xmlns:a="http://schemas.openxmlformats.org/drawingml/2006/main">
            <a:off x="6324600" y="29908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Đưa vào nhịp</a:t>
            </a:r>
          </a:p>
        </p:txBody>
      </p:sp>
      <p:sp>
        <p:nvSpPr>
          <p:cNvPr id="20" name="">
            <a:extLst xmlns:a="http://schemas.openxmlformats.org/drawingml/2006/main">
              <a:ext uri="{FF2B5EF4-FFF2-40B4-BE49-F238E27FC236}">
                <a16:creationId xmlns:a16="http://schemas.microsoft.com/office/drawing/2014/main" id="{D92E87FE-7663-49E9-B8A4-D01138183964}"/>
              </a:ext>
            </a:extLst>
          </p:cNvPr>
          <p:cNvSpPr>
            <a:spLocks xmlns:a="http://schemas.openxmlformats.org/drawingml/2006/main" noGrp="1"/>
          </p:cNvSpPr>
          <p:nvPr/>
        </p:nvSpPr>
        <p:spPr>
          <a:xfrm xmlns:a="http://schemas.openxmlformats.org/drawingml/2006/main">
            <a:off x="6324600" y="3543300"/>
            <a:ext cx="190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Chạy luồng hồ sơ, lịch sử đi làm, phê duyệt và công/lương.</a:t>
            </a:r>
          </a:p>
        </p:txBody>
      </p:sp>
      <p:sp>
        <p:nvSpPr>
          <p:cNvPr id="21" name="">
            <a:extLst xmlns:a="http://schemas.openxmlformats.org/drawingml/2006/main">
              <a:ext uri="{FF2B5EF4-FFF2-40B4-BE49-F238E27FC236}">
                <a16:creationId xmlns:a16="http://schemas.microsoft.com/office/drawing/2014/main" id="{2772A2A0-4813-479C-9D13-7F9D3D7393DA}"/>
              </a:ext>
            </a:extLst>
          </p:cNvPr>
          <p:cNvSpPr>
            <a:spLocks xmlns:a="http://schemas.openxmlformats.org/drawingml/2006/main" noGrp="1"/>
          </p:cNvSpPr>
          <p:nvPr/>
        </p:nvSpPr>
        <p:spPr>
          <a:xfrm xmlns:a="http://schemas.openxmlformats.org/drawingml/2006/main">
            <a:off x="8496300" y="33337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800" b="1">
                <a:solidFill>
                  <a:srgbClr val="0F8B8D"/>
                </a:solidFill>
                <a:latin typeface="Arial"/>
                <a:ea typeface="Arial"/>
                <a:cs typeface="Arial"/>
              </a:defRPr>
            </a:pPr>
            <a:r>
              <a:rPr sz="1800" b="1">
                <a:solidFill>
                  <a:srgbClr val="0F8B8D"/>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025229E7-4144-49C3-9183-349D3D7265BE}"/>
              </a:ext>
            </a:extLst>
          </p:cNvPr>
          <p:cNvSpPr>
            <a:spLocks xmlns:a="http://schemas.openxmlformats.org/drawingml/2006/main" noGrp="1"/>
          </p:cNvSpPr>
          <p:nvPr/>
        </p:nvSpPr>
        <p:spPr>
          <a:xfrm xmlns:a="http://schemas.openxmlformats.org/drawingml/2006/main">
            <a:off x="8801100" y="2286000"/>
            <a:ext cx="2362200" cy="2428875"/>
          </a:xfrm>
          <a:prstGeom xmlns:a="http://schemas.openxmlformats.org/drawingml/2006/main" prst="roundRect">
            <a:avLst>
              <a:gd name="adj" fmla="val 7258"/>
            </a:avLst>
          </a:prstGeom>
          <a:solidFill xmlns:a="http://schemas.openxmlformats.org/drawingml/2006/main">
            <a:srgbClr val="F3F8F8"/>
          </a:solidFill>
          <a:ln xmlns:a="http://schemas.openxmlformats.org/drawingml/2006/main" w="9525">
            <a:solidFill>
              <a:srgbClr val="159A78"/>
            </a:solidFill>
          </a:ln>
        </p:spPr>
      </p:sp>
      <p:sp>
        <p:nvSpPr>
          <p:cNvPr id="23" name="">
            <a:extLst xmlns:a="http://schemas.openxmlformats.org/drawingml/2006/main">
              <a:ext uri="{FF2B5EF4-FFF2-40B4-BE49-F238E27FC236}">
                <a16:creationId xmlns:a16="http://schemas.microsoft.com/office/drawing/2014/main" id="{72C7603C-9A0A-4FA7-8229-7258ED30D03D}"/>
              </a:ext>
            </a:extLst>
          </p:cNvPr>
          <p:cNvSpPr>
            <a:spLocks xmlns:a="http://schemas.openxmlformats.org/drawingml/2006/main" noGrp="1"/>
          </p:cNvSpPr>
          <p:nvPr/>
        </p:nvSpPr>
        <p:spPr>
          <a:xfrm xmlns:a="http://schemas.openxmlformats.org/drawingml/2006/main">
            <a:off x="8801100" y="2286000"/>
            <a:ext cx="2362200" cy="114300"/>
          </a:xfrm>
          <a:prstGeom xmlns:a="http://schemas.openxmlformats.org/drawingml/2006/main" prst="roundRect">
            <a:avLst>
              <a:gd name="adj" fmla="val 50000"/>
            </a:avLst>
          </a:prstGeom>
          <a:solidFill xmlns:a="http://schemas.openxmlformats.org/drawingml/2006/main">
            <a:srgbClr val="159A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F4F1C4D-E663-4691-951E-B73A15D1ECD5}"/>
              </a:ext>
            </a:extLst>
          </p:cNvPr>
          <p:cNvSpPr>
            <a:spLocks xmlns:a="http://schemas.openxmlformats.org/drawingml/2006/main" noGrp="1"/>
          </p:cNvSpPr>
          <p:nvPr/>
        </p:nvSpPr>
        <p:spPr>
          <a:xfrm xmlns:a="http://schemas.openxmlformats.org/drawingml/2006/main">
            <a:off x="9029700" y="260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125" b="1">
                <a:solidFill>
                  <a:srgbClr val="159A78"/>
                </a:solidFill>
                <a:latin typeface="Arial"/>
                <a:ea typeface="Arial"/>
                <a:cs typeface="Arial"/>
              </a:defRPr>
            </a:pPr>
            <a:r>
              <a:rPr sz="1125" b="1">
                <a:solidFill>
                  <a:srgbClr val="159A78"/>
                </a:solidFill>
                <a:latin typeface="Arial"/>
                <a:ea typeface="Arial"/>
                <a:cs typeface="Arial"/>
              </a:rPr>
              <a:t>Tuần 4</a:t>
            </a:r>
          </a:p>
        </p:txBody>
      </p:sp>
      <p:sp>
        <p:nvSpPr>
          <p:cNvPr id="25" name="">
            <a:extLst xmlns:a="http://schemas.openxmlformats.org/drawingml/2006/main">
              <a:ext uri="{FF2B5EF4-FFF2-40B4-BE49-F238E27FC236}">
                <a16:creationId xmlns:a16="http://schemas.microsoft.com/office/drawing/2014/main" id="{4638238D-9B19-454E-948B-D5DBFB2A6BA2}"/>
              </a:ext>
            </a:extLst>
          </p:cNvPr>
          <p:cNvSpPr>
            <a:spLocks xmlns:a="http://schemas.openxmlformats.org/drawingml/2006/main" noGrp="1"/>
          </p:cNvSpPr>
          <p:nvPr/>
        </p:nvSpPr>
        <p:spPr>
          <a:xfrm xmlns:a="http://schemas.openxmlformats.org/drawingml/2006/main">
            <a:off x="9029700" y="29908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Đo và mở rộng</a:t>
            </a:r>
          </a:p>
        </p:txBody>
      </p:sp>
      <p:sp>
        <p:nvSpPr>
          <p:cNvPr id="26" name="">
            <a:extLst xmlns:a="http://schemas.openxmlformats.org/drawingml/2006/main">
              <a:ext uri="{FF2B5EF4-FFF2-40B4-BE49-F238E27FC236}">
                <a16:creationId xmlns:a16="http://schemas.microsoft.com/office/drawing/2014/main" id="{0A1852DE-B0EC-4665-B3B4-ADCDE005EF1A}"/>
              </a:ext>
            </a:extLst>
          </p:cNvPr>
          <p:cNvSpPr>
            <a:spLocks xmlns:a="http://schemas.openxmlformats.org/drawingml/2006/main" noGrp="1"/>
          </p:cNvSpPr>
          <p:nvPr/>
        </p:nvSpPr>
        <p:spPr>
          <a:xfrm xmlns:a="http://schemas.openxmlformats.org/drawingml/2006/main">
            <a:off x="9029700" y="3543300"/>
            <a:ext cx="190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Đo giờ đối soát, lỗi dữ liệu, thời gian ra báo cáo; chọn gói phù hợp.</a:t>
            </a:r>
          </a:p>
        </p:txBody>
      </p:sp>
      <p:sp>
        <p:nvSpPr>
          <p:cNvPr id="27" name="">
            <a:extLst xmlns:a="http://schemas.openxmlformats.org/drawingml/2006/main">
              <a:ext uri="{FF2B5EF4-FFF2-40B4-BE49-F238E27FC236}">
                <a16:creationId xmlns:a16="http://schemas.microsoft.com/office/drawing/2014/main" id="{D34EA322-72D4-4F0F-8246-8E6337A330CE}"/>
              </a:ext>
            </a:extLst>
          </p:cNvPr>
          <p:cNvSpPr>
            <a:spLocks xmlns:a="http://schemas.openxmlformats.org/drawingml/2006/main" noGrp="1"/>
          </p:cNvSpPr>
          <p:nvPr/>
        </p:nvSpPr>
        <p:spPr>
          <a:xfrm xmlns:a="http://schemas.openxmlformats.org/drawingml/2006/main">
            <a:off x="685800" y="5219700"/>
            <a:ext cx="10820400" cy="628650"/>
          </a:xfrm>
          <a:prstGeom xmlns:a="http://schemas.openxmlformats.org/drawingml/2006/main" prst="roundRect">
            <a:avLst>
              <a:gd name="adj" fmla="val 24242"/>
            </a:avLst>
          </a:prstGeom>
          <a:solidFill xmlns:a="http://schemas.openxmlformats.org/drawingml/2006/main">
            <a:srgbClr val="0B253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9621AFA-188D-4DF9-8ECA-B33EC6698339}"/>
              </a:ext>
            </a:extLst>
          </p:cNvPr>
          <p:cNvSpPr>
            <a:spLocks xmlns:a="http://schemas.openxmlformats.org/drawingml/2006/main" noGrp="1"/>
          </p:cNvSpPr>
          <p:nvPr/>
        </p:nvSpPr>
        <p:spPr>
          <a:xfrm xmlns:a="http://schemas.openxmlformats.org/drawingml/2006/main">
            <a:off x="952500" y="541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Đầu ra sau pilot: số liệu trước/sau, danh sách lỗi đã giảm và đề xuất gói theo quy mô thật.</a:t>
            </a:r>
          </a:p>
        </p:txBody>
      </p:sp>
      <p:sp>
        <p:nvSpPr>
          <p:cNvPr id="29" name="">
            <a:extLst xmlns:a="http://schemas.openxmlformats.org/drawingml/2006/main">
              <a:ext uri="{FF2B5EF4-FFF2-40B4-BE49-F238E27FC236}">
                <a16:creationId xmlns:a16="http://schemas.microsoft.com/office/drawing/2014/main" id="{3BFE41E4-FDA1-44BB-AED9-2F1E9E23B60A}"/>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30" name="">
            <a:extLst xmlns:a="http://schemas.openxmlformats.org/drawingml/2006/main">
              <a:ext uri="{FF2B5EF4-FFF2-40B4-BE49-F238E27FC236}">
                <a16:creationId xmlns:a16="http://schemas.microsoft.com/office/drawing/2014/main" id="{EF25C255-94D9-4321-A5DD-A8D6821EF5A0}"/>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09</a:t>
            </a:r>
          </a:p>
        </p:txBody>
      </p:sp>
    </p:spTree>
    <p:extLst>
      <p:ext uri="{BB962C8B-B14F-4D97-AF65-F5344CB8AC3E}">
        <p14:creationId xmlns:p14="http://schemas.microsoft.com/office/powerpoint/2010/main" val="748724342"/>
      </p:ext>
    </p:extLst>
  </p:cSld>
</p:sld>
</file>

<file path=ppt/slides/slide10.xml><?xml version="1.0" encoding="utf-8"?>
<p:sld xmlns:p="http://schemas.openxmlformats.org/presentationml/2006/main">
  <p:cSld>
    <p:bg>
      <p:bgPr>
        <a:solidFill xmlns:a="http://schemas.openxmlformats.org/drawingml/2006/main">
          <a:srgbClr val="0B253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853453-3A85-4FB3-9879-2A2DEB2510D4}"/>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44ADAE-0D42-4374-9319-4FFD08BC402A}"/>
              </a:ext>
            </a:extLst>
          </p:cNvPr>
          <p:cNvSpPr>
            <a:spLocks xmlns:a="http://schemas.openxmlformats.org/drawingml/2006/main" noGrp="1"/>
          </p:cNvSpPr>
          <p:nvPr/>
        </p:nvSpPr>
        <p:spPr>
          <a:xfrm xmlns:a="http://schemas.openxmlformats.org/drawingml/2006/main">
            <a:off x="876300" y="1352550"/>
            <a:ext cx="809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Bắt đầu với gói Khởi động</a:t>
            </a:r>
          </a:p>
        </p:txBody>
      </p:sp>
      <p:sp>
        <p:nvSpPr>
          <p:cNvPr id="3" name="">
            <a:extLst xmlns:a="http://schemas.openxmlformats.org/drawingml/2006/main">
              <a:ext uri="{FF2B5EF4-FFF2-40B4-BE49-F238E27FC236}">
                <a16:creationId xmlns:a16="http://schemas.microsoft.com/office/drawing/2014/main" id="{FBD10357-9C9D-48B3-833F-B0A8F42C1E9A}"/>
              </a:ext>
            </a:extLst>
          </p:cNvPr>
          <p:cNvSpPr>
            <a:spLocks xmlns:a="http://schemas.openxmlformats.org/drawingml/2006/main" noGrp="1"/>
          </p:cNvSpPr>
          <p:nvPr/>
        </p:nvSpPr>
        <p:spPr>
          <a:xfrm xmlns:a="http://schemas.openxmlformats.org/drawingml/2006/main">
            <a:off x="895350" y="226695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550" b="1">
                <a:solidFill>
                  <a:srgbClr val="F59E0B"/>
                </a:solidFill>
                <a:latin typeface="Arial"/>
                <a:ea typeface="Arial"/>
                <a:cs typeface="Arial"/>
              </a:defRPr>
            </a:pPr>
            <a:r>
              <a:rPr sz="2550" b="1">
                <a:solidFill>
                  <a:srgbClr val="F59E0B"/>
                </a:solidFill>
                <a:latin typeface="Arial"/>
                <a:ea typeface="Arial"/>
                <a:cs typeface="Arial"/>
              </a:rPr>
              <a:t>500.000 đ / tháng</a:t>
            </a:r>
          </a:p>
        </p:txBody>
      </p:sp>
      <p:sp>
        <p:nvSpPr>
          <p:cNvPr id="4" name="">
            <a:extLst xmlns:a="http://schemas.openxmlformats.org/drawingml/2006/main">
              <a:ext uri="{FF2B5EF4-FFF2-40B4-BE49-F238E27FC236}">
                <a16:creationId xmlns:a16="http://schemas.microsoft.com/office/drawing/2014/main" id="{86CD0AEA-92EC-47EF-903A-3828F6664EA2}"/>
              </a:ext>
            </a:extLst>
          </p:cNvPr>
          <p:cNvSpPr>
            <a:spLocks xmlns:a="http://schemas.openxmlformats.org/drawingml/2006/main" noGrp="1"/>
          </p:cNvSpPr>
          <p:nvPr/>
        </p:nvSpPr>
        <p:spPr>
          <a:xfrm xmlns:a="http://schemas.openxmlformats.org/drawingml/2006/main">
            <a:off x="895350" y="2971800"/>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650" b="0">
                <a:solidFill>
                  <a:srgbClr val="D9F5F3"/>
                </a:solidFill>
                <a:latin typeface="Arial"/>
                <a:ea typeface="Arial"/>
                <a:cs typeface="Arial"/>
              </a:defRPr>
            </a:pPr>
            <a:r>
              <a:rPr sz="1650" b="0">
                <a:solidFill>
                  <a:srgbClr val="D9F5F3"/>
                </a:solidFill>
                <a:latin typeface="Arial"/>
                <a:ea typeface="Arial"/>
                <a:cs typeface="Arial"/>
              </a:rPr>
              <a:t>500 lịch sử đi làm · 5 staff · 5 đối tác · 5 nhà máy</a:t>
            </a:r>
          </a:p>
        </p:txBody>
      </p:sp>
      <p:sp>
        <p:nvSpPr>
          <p:cNvPr id="5" name="">
            <a:extLst xmlns:a="http://schemas.openxmlformats.org/drawingml/2006/main">
              <a:ext uri="{FF2B5EF4-FFF2-40B4-BE49-F238E27FC236}">
                <a16:creationId xmlns:a16="http://schemas.microsoft.com/office/drawing/2014/main" id="{E1B53BDE-3F31-44A6-A318-8B1E1A70F986}"/>
              </a:ext>
            </a:extLst>
          </p:cNvPr>
          <p:cNvSpPr>
            <a:spLocks xmlns:a="http://schemas.openxmlformats.org/drawingml/2006/main" noGrp="1"/>
          </p:cNvSpPr>
          <p:nvPr/>
        </p:nvSpPr>
        <p:spPr>
          <a:xfrm xmlns:a="http://schemas.openxmlformats.org/drawingml/2006/main">
            <a:off x="895350" y="3886200"/>
            <a:ext cx="5143500" cy="723900"/>
          </a:xfrm>
          <a:prstGeom xmlns:a="http://schemas.openxmlformats.org/drawingml/2006/main" prst="roundRect">
            <a:avLst>
              <a:gd name="adj" fmla="val 23684"/>
            </a:avLst>
          </a:prstGeom>
          <a:solidFill xmlns:a="http://schemas.openxmlformats.org/drawingml/2006/main">
            <a:srgbClr val="0F8B8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11503E6-5ACE-4B6A-A332-1C4C5259AA8A}"/>
              </a:ext>
            </a:extLst>
          </p:cNvPr>
          <p:cNvSpPr>
            <a:spLocks xmlns:a="http://schemas.openxmlformats.org/drawingml/2006/main" noGrp="1"/>
          </p:cNvSpPr>
          <p:nvPr/>
        </p:nvSpPr>
        <p:spPr>
          <a:xfrm xmlns:a="http://schemas.openxmlformats.org/drawingml/2006/main">
            <a:off x="1162050" y="4095750"/>
            <a:ext cx="4619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Mục tiêu đầu tiên: một nguồn dữ liệu mà cả công ty cùng tin.</a:t>
            </a:r>
          </a:p>
        </p:txBody>
      </p:sp>
      <p:sp>
        <p:nvSpPr>
          <p:cNvPr id="7" name="">
            <a:extLst xmlns:a="http://schemas.openxmlformats.org/drawingml/2006/main">
              <a:ext uri="{FF2B5EF4-FFF2-40B4-BE49-F238E27FC236}">
                <a16:creationId xmlns:a16="http://schemas.microsoft.com/office/drawing/2014/main" id="{B5B712C0-240D-47F2-A4A5-FF3DDE9A2978}"/>
              </a:ext>
            </a:extLst>
          </p:cNvPr>
          <p:cNvSpPr>
            <a:spLocks xmlns:a="http://schemas.openxmlformats.org/drawingml/2006/main" noGrp="1"/>
          </p:cNvSpPr>
          <p:nvPr/>
        </p:nvSpPr>
        <p:spPr>
          <a:xfrm xmlns:a="http://schemas.openxmlformats.org/drawingml/2006/main">
            <a:off x="895350" y="565785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B7D1D3"/>
                </a:solidFill>
                <a:latin typeface="Arial"/>
                <a:ea typeface="Arial"/>
                <a:cs typeface="Arial"/>
              </a:defRPr>
            </a:pPr>
            <a:r>
              <a:rPr sz="1425" b="0">
                <a:solidFill>
                  <a:srgbClr val="B7D1D3"/>
                </a:solidFill>
                <a:latin typeface="Arial"/>
                <a:ea typeface="Arial"/>
                <a:cs typeface="Arial"/>
              </a:rPr>
              <a:t>Đề xuất tiếp theo: chọn một công ty hoặc một cụm nhà máy để chạy pilot 30 ngày.</a:t>
            </a:r>
          </a:p>
        </p:txBody>
      </p:sp>
      <p:sp>
        <p:nvSpPr>
          <p:cNvPr id="8" name="">
            <a:extLst xmlns:a="http://schemas.openxmlformats.org/drawingml/2006/main">
              <a:ext uri="{FF2B5EF4-FFF2-40B4-BE49-F238E27FC236}">
                <a16:creationId xmlns:a16="http://schemas.microsoft.com/office/drawing/2014/main" id="{9FC8693D-BB0A-47CE-9577-ED6DAE3936DF}"/>
              </a:ext>
            </a:extLst>
          </p:cNvPr>
          <p:cNvSpPr>
            <a:spLocks xmlns:a="http://schemas.openxmlformats.org/drawingml/2006/main" noGrp="1"/>
          </p:cNvSpPr>
          <p:nvPr/>
        </p:nvSpPr>
        <p:spPr>
          <a:xfrm xmlns:a="http://schemas.openxmlformats.org/drawingml/2006/main">
            <a:off x="9639300" y="592455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200" b="1">
                <a:solidFill>
                  <a:srgbClr val="FFFFFF"/>
                </a:solidFill>
                <a:latin typeface="Arial"/>
                <a:ea typeface="Arial"/>
                <a:cs typeface="Arial"/>
              </a:defRPr>
            </a:pPr>
            <a:r>
              <a:rPr sz="1200" b="1">
                <a:solidFill>
                  <a:srgbClr val="FFFFFF"/>
                </a:solidFill>
                <a:latin typeface="Arial"/>
                <a:ea typeface="Arial"/>
                <a:cs typeface="Arial"/>
              </a:rPr>
              <a:t>Tuyển dụng 4.0</a:t>
            </a:r>
          </a:p>
        </p:txBody>
      </p:sp>
    </p:spTree>
    <p:extLst>
      <p:ext uri="{BB962C8B-B14F-4D97-AF65-F5344CB8AC3E}">
        <p14:creationId xmlns:p14="http://schemas.microsoft.com/office/powerpoint/2010/main" val="18238421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2026-09-04T15:32:22.5960000Z</dcterms:created>
  <dcterms:modified xsi:type="dcterms:W3CDTF">2026-09-04T15:32:22.5960000Z</dcterms:modified>
</coreProperties>
</file>