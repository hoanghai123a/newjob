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dec5cd0b82449e8" /><Relationship Type="http://schemas.openxmlformats.org/officeDocument/2006/relationships/extended-properties" Target="/docProps/app.xml" Id="R2b95667cbb194d21" /><Relationship Type="http://schemas.openxmlformats.org/officeDocument/2006/relationships/officeDocument" Target="/ppt/presentation.xml" Id="R44d2d85652e64f4a" /></Relationships>
</file>

<file path=ppt/presentation.xml><?xml version="1.0" encoding="utf-8"?>
<p:presentation xmlns:p="http://schemas.openxmlformats.org/presentationml/2006/main">
  <p:sldMasterIdLst>
    <p:sldMasterId xmlns:r="http://schemas.openxmlformats.org/officeDocument/2006/relationships" id="2147483648" r:id="R8f04dda7de794dbd"/>
  </p:sldMasterIdLst>
  <p:notesMasterIdLst>
    <p:notesMasterId xmlns:r="http://schemas.openxmlformats.org/officeDocument/2006/relationships" r:id="R1ff653a063c04fa2"/>
  </p:notesMasterIdLst>
  <p:sldIdLst>
    <p:sldId xmlns:r="http://schemas.openxmlformats.org/officeDocument/2006/relationships" id="256" r:id="R9d2f37e457ff46fc"/>
    <p:sldId xmlns:r="http://schemas.openxmlformats.org/officeDocument/2006/relationships" id="257" r:id="R2f8651cc86e24514"/>
    <p:sldId xmlns:r="http://schemas.openxmlformats.org/officeDocument/2006/relationships" id="258" r:id="R66a4b89e6de84ca6"/>
    <p:sldId xmlns:r="http://schemas.openxmlformats.org/officeDocument/2006/relationships" id="259" r:id="R42b90e4962a34a90"/>
    <p:sldId xmlns:r="http://schemas.openxmlformats.org/officeDocument/2006/relationships" id="260" r:id="R703047bc88fc462a"/>
    <p:sldId xmlns:r="http://schemas.openxmlformats.org/officeDocument/2006/relationships" id="261" r:id="R2437bcc1bfc8416a"/>
    <p:sldId xmlns:r="http://schemas.openxmlformats.org/officeDocument/2006/relationships" id="262" r:id="R4b4c9cd09aff40cd"/>
    <p:sldId xmlns:r="http://schemas.openxmlformats.org/officeDocument/2006/relationships" id="263" r:id="Rcbe484c9cf794dff"/>
    <p:sldId xmlns:r="http://schemas.openxmlformats.org/officeDocument/2006/relationships" id="264" r:id="R320625941e1c4b4a"/>
    <p:sldId xmlns:r="http://schemas.openxmlformats.org/officeDocument/2006/relationships" id="265" r:id="Rf245546cb7b241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5c79618e4b4a0c" /><Relationship Type="http://schemas.openxmlformats.org/officeDocument/2006/relationships/slideMaster" Target="/ppt/slideMasters/slideMaster1.xml" Id="R8f04dda7de794dbd" /><Relationship Type="http://schemas.openxmlformats.org/officeDocument/2006/relationships/notesMaster" Target="/ppt/notesMasters/notesMaster1.xml" Id="R1ff653a063c04fa2" /><Relationship Type="http://schemas.openxmlformats.org/officeDocument/2006/relationships/presProps" Target="/ppt/presProps.xml" Id="R9912de7ea3054a4a" /><Relationship Type="http://schemas.openxmlformats.org/officeDocument/2006/relationships/tableStyles" Target="/ppt/tableStyles.xml" Id="R61fbf94fee4b4666" /><Relationship Type="http://schemas.openxmlformats.org/officeDocument/2006/relationships/slide" Target="/ppt/slides/slide1.xml" Id="R9d2f37e457ff46fc" /><Relationship Type="http://schemas.openxmlformats.org/officeDocument/2006/relationships/slide" Target="/ppt/slides/slide2.xml" Id="R2f8651cc86e24514" /><Relationship Type="http://schemas.openxmlformats.org/officeDocument/2006/relationships/slide" Target="/ppt/slides/slide3.xml" Id="R66a4b89e6de84ca6" /><Relationship Type="http://schemas.openxmlformats.org/officeDocument/2006/relationships/slide" Target="/ppt/slides/slide4.xml" Id="R42b90e4962a34a90" /><Relationship Type="http://schemas.openxmlformats.org/officeDocument/2006/relationships/slide" Target="/ppt/slides/slide5.xml" Id="R703047bc88fc462a" /><Relationship Type="http://schemas.openxmlformats.org/officeDocument/2006/relationships/slide" Target="/ppt/slides/slide6.xml" Id="R2437bcc1bfc8416a" /><Relationship Type="http://schemas.openxmlformats.org/officeDocument/2006/relationships/slide" Target="/ppt/slides/slide7.xml" Id="R4b4c9cd09aff40cd" /><Relationship Type="http://schemas.openxmlformats.org/officeDocument/2006/relationships/slide" Target="/ppt/slides/slide8.xml" Id="Rcbe484c9cf794dff" /><Relationship Type="http://schemas.openxmlformats.org/officeDocument/2006/relationships/slide" Target="/ppt/slides/slide9.xml" Id="R320625941e1c4b4a" /><Relationship Type="http://schemas.openxmlformats.org/officeDocument/2006/relationships/slide" Target="/ppt/slides/slide10.xml" Id="Rf245546cb7b241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71e285284241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6d0b69868942a7" /><Relationship Type="http://schemas.openxmlformats.org/officeDocument/2006/relationships/notesMaster" Target="/ppt/notesMasters/notesMaster1.xml" Id="R200e8b3c3e5549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b8b1663a10486d" /><Relationship Type="http://schemas.openxmlformats.org/officeDocument/2006/relationships/notesMaster" Target="/ppt/notesMasters/notesMaster1.xml" Id="Rc55ced8eebe340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e2a1a03cd443b9" /><Relationship Type="http://schemas.openxmlformats.org/officeDocument/2006/relationships/notesMaster" Target="/ppt/notesMasters/notesMaster1.xml" Id="R8551f8c2dbbe45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9da2cd73aa4010" /><Relationship Type="http://schemas.openxmlformats.org/officeDocument/2006/relationships/notesMaster" Target="/ppt/notesMasters/notesMaster1.xml" Id="Rcd5cbcc157dd41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04ecd9f4ed4ee6" /><Relationship Type="http://schemas.openxmlformats.org/officeDocument/2006/relationships/notesMaster" Target="/ppt/notesMasters/notesMaster1.xml" Id="R1295e9718b784e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e1f7e53b0d4030" /><Relationship Type="http://schemas.openxmlformats.org/officeDocument/2006/relationships/notesMaster" Target="/ppt/notesMasters/notesMaster1.xml" Id="Rc95f0ec900704f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3abf9392954f7a" /><Relationship Type="http://schemas.openxmlformats.org/officeDocument/2006/relationships/notesMaster" Target="/ppt/notesMasters/notesMaster1.xml" Id="Rb7a95efb1f4346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7956793c994c0a" /><Relationship Type="http://schemas.openxmlformats.org/officeDocument/2006/relationships/notesMaster" Target="/ppt/notesMasters/notesMaster1.xml" Id="Re8ae212dbc064a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87c0a7c4ad470b" /><Relationship Type="http://schemas.openxmlformats.org/officeDocument/2006/relationships/notesMaster" Target="/ppt/notesMasters/notesMaster1.xml" Id="R3a818a581e054b5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04b590a88e4723" /><Relationship Type="http://schemas.openxmlformats.org/officeDocument/2006/relationships/notesMaster" Target="/ppt/notesMasters/notesMaster1.xml" Id="R8e7c76b947ac43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nhận diện ứng dụng từ public/icons/app-icon-512.png. Nội dung tính năng đối chiếu PROJECT_MAP.md và mã nguồn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hệ quả là tổng hợp vấn đề vận hành được mô tả trong yêu cầu thương mại hóa. Đây là framing bán hàng, không phải số liệu khảo sát thị trường.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src/lib/employment.ts, src/lib/recruiters.ts, src/lib/staff-log.ts, src/lib/salary.ts và PROJECT_MAP.md.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PROJECT_MAP.md; src/routes/_authenticated/admin/workforce.tsx; src/routes/_authenticated/admin/imports.tsx; src/lib/salary.ts; src/lib/uid-counter.ts; src/components/admin/AccountActivityStats.tsx.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tổng hợp lợi ích định tính từ các luồng tính năng hiện có. Không gắn số liệu năng suất chưa được đo tại khách hàng.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dashboard nhân lực và các component workforce / approval / hour-stats trong PROJECT_MAP.md.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đề xuất giá tham khảo theo yêu cầu người dùng, không phải bảng giá đã được phê duyệt. Hạn mức minh họa: lịch sử đi làm, tài khoản staff, đối tác và nhà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Biểu đồ không phải số liệu khách hàng. Giả định minh họa: 10 giờ đối soát giảm mỗi tháng x 120.000 đ/giờ = 1,2 triệu đ; các gói lớn dùng giả định thời gian tiết kiệm cao hơn để minh họa logic định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Lộ trình là đề xuất triển khai thương mại, không phải tính năng đã có sẵn trong ứng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CTA cho buổi bán hàng. Giá và pilot cần được phê duyệt trước khi công bố chính thức.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b711b43aa34e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7b1be6d9934ca7" /><Relationship Type="http://schemas.openxmlformats.org/officeDocument/2006/relationships/slideLayout" Target="/ppt/slideLayouts/slideLayout1.xml" Id="R1698d7a67db14f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98d7a67db14f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f3e5063259423a" /><Relationship Type="http://schemas.openxmlformats.org/officeDocument/2006/relationships/image" Target="/ppt/media/image.png" Id="Rd47f7b74c98b4b35" /><Relationship Type="http://schemas.openxmlformats.org/officeDocument/2006/relationships/notesSlide" Target="/ppt/notesSlides/notesSlide1.xml" Id="R8f422488e7914c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69ac42db1d4343" /><Relationship Type="http://schemas.openxmlformats.org/officeDocument/2006/relationships/notesSlide" Target="/ppt/notesSlides/notesSlide2.xml" Id="R1baf2085a9b34e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04d8f8867b467f" /><Relationship Type="http://schemas.openxmlformats.org/officeDocument/2006/relationships/notesSlide" Target="/ppt/notesSlides/notesSlide3.xml" Id="Ra094012f614648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5d264a15324c99" /><Relationship Type="http://schemas.openxmlformats.org/officeDocument/2006/relationships/notesSlide" Target="/ppt/notesSlides/notesSlide4.xml" Id="R8eda33b7a9c344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8afef19e7a040f6" /><Relationship Type="http://schemas.openxmlformats.org/officeDocument/2006/relationships/notesSlide" Target="/ppt/notesSlides/notesSlide5.xml" Id="Rc111223050fd4c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357cf93453043e5" /><Relationship Type="http://schemas.openxmlformats.org/officeDocument/2006/relationships/notesSlide" Target="/ppt/notesSlides/notesSlide6.xml" Id="R5dab44be1f334b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06c31c34c5442f" /><Relationship Type="http://schemas.openxmlformats.org/officeDocument/2006/relationships/notesSlide" Target="/ppt/notesSlides/notesSlide7.xml" Id="R9a56cc2e1e2f4e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92af4eae5d34f2e" /><Relationship Type="http://schemas.openxmlformats.org/officeDocument/2006/relationships/chart" Target="/ppt/slides/charts/chart1.xml" Id="Re2ffced8454e4b8d" /><Relationship Type="http://schemas.openxmlformats.org/officeDocument/2006/relationships/notesSlide" Target="/ppt/notesSlides/notesSlide8.xml" Id="Raf62d4fa446842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3d56b2c63b40a2" /><Relationship Type="http://schemas.openxmlformats.org/officeDocument/2006/relationships/notesSlide" Target="/ppt/notesSlides/notesSlide9.xml" Id="Rf6e80aab22c746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cbe34eb8074056" /><Relationship Type="http://schemas.openxmlformats.org/officeDocument/2006/relationships/notesSlide" Target="/ppt/notesSlides/notesSlide10.xml" Id="R4ffadbb212d24b5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Giá gói (triệu đ)</c:v>
          </c:tx>
          <c:spPr>
            <a:solidFill xmlns:a="http://schemas.openxmlformats.org/drawingml/2006/main">
              <a:srgbClr val="0B2538"/>
            </a:solidFill>
          </c:spPr>
          <c:cat>
            <c:strRef>
              <c:f>'Chart Data'!$A$2:$A$5</c:f>
              <c:strCache>
                <c:ptCount val="4"/>
                <c:pt idx="0">
                  <c:v>Khởi động</c:v>
                </c:pt>
                <c:pt idx="1">
                  <c:v>Tăng trưởng</c:v>
                </c:pt>
                <c:pt idx="2">
                  <c:v>Chuyên nghiệp</c:v>
                </c:pt>
                <c:pt idx="3">
                  <c:v>Doanh nghiệp</c:v>
                </c:pt>
              </c:strCache>
            </c:strRef>
          </c:cat>
          <c:val>
            <c:numRef>
              <c:f>'Chart Data'!$B$2:$B$5</c:f>
              <c:numCache>
                <c:formatCode>0.0</c:formatCode>
                <c:ptCount val="4"/>
                <c:pt idx="0">
                  <c:v>0.5</c:v>
                </c:pt>
                <c:pt idx="1">
                  <c:v>1.5</c:v>
                </c:pt>
                <c:pt idx="2">
                  <c:v>3</c:v>
                </c:pt>
                <c:pt idx="3">
                  <c:v>5</c:v>
                </c:pt>
              </c:numCache>
            </c:numRef>
          </c:val>
        </c:ser>
        <c:ser>
          <c:idx val="1"/>
          <c:order val="1"/>
          <c:tx>
            <c:v>Giá trị thời gian (triệu đ)</c:v>
          </c:tx>
          <c:spPr>
            <a:solidFill xmlns:a="http://schemas.openxmlformats.org/drawingml/2006/main">
              <a:srgbClr val="0F8B8D"/>
            </a:solidFill>
          </c:spPr>
          <c:cat>
            <c:strRef>
              <c:f>'Chart Data'!$C$2:$C$5</c:f>
              <c:strCache>
                <c:ptCount val="4"/>
                <c:pt idx="0">
                  <c:v>Khởi động</c:v>
                </c:pt>
                <c:pt idx="1">
                  <c:v>Tăng trưởng</c:v>
                </c:pt>
                <c:pt idx="2">
                  <c:v>Chuyên nghiệp</c:v>
                </c:pt>
                <c:pt idx="3">
                  <c:v>Doanh nghiệp</c:v>
                </c:pt>
              </c:strCache>
            </c:strRef>
          </c:cat>
          <c:val>
            <c:numRef>
              <c:f>'Chart Data'!$D$2:$D$5</c:f>
              <c:numCache>
                <c:formatCode>0.0</c:formatCode>
                <c:ptCount val="4"/>
                <c:pt idx="0">
                  <c:v>1.2</c:v>
                </c:pt>
                <c:pt idx="1">
                  <c:v>3.2</c:v>
                </c:pt>
                <c:pt idx="2">
                  <c:v>5.8</c:v>
                </c:pt>
                <c:pt idx="3">
                  <c:v>9.5</c:v>
                </c:pt>
              </c:numCache>
            </c:numRef>
          </c:val>
        </c:ser>
        <c:dLbls>
          <c:txPr>
            <a:bodyPr xmlns:a="http://schemas.openxmlformats.org/drawingml/2006/main" anchorCtr="1"/>
            <a:lstStyle xmlns:a="http://schemas.openxmlformats.org/drawingml/2006/main"/>
            <a:p xmlns:a="http://schemas.openxmlformats.org/drawingml/2006/main">
              <a:pPr>
                <a:defRPr sz="900" b="1">
                  <a:solidFill>
                    <a:srgbClr val="12212B"/>
                  </a:solidFill>
                  <a:latin typeface="Arial"/>
                  <a:ea typeface="Arial"/>
                  <a:cs typeface="Aria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06D"/>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8E5E5"/>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Triệu đồng / tháng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06D"/>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52606D"/>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253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C63E4D0-C7F4-40A0-98E0-2E18D450E30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F8B8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62C87F-7C3B-4EEA-949F-385D50BCD636}"/>
              </a:ext>
            </a:extLst>
          </p:cNvPr>
          <p:cNvSpPr>
            <a:spLocks xmlns:a="http://schemas.openxmlformats.org/drawingml/2006/main" noGrp="1"/>
          </p:cNvSpPr>
          <p:nvPr/>
        </p:nvSpPr>
        <p:spPr>
          <a:xfrm xmlns:a="http://schemas.openxmlformats.org/drawingml/2006/main">
            <a:off x="8667750" y="0"/>
            <a:ext cx="3524250" cy="6858000"/>
          </a:xfrm>
          <a:prstGeom xmlns:a="http://schemas.openxmlformats.org/drawingml/2006/main" prst="rect">
            <a:avLst/>
          </a:prstGeom>
          <a:solidFill xmlns:a="http://schemas.openxmlformats.org/drawingml/2006/main">
            <a:srgbClr val="0F8B8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F00AE1C-D9D8-435F-AE70-7A72303AD34A}"/>
              </a:ext>
            </a:extLst>
          </p:cNvPr>
          <p:cNvSpPr>
            <a:spLocks xmlns:a="http://schemas.openxmlformats.org/drawingml/2006/main" noGrp="1"/>
          </p:cNvSpPr>
          <p:nvPr/>
        </p:nvSpPr>
        <p:spPr>
          <a:xfrm xmlns:a="http://schemas.openxmlformats.org/drawingml/2006/main">
            <a:off x="9182100" y="819150"/>
            <a:ext cx="2152650" cy="2152650"/>
          </a:xfrm>
          <a:prstGeom xmlns:a="http://schemas.openxmlformats.org/drawingml/2006/main" prst="roundRect">
            <a:avLst>
              <a:gd name="adj" fmla="val 15044"/>
            </a:avLst>
          </a:prstGeom>
          <a:solidFill xmlns:a="http://schemas.openxmlformats.org/drawingml/2006/main">
            <a:srgbClr val="FFFFFF"/>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47f7b74c98b4b35"/>
          <a:stretch xmlns:a="http://schemas.openxmlformats.org/drawingml/2006/main"/>
        </p:blipFill>
        <p:spPr>
          <a:xfrm xmlns:a="http://schemas.openxmlformats.org/drawingml/2006/main">
            <a:off x="9525000" y="1162050"/>
            <a:ext cx="1466850" cy="14668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81A4CDB-F4E0-49BD-8EFC-7937A9E9C79A}"/>
              </a:ext>
            </a:extLst>
          </p:cNvPr>
          <p:cNvSpPr>
            <a:spLocks xmlns:a="http://schemas.openxmlformats.org/drawingml/2006/main" noGrp="1"/>
          </p:cNvSpPr>
          <p:nvPr/>
        </p:nvSpPr>
        <p:spPr>
          <a:xfrm xmlns:a="http://schemas.openxmlformats.org/drawingml/2006/main">
            <a:off x="857250" y="1371600"/>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Tuyển dụng 4.0</a:t>
            </a:r>
          </a:p>
        </p:txBody>
      </p:sp>
      <p:sp>
        <p:nvSpPr>
          <p:cNvPr id="6" name="">
            <a:extLst xmlns:a="http://schemas.openxmlformats.org/drawingml/2006/main">
              <a:ext uri="{FF2B5EF4-FFF2-40B4-BE49-F238E27FC236}">
                <a16:creationId xmlns:a16="http://schemas.microsoft.com/office/drawing/2014/main" id="{818F93B8-ABB5-4B94-B84A-6C06D38F35C8}"/>
              </a:ext>
            </a:extLst>
          </p:cNvPr>
          <p:cNvSpPr>
            <a:spLocks xmlns:a="http://schemas.openxmlformats.org/drawingml/2006/main" noGrp="1"/>
          </p:cNvSpPr>
          <p:nvPr/>
        </p:nvSpPr>
        <p:spPr>
          <a:xfrm xmlns:a="http://schemas.openxmlformats.org/drawingml/2006/main">
            <a:off x="876300" y="2324100"/>
            <a:ext cx="666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100" b="0">
                <a:solidFill>
                  <a:srgbClr val="D9F5F3"/>
                </a:solidFill>
                <a:latin typeface="Arial"/>
                <a:ea typeface="Arial"/>
                <a:cs typeface="Arial"/>
              </a:defRPr>
            </a:pPr>
            <a:r>
              <a:rPr sz="2100" b="0">
                <a:solidFill>
                  <a:srgbClr val="D9F5F3"/>
                </a:solidFill>
                <a:latin typeface="Arial"/>
                <a:ea typeface="Arial"/>
                <a:cs typeface="Arial"/>
              </a:rPr>
              <a:t>Từ file Excel rời rạc đến một nguồn dữ liệu điều hành thống nhất</a:t>
            </a:r>
          </a:p>
        </p:txBody>
      </p:sp>
      <p:sp>
        <p:nvSpPr>
          <p:cNvPr id="7" name="">
            <a:extLst xmlns:a="http://schemas.openxmlformats.org/drawingml/2006/main">
              <a:ext uri="{FF2B5EF4-FFF2-40B4-BE49-F238E27FC236}">
                <a16:creationId xmlns:a16="http://schemas.microsoft.com/office/drawing/2014/main" id="{E58D76FE-E84B-4C1E-8BDA-C6073ECDCB1E}"/>
              </a:ext>
            </a:extLst>
          </p:cNvPr>
          <p:cNvSpPr>
            <a:spLocks xmlns:a="http://schemas.openxmlformats.org/drawingml/2006/main" noGrp="1"/>
          </p:cNvSpPr>
          <p:nvPr/>
        </p:nvSpPr>
        <p:spPr>
          <a:xfrm xmlns:a="http://schemas.openxmlformats.org/drawingml/2006/main">
            <a:off x="876300" y="3600450"/>
            <a:ext cx="2476500" cy="4000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17E1E5D-F50A-426E-A557-3CA6E217549E}"/>
              </a:ext>
            </a:extLst>
          </p:cNvPr>
          <p:cNvSpPr>
            <a:spLocks xmlns:a="http://schemas.openxmlformats.org/drawingml/2006/main" noGrp="1"/>
          </p:cNvSpPr>
          <p:nvPr/>
        </p:nvSpPr>
        <p:spPr>
          <a:xfrm xmlns:a="http://schemas.openxmlformats.org/drawingml/2006/main">
            <a:off x="1066800" y="36957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050" b="1">
                <a:solidFill>
                  <a:srgbClr val="0B2538"/>
                </a:solidFill>
                <a:latin typeface="Arial"/>
                <a:ea typeface="Arial"/>
                <a:cs typeface="Arial"/>
              </a:defRPr>
            </a:pPr>
            <a:r>
              <a:rPr sz="1050" b="1">
                <a:solidFill>
                  <a:srgbClr val="0B2538"/>
                </a:solidFill>
                <a:latin typeface="Arial"/>
                <a:ea typeface="Arial"/>
                <a:cs typeface="Arial"/>
              </a:rPr>
              <a:t>ĐỀ XUẤT THƯƠNG MẠI HÓA</a:t>
            </a:r>
          </a:p>
        </p:txBody>
      </p:sp>
      <p:sp>
        <p:nvSpPr>
          <p:cNvPr id="9" name="">
            <a:extLst xmlns:a="http://schemas.openxmlformats.org/drawingml/2006/main">
              <a:ext uri="{FF2B5EF4-FFF2-40B4-BE49-F238E27FC236}">
                <a16:creationId xmlns:a16="http://schemas.microsoft.com/office/drawing/2014/main" id="{522FC8BE-CC54-4C34-A007-B3C589B3C19D}"/>
              </a:ext>
            </a:extLst>
          </p:cNvPr>
          <p:cNvSpPr>
            <a:spLocks xmlns:a="http://schemas.openxmlformats.org/drawingml/2006/main" noGrp="1"/>
          </p:cNvSpPr>
          <p:nvPr/>
        </p:nvSpPr>
        <p:spPr>
          <a:xfrm xmlns:a="http://schemas.openxmlformats.org/drawingml/2006/main">
            <a:off x="876300" y="5334000"/>
            <a:ext cx="704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B7D1D3"/>
                </a:solidFill>
                <a:latin typeface="Arial"/>
                <a:ea typeface="Arial"/>
                <a:cs typeface="Arial"/>
              </a:defRPr>
            </a:pPr>
            <a:r>
              <a:rPr sz="1350" b="0">
                <a:solidFill>
                  <a:srgbClr val="B7D1D3"/>
                </a:solidFill>
                <a:latin typeface="Arial"/>
                <a:ea typeface="Arial"/>
                <a:cs typeface="Arial"/>
              </a:rPr>
              <a:t>Dành cho giám đốc, quản trị nhân sự và đội ngũ vận hành nhà máy</a:t>
            </a:r>
          </a:p>
        </p:txBody>
      </p:sp>
      <p:sp>
        <p:nvSpPr>
          <p:cNvPr id="10" name="">
            <a:extLst xmlns:a="http://schemas.openxmlformats.org/drawingml/2006/main">
              <a:ext uri="{FF2B5EF4-FFF2-40B4-BE49-F238E27FC236}">
                <a16:creationId xmlns:a16="http://schemas.microsoft.com/office/drawing/2014/main" id="{99C14D4A-EF68-4496-A43F-CBEE58796330}"/>
              </a:ext>
            </a:extLst>
          </p:cNvPr>
          <p:cNvSpPr>
            <a:spLocks xmlns:a="http://schemas.openxmlformats.org/drawingml/2006/main" noGrp="1"/>
          </p:cNvSpPr>
          <p:nvPr/>
        </p:nvSpPr>
        <p:spPr>
          <a:xfrm xmlns:a="http://schemas.openxmlformats.org/drawingml/2006/main">
            <a:off x="876300" y="59626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0">
                <a:solidFill>
                  <a:srgbClr val="B7D1D3"/>
                </a:solidFill>
                <a:latin typeface="Arial"/>
                <a:ea typeface="Arial"/>
                <a:cs typeface="Arial"/>
              </a:defRPr>
            </a:pPr>
            <a:r>
              <a:rPr sz="1050" b="0">
                <a:solidFill>
                  <a:srgbClr val="B7D1D3"/>
                </a:solidFill>
                <a:latin typeface="Arial"/>
                <a:ea typeface="Arial"/>
                <a:cs typeface="Arial"/>
              </a:rPr>
              <a:t>04.09.2026</a:t>
            </a:r>
          </a:p>
        </p:txBody>
      </p:sp>
    </p:spTree>
    <p:extLst>
      <p:ext uri="{BB962C8B-B14F-4D97-AF65-F5344CB8AC3E}">
        <p14:creationId xmlns:p14="http://schemas.microsoft.com/office/powerpoint/2010/main" val="275660147"/>
      </p:ext>
    </p:extLst>
  </p:cSld>
</p:sld>
</file>

<file path=ppt/slides/slide2.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3F93C38-1464-460C-9023-B79E267F4E72}"/>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BỐI CẢNH VẬN HÀNH</a:t>
            </a:r>
          </a:p>
        </p:txBody>
      </p:sp>
      <p:sp>
        <p:nvSpPr>
          <p:cNvPr id="2" name="">
            <a:extLst xmlns:a="http://schemas.openxmlformats.org/drawingml/2006/main">
              <a:ext uri="{FF2B5EF4-FFF2-40B4-BE49-F238E27FC236}">
                <a16:creationId xmlns:a16="http://schemas.microsoft.com/office/drawing/2014/main" id="{139997DF-B4AA-4BCA-BD04-9FEF9EC8F321}"/>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Excel tạo ra khoảng trống thông tin</a:t>
            </a:r>
          </a:p>
        </p:txBody>
      </p:sp>
      <p:sp>
        <p:nvSpPr>
          <p:cNvPr id="3" name="">
            <a:extLst xmlns:a="http://schemas.openxmlformats.org/drawingml/2006/main">
              <a:ext uri="{FF2B5EF4-FFF2-40B4-BE49-F238E27FC236}">
                <a16:creationId xmlns:a16="http://schemas.microsoft.com/office/drawing/2014/main" id="{AE60B9F0-D253-4BC0-9BFC-ADF106DC4D1E}"/>
              </a:ext>
            </a:extLst>
          </p:cNvPr>
          <p:cNvSpPr>
            <a:spLocks xmlns:a="http://schemas.openxmlformats.org/drawingml/2006/main" noGrp="1"/>
          </p:cNvSpPr>
          <p:nvPr/>
        </p:nvSpPr>
        <p:spPr>
          <a:xfrm xmlns:a="http://schemas.openxmlformats.org/drawingml/2006/main">
            <a:off x="685800" y="1295400"/>
            <a:ext cx="8096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0">
                <a:solidFill>
                  <a:srgbClr val="52606D"/>
                </a:solidFill>
                <a:latin typeface="Arial"/>
                <a:ea typeface="Arial"/>
                <a:cs typeface="Arial"/>
              </a:defRPr>
            </a:pPr>
            <a:r>
              <a:rPr sz="1725" b="0">
                <a:solidFill>
                  <a:srgbClr val="52606D"/>
                </a:solidFill>
                <a:latin typeface="Arial"/>
                <a:ea typeface="Arial"/>
                <a:cs typeface="Arial"/>
              </a:rPr>
              <a:t>Khi mỗi bộ phận giữ một file, người ra quyết định phải ghép dữ liệu bằng tay trước khi hiểu chuyện gì đang xảy ra.</a:t>
            </a:r>
          </a:p>
        </p:txBody>
      </p:sp>
      <p:sp>
        <p:nvSpPr>
          <p:cNvPr id="4" name="">
            <a:extLst xmlns:a="http://schemas.openxmlformats.org/drawingml/2006/main">
              <a:ext uri="{FF2B5EF4-FFF2-40B4-BE49-F238E27FC236}">
                <a16:creationId xmlns:a16="http://schemas.microsoft.com/office/drawing/2014/main" id="{E737AF97-94C8-4774-9D7A-FDB2C9BFA6DF}"/>
              </a:ext>
            </a:extLst>
          </p:cNvPr>
          <p:cNvSpPr>
            <a:spLocks xmlns:a="http://schemas.openxmlformats.org/drawingml/2006/main" noGrp="1"/>
          </p:cNvSpPr>
          <p:nvPr/>
        </p:nvSpPr>
        <p:spPr>
          <a:xfrm xmlns:a="http://schemas.openxmlformats.org/drawingml/2006/main">
            <a:off x="685800" y="2152650"/>
            <a:ext cx="4953000" cy="323850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D8E5E5"/>
            </a:solidFill>
          </a:ln>
        </p:spPr>
      </p:sp>
      <p:sp>
        <p:nvSpPr>
          <p:cNvPr id="5" name="">
            <a:extLst xmlns:a="http://schemas.openxmlformats.org/drawingml/2006/main">
              <a:ext uri="{FF2B5EF4-FFF2-40B4-BE49-F238E27FC236}">
                <a16:creationId xmlns:a16="http://schemas.microsoft.com/office/drawing/2014/main" id="{6847BD13-C33F-4FD8-8C8B-8CDC6B7D726E}"/>
              </a:ext>
            </a:extLst>
          </p:cNvPr>
          <p:cNvSpPr>
            <a:spLocks xmlns:a="http://schemas.openxmlformats.org/drawingml/2006/main" noGrp="1"/>
          </p:cNvSpPr>
          <p:nvPr/>
        </p:nvSpPr>
        <p:spPr>
          <a:xfrm xmlns:a="http://schemas.openxmlformats.org/drawingml/2006/main">
            <a:off x="990600" y="24288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5 hệ quả thường gặp</a:t>
            </a:r>
          </a:p>
        </p:txBody>
      </p:sp>
      <p:sp>
        <p:nvSpPr>
          <p:cNvPr id="6" name="">
            <a:extLst xmlns:a="http://schemas.openxmlformats.org/drawingml/2006/main">
              <a:ext uri="{FF2B5EF4-FFF2-40B4-BE49-F238E27FC236}">
                <a16:creationId xmlns:a16="http://schemas.microsoft.com/office/drawing/2014/main" id="{34CA37AD-E0BD-42F7-922F-7BF682A1071F}"/>
              </a:ext>
            </a:extLst>
          </p:cNvPr>
          <p:cNvSpPr>
            <a:spLocks xmlns:a="http://schemas.openxmlformats.org/drawingml/2006/main" noGrp="1"/>
          </p:cNvSpPr>
          <p:nvPr/>
        </p:nvSpPr>
        <p:spPr>
          <a:xfrm xmlns:a="http://schemas.openxmlformats.org/drawingml/2006/main">
            <a:off x="990600" y="297180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209F810-CA94-4FC8-8C25-2A61628B93D9}"/>
              </a:ext>
            </a:extLst>
          </p:cNvPr>
          <p:cNvSpPr>
            <a:spLocks xmlns:a="http://schemas.openxmlformats.org/drawingml/2006/main" noGrp="1"/>
          </p:cNvSpPr>
          <p:nvPr/>
        </p:nvSpPr>
        <p:spPr>
          <a:xfrm xmlns:a="http://schemas.openxmlformats.org/drawingml/2006/main">
            <a:off x="1219200" y="2905125"/>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Sai khác tên, mã NV, nhà máy giữa các file</a:t>
            </a:r>
          </a:p>
        </p:txBody>
      </p:sp>
      <p:sp>
        <p:nvSpPr>
          <p:cNvPr id="8" name="">
            <a:extLst xmlns:a="http://schemas.openxmlformats.org/drawingml/2006/main">
              <a:ext uri="{FF2B5EF4-FFF2-40B4-BE49-F238E27FC236}">
                <a16:creationId xmlns:a16="http://schemas.microsoft.com/office/drawing/2014/main" id="{F580EBCA-A4FE-4F09-A774-AB68D2680E06}"/>
              </a:ext>
            </a:extLst>
          </p:cNvPr>
          <p:cNvSpPr>
            <a:spLocks xmlns:a="http://schemas.openxmlformats.org/drawingml/2006/main" noGrp="1"/>
          </p:cNvSpPr>
          <p:nvPr/>
        </p:nvSpPr>
        <p:spPr>
          <a:xfrm xmlns:a="http://schemas.openxmlformats.org/drawingml/2006/main">
            <a:off x="990600" y="34194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8826B07-7DA7-477D-98A4-5D4594FD97DD}"/>
              </a:ext>
            </a:extLst>
          </p:cNvPr>
          <p:cNvSpPr>
            <a:spLocks xmlns:a="http://schemas.openxmlformats.org/drawingml/2006/main" noGrp="1"/>
          </p:cNvSpPr>
          <p:nvPr/>
        </p:nvSpPr>
        <p:spPr>
          <a:xfrm xmlns:a="http://schemas.openxmlformats.org/drawingml/2006/main">
            <a:off x="1219200" y="3352800"/>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Không biết bản ghi nào là mới nhất</a:t>
            </a:r>
          </a:p>
        </p:txBody>
      </p:sp>
      <p:sp>
        <p:nvSpPr>
          <p:cNvPr id="10" name="">
            <a:extLst xmlns:a="http://schemas.openxmlformats.org/drawingml/2006/main">
              <a:ext uri="{FF2B5EF4-FFF2-40B4-BE49-F238E27FC236}">
                <a16:creationId xmlns:a16="http://schemas.microsoft.com/office/drawing/2014/main" id="{3B0841B4-5924-4FD8-9F22-DFFB4310C5D1}"/>
              </a:ext>
            </a:extLst>
          </p:cNvPr>
          <p:cNvSpPr>
            <a:spLocks xmlns:a="http://schemas.openxmlformats.org/drawingml/2006/main" noGrp="1"/>
          </p:cNvSpPr>
          <p:nvPr/>
        </p:nvSpPr>
        <p:spPr>
          <a:xfrm xmlns:a="http://schemas.openxmlformats.org/drawingml/2006/main">
            <a:off x="990600" y="386715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4017A56-AB9D-4179-A6EA-ED25E299CD63}"/>
              </a:ext>
            </a:extLst>
          </p:cNvPr>
          <p:cNvSpPr>
            <a:spLocks xmlns:a="http://schemas.openxmlformats.org/drawingml/2006/main" noGrp="1"/>
          </p:cNvSpPr>
          <p:nvPr/>
        </p:nvSpPr>
        <p:spPr>
          <a:xfrm xmlns:a="http://schemas.openxmlformats.org/drawingml/2006/main">
            <a:off x="1219200" y="3800475"/>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Đối soát tuyển nội bộ và đối tác chậm</a:t>
            </a:r>
          </a:p>
        </p:txBody>
      </p:sp>
      <p:sp>
        <p:nvSpPr>
          <p:cNvPr id="12" name="">
            <a:extLst xmlns:a="http://schemas.openxmlformats.org/drawingml/2006/main">
              <a:ext uri="{FF2B5EF4-FFF2-40B4-BE49-F238E27FC236}">
                <a16:creationId xmlns:a16="http://schemas.microsoft.com/office/drawing/2014/main" id="{ED14F180-36E8-48A2-B277-5743404449EE}"/>
              </a:ext>
            </a:extLst>
          </p:cNvPr>
          <p:cNvSpPr>
            <a:spLocks xmlns:a="http://schemas.openxmlformats.org/drawingml/2006/main" noGrp="1"/>
          </p:cNvSpPr>
          <p:nvPr/>
        </p:nvSpPr>
        <p:spPr>
          <a:xfrm xmlns:a="http://schemas.openxmlformats.org/drawingml/2006/main">
            <a:off x="990600" y="43148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69E741D-96EB-4B1E-AC9A-0869278EAA6F}"/>
              </a:ext>
            </a:extLst>
          </p:cNvPr>
          <p:cNvSpPr>
            <a:spLocks xmlns:a="http://schemas.openxmlformats.org/drawingml/2006/main" noGrp="1"/>
          </p:cNvSpPr>
          <p:nvPr/>
        </p:nvSpPr>
        <p:spPr>
          <a:xfrm xmlns:a="http://schemas.openxmlformats.org/drawingml/2006/main">
            <a:off x="1219200" y="4248150"/>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Phê duyệt và trách nhiệm xử lý bị đứt quãng</a:t>
            </a:r>
          </a:p>
        </p:txBody>
      </p:sp>
      <p:sp>
        <p:nvSpPr>
          <p:cNvPr id="14" name="">
            <a:extLst xmlns:a="http://schemas.openxmlformats.org/drawingml/2006/main">
              <a:ext uri="{FF2B5EF4-FFF2-40B4-BE49-F238E27FC236}">
                <a16:creationId xmlns:a16="http://schemas.microsoft.com/office/drawing/2014/main" id="{61C27354-F6EC-49D9-930E-CC8A58679D39}"/>
              </a:ext>
            </a:extLst>
          </p:cNvPr>
          <p:cNvSpPr>
            <a:spLocks xmlns:a="http://schemas.openxmlformats.org/drawingml/2006/main" noGrp="1"/>
          </p:cNvSpPr>
          <p:nvPr/>
        </p:nvSpPr>
        <p:spPr>
          <a:xfrm xmlns:a="http://schemas.openxmlformats.org/drawingml/2006/main">
            <a:off x="990600" y="476250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348F7D1-68F4-4110-8EA7-994C8C5AD8EE}"/>
              </a:ext>
            </a:extLst>
          </p:cNvPr>
          <p:cNvSpPr>
            <a:spLocks xmlns:a="http://schemas.openxmlformats.org/drawingml/2006/main" noGrp="1"/>
          </p:cNvSpPr>
          <p:nvPr/>
        </p:nvSpPr>
        <p:spPr>
          <a:xfrm xmlns:a="http://schemas.openxmlformats.org/drawingml/2006/main">
            <a:off x="1219200" y="4695825"/>
            <a:ext cx="4057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12212B"/>
                </a:solidFill>
                <a:latin typeface="Arial"/>
                <a:ea typeface="Arial"/>
                <a:cs typeface="Arial"/>
              </a:defRPr>
            </a:pPr>
            <a:r>
              <a:rPr sz="1350" b="0">
                <a:solidFill>
                  <a:srgbClr val="12212B"/>
                </a:solidFill>
                <a:latin typeface="Arial"/>
                <a:ea typeface="Arial"/>
                <a:cs typeface="Arial"/>
              </a:rPr>
              <a:t>Báo cáo lãnh đạo phụ thuộc một người tổng hợp</a:t>
            </a:r>
          </a:p>
        </p:txBody>
      </p:sp>
      <p:sp>
        <p:nvSpPr>
          <p:cNvPr id="16" name="">
            <a:extLst xmlns:a="http://schemas.openxmlformats.org/drawingml/2006/main">
              <a:ext uri="{FF2B5EF4-FFF2-40B4-BE49-F238E27FC236}">
                <a16:creationId xmlns:a16="http://schemas.microsoft.com/office/drawing/2014/main" id="{39856666-9FC1-4218-A3EB-5E14308C02C1}"/>
              </a:ext>
            </a:extLst>
          </p:cNvPr>
          <p:cNvSpPr>
            <a:spLocks xmlns:a="http://schemas.openxmlformats.org/drawingml/2006/main" noGrp="1"/>
          </p:cNvSpPr>
          <p:nvPr/>
        </p:nvSpPr>
        <p:spPr>
          <a:xfrm xmlns:a="http://schemas.openxmlformats.org/drawingml/2006/main">
            <a:off x="6286500" y="2152650"/>
            <a:ext cx="5219700" cy="3238500"/>
          </a:xfrm>
          <a:prstGeom xmlns:a="http://schemas.openxmlformats.org/drawingml/2006/main" prst="roundRect">
            <a:avLst>
              <a:gd name="adj" fmla="val 5882"/>
            </a:avLst>
          </a:prstGeom>
          <a:solidFill xmlns:a="http://schemas.openxmlformats.org/drawingml/2006/main">
            <a:srgbClr val="0B253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22B1659-89D0-4723-9AAA-0205D96EAB80}"/>
              </a:ext>
            </a:extLst>
          </p:cNvPr>
          <p:cNvSpPr>
            <a:spLocks xmlns:a="http://schemas.openxmlformats.org/drawingml/2006/main" noGrp="1"/>
          </p:cNvSpPr>
          <p:nvPr/>
        </p:nvSpPr>
        <p:spPr>
          <a:xfrm xmlns:a="http://schemas.openxmlformats.org/drawingml/2006/main">
            <a:off x="6667500" y="2428875"/>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Một vòng lặp thủ công</a:t>
            </a:r>
          </a:p>
        </p:txBody>
      </p:sp>
      <p:sp>
        <p:nvSpPr>
          <p:cNvPr id="18" name="">
            <a:extLst xmlns:a="http://schemas.openxmlformats.org/drawingml/2006/main">
              <a:ext uri="{FF2B5EF4-FFF2-40B4-BE49-F238E27FC236}">
                <a16:creationId xmlns:a16="http://schemas.microsoft.com/office/drawing/2014/main" id="{CAA1018E-1946-44F9-88C1-151A52660062}"/>
              </a:ext>
            </a:extLst>
          </p:cNvPr>
          <p:cNvSpPr>
            <a:spLocks xmlns:a="http://schemas.openxmlformats.org/drawingml/2006/main" noGrp="1"/>
          </p:cNvSpPr>
          <p:nvPr/>
        </p:nvSpPr>
        <p:spPr>
          <a:xfrm xmlns:a="http://schemas.openxmlformats.org/drawingml/2006/main">
            <a:off x="6667500" y="29718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19" name="">
            <a:extLst xmlns:a="http://schemas.openxmlformats.org/drawingml/2006/main">
              <a:ext uri="{FF2B5EF4-FFF2-40B4-BE49-F238E27FC236}">
                <a16:creationId xmlns:a16="http://schemas.microsoft.com/office/drawing/2014/main" id="{3D537C7E-3A1D-48DF-AE38-648468C7CAD9}"/>
              </a:ext>
            </a:extLst>
          </p:cNvPr>
          <p:cNvSpPr>
            <a:spLocks xmlns:a="http://schemas.openxmlformats.org/drawingml/2006/main" noGrp="1"/>
          </p:cNvSpPr>
          <p:nvPr/>
        </p:nvSpPr>
        <p:spPr>
          <a:xfrm xmlns:a="http://schemas.openxmlformats.org/drawingml/2006/main">
            <a:off x="6762750" y="30765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tuyển dụng</a:t>
            </a:r>
          </a:p>
        </p:txBody>
      </p:sp>
      <p:sp>
        <p:nvSpPr>
          <p:cNvPr id="20" name="">
            <a:extLst xmlns:a="http://schemas.openxmlformats.org/drawingml/2006/main">
              <a:ext uri="{FF2B5EF4-FFF2-40B4-BE49-F238E27FC236}">
                <a16:creationId xmlns:a16="http://schemas.microsoft.com/office/drawing/2014/main" id="{D3D84DA8-BC80-4F6B-9B86-D829BC6D5AEA}"/>
              </a:ext>
            </a:extLst>
          </p:cNvPr>
          <p:cNvSpPr>
            <a:spLocks xmlns:a="http://schemas.openxmlformats.org/drawingml/2006/main" noGrp="1"/>
          </p:cNvSpPr>
          <p:nvPr/>
        </p:nvSpPr>
        <p:spPr>
          <a:xfrm xmlns:a="http://schemas.openxmlformats.org/drawingml/2006/main">
            <a:off x="8620125" y="3048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5651A9DB-01C0-4E9B-B26E-692179A8D2D9}"/>
              </a:ext>
            </a:extLst>
          </p:cNvPr>
          <p:cNvSpPr>
            <a:spLocks xmlns:a="http://schemas.openxmlformats.org/drawingml/2006/main" noGrp="1"/>
          </p:cNvSpPr>
          <p:nvPr/>
        </p:nvSpPr>
        <p:spPr>
          <a:xfrm xmlns:a="http://schemas.openxmlformats.org/drawingml/2006/main">
            <a:off x="8905875" y="29718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22" name="">
            <a:extLst xmlns:a="http://schemas.openxmlformats.org/drawingml/2006/main">
              <a:ext uri="{FF2B5EF4-FFF2-40B4-BE49-F238E27FC236}">
                <a16:creationId xmlns:a16="http://schemas.microsoft.com/office/drawing/2014/main" id="{61402CC9-5B1C-4658-9715-65ED4186E38E}"/>
              </a:ext>
            </a:extLst>
          </p:cNvPr>
          <p:cNvSpPr>
            <a:spLocks xmlns:a="http://schemas.openxmlformats.org/drawingml/2006/main" noGrp="1"/>
          </p:cNvSpPr>
          <p:nvPr/>
        </p:nvSpPr>
        <p:spPr>
          <a:xfrm xmlns:a="http://schemas.openxmlformats.org/drawingml/2006/main">
            <a:off x="9001125" y="30765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NLĐ</a:t>
            </a:r>
          </a:p>
        </p:txBody>
      </p:sp>
      <p:sp>
        <p:nvSpPr>
          <p:cNvPr id="23" name="">
            <a:extLst xmlns:a="http://schemas.openxmlformats.org/drawingml/2006/main">
              <a:ext uri="{FF2B5EF4-FFF2-40B4-BE49-F238E27FC236}">
                <a16:creationId xmlns:a16="http://schemas.microsoft.com/office/drawing/2014/main" id="{A2F91FBB-D781-46A0-9DB1-83EA1708895C}"/>
              </a:ext>
            </a:extLst>
          </p:cNvPr>
          <p:cNvSpPr>
            <a:spLocks xmlns:a="http://schemas.openxmlformats.org/drawingml/2006/main" noGrp="1"/>
          </p:cNvSpPr>
          <p:nvPr/>
        </p:nvSpPr>
        <p:spPr>
          <a:xfrm xmlns:a="http://schemas.openxmlformats.org/drawingml/2006/main">
            <a:off x="10858500" y="30480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EFBCCE93-ADB5-4A6E-AAF4-00B340FED51B}"/>
              </a:ext>
            </a:extLst>
          </p:cNvPr>
          <p:cNvSpPr>
            <a:spLocks xmlns:a="http://schemas.openxmlformats.org/drawingml/2006/main" noGrp="1"/>
          </p:cNvSpPr>
          <p:nvPr/>
        </p:nvSpPr>
        <p:spPr>
          <a:xfrm xmlns:a="http://schemas.openxmlformats.org/drawingml/2006/main">
            <a:off x="6667500" y="36576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25" name="">
            <a:extLst xmlns:a="http://schemas.openxmlformats.org/drawingml/2006/main">
              <a:ext uri="{FF2B5EF4-FFF2-40B4-BE49-F238E27FC236}">
                <a16:creationId xmlns:a16="http://schemas.microsoft.com/office/drawing/2014/main" id="{77889B2B-4AA3-42F4-9B4B-0523BB3C15E2}"/>
              </a:ext>
            </a:extLst>
          </p:cNvPr>
          <p:cNvSpPr>
            <a:spLocks xmlns:a="http://schemas.openxmlformats.org/drawingml/2006/main" noGrp="1"/>
          </p:cNvSpPr>
          <p:nvPr/>
        </p:nvSpPr>
        <p:spPr>
          <a:xfrm xmlns:a="http://schemas.openxmlformats.org/drawingml/2006/main">
            <a:off x="6762750" y="37623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nhà máy</a:t>
            </a:r>
          </a:p>
        </p:txBody>
      </p:sp>
      <p:sp>
        <p:nvSpPr>
          <p:cNvPr id="26" name="">
            <a:extLst xmlns:a="http://schemas.openxmlformats.org/drawingml/2006/main">
              <a:ext uri="{FF2B5EF4-FFF2-40B4-BE49-F238E27FC236}">
                <a16:creationId xmlns:a16="http://schemas.microsoft.com/office/drawing/2014/main" id="{B7F40C6B-9515-4138-9F5A-2A3AAAB63474}"/>
              </a:ext>
            </a:extLst>
          </p:cNvPr>
          <p:cNvSpPr>
            <a:spLocks xmlns:a="http://schemas.openxmlformats.org/drawingml/2006/main" noGrp="1"/>
          </p:cNvSpPr>
          <p:nvPr/>
        </p:nvSpPr>
        <p:spPr>
          <a:xfrm xmlns:a="http://schemas.openxmlformats.org/drawingml/2006/main">
            <a:off x="8620125" y="37338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8B6E6942-34D5-49D6-B446-4CBCC11D494A}"/>
              </a:ext>
            </a:extLst>
          </p:cNvPr>
          <p:cNvSpPr>
            <a:spLocks xmlns:a="http://schemas.openxmlformats.org/drawingml/2006/main" noGrp="1"/>
          </p:cNvSpPr>
          <p:nvPr/>
        </p:nvSpPr>
        <p:spPr>
          <a:xfrm xmlns:a="http://schemas.openxmlformats.org/drawingml/2006/main">
            <a:off x="8905875" y="3657600"/>
            <a:ext cx="1905000" cy="400050"/>
          </a:xfrm>
          <a:prstGeom xmlns:a="http://schemas.openxmlformats.org/drawingml/2006/main" prst="roundRect">
            <a:avLst>
              <a:gd name="adj" fmla="val 28571"/>
            </a:avLst>
          </a:prstGeom>
          <a:solidFill xmlns:a="http://schemas.openxmlformats.org/drawingml/2006/main">
            <a:srgbClr val="1D4158"/>
          </a:solidFill>
          <a:ln xmlns:a="http://schemas.openxmlformats.org/drawingml/2006/main" w="9525">
            <a:solidFill>
              <a:srgbClr val="4E7485"/>
            </a:solidFill>
          </a:ln>
        </p:spPr>
      </p:sp>
      <p:sp>
        <p:nvSpPr>
          <p:cNvPr id="28" name="">
            <a:extLst xmlns:a="http://schemas.openxmlformats.org/drawingml/2006/main">
              <a:ext uri="{FF2B5EF4-FFF2-40B4-BE49-F238E27FC236}">
                <a16:creationId xmlns:a16="http://schemas.microsoft.com/office/drawing/2014/main" id="{9F2A59BA-1017-4B33-84C4-67D6B2D24B5C}"/>
              </a:ext>
            </a:extLst>
          </p:cNvPr>
          <p:cNvSpPr>
            <a:spLocks xmlns:a="http://schemas.openxmlformats.org/drawingml/2006/main" noGrp="1"/>
          </p:cNvSpPr>
          <p:nvPr/>
        </p:nvSpPr>
        <p:spPr>
          <a:xfrm xmlns:a="http://schemas.openxmlformats.org/drawingml/2006/main">
            <a:off x="9001125" y="37623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File công/lương</a:t>
            </a:r>
          </a:p>
        </p:txBody>
      </p:sp>
      <p:sp>
        <p:nvSpPr>
          <p:cNvPr id="29" name="">
            <a:extLst xmlns:a="http://schemas.openxmlformats.org/drawingml/2006/main">
              <a:ext uri="{FF2B5EF4-FFF2-40B4-BE49-F238E27FC236}">
                <a16:creationId xmlns:a16="http://schemas.microsoft.com/office/drawing/2014/main" id="{E26DEDA1-C349-40E5-BDDB-9B45BC0F70FB}"/>
              </a:ext>
            </a:extLst>
          </p:cNvPr>
          <p:cNvSpPr>
            <a:spLocks xmlns:a="http://schemas.openxmlformats.org/drawingml/2006/main" noGrp="1"/>
          </p:cNvSpPr>
          <p:nvPr/>
        </p:nvSpPr>
        <p:spPr>
          <a:xfrm xmlns:a="http://schemas.openxmlformats.org/drawingml/2006/main">
            <a:off x="10858500" y="3733800"/>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38BDF8"/>
                </a:solidFill>
                <a:latin typeface="Arial"/>
                <a:ea typeface="Arial"/>
                <a:cs typeface="Arial"/>
              </a:defRPr>
            </a:pPr>
            <a:r>
              <a:rPr sz="1500" b="1">
                <a:solidFill>
                  <a:srgbClr val="38BDF8"/>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6793CC19-7377-45F5-A6A4-0BA82DAFB63C}"/>
              </a:ext>
            </a:extLst>
          </p:cNvPr>
          <p:cNvSpPr>
            <a:spLocks xmlns:a="http://schemas.openxmlformats.org/drawingml/2006/main" noGrp="1"/>
          </p:cNvSpPr>
          <p:nvPr/>
        </p:nvSpPr>
        <p:spPr>
          <a:xfrm xmlns:a="http://schemas.openxmlformats.org/drawingml/2006/main">
            <a:off x="6667500" y="4343400"/>
            <a:ext cx="1905000" cy="400050"/>
          </a:xfrm>
          <a:prstGeom xmlns:a="http://schemas.openxmlformats.org/drawingml/2006/main" prst="roundRect">
            <a:avLst>
              <a:gd name="adj" fmla="val 28571"/>
            </a:avLst>
          </a:prstGeom>
          <a:solidFill xmlns:a="http://schemas.openxmlformats.org/drawingml/2006/main">
            <a:srgbClr val="F59E0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C164DD4-0BD2-4600-B2D8-76D06AE2E2D7}"/>
              </a:ext>
            </a:extLst>
          </p:cNvPr>
          <p:cNvSpPr>
            <a:spLocks xmlns:a="http://schemas.openxmlformats.org/drawingml/2006/main" noGrp="1"/>
          </p:cNvSpPr>
          <p:nvPr/>
        </p:nvSpPr>
        <p:spPr>
          <a:xfrm xmlns:a="http://schemas.openxmlformats.org/drawingml/2006/main">
            <a:off x="6762750" y="44481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0B2538"/>
                </a:solidFill>
                <a:latin typeface="Arial"/>
                <a:ea typeface="Arial"/>
                <a:cs typeface="Arial"/>
              </a:defRPr>
            </a:pPr>
            <a:r>
              <a:rPr sz="1125" b="1">
                <a:solidFill>
                  <a:srgbClr val="0B2538"/>
                </a:solidFill>
                <a:latin typeface="Arial"/>
                <a:ea typeface="Arial"/>
                <a:cs typeface="Arial"/>
              </a:rPr>
              <a:t>Báo cáo tổng hợp</a:t>
            </a:r>
          </a:p>
        </p:txBody>
      </p:sp>
      <p:sp>
        <p:nvSpPr>
          <p:cNvPr id="32" name="">
            <a:extLst xmlns:a="http://schemas.openxmlformats.org/drawingml/2006/main">
              <a:ext uri="{FF2B5EF4-FFF2-40B4-BE49-F238E27FC236}">
                <a16:creationId xmlns:a16="http://schemas.microsoft.com/office/drawing/2014/main" id="{C5EF13C7-BB6C-454D-B404-79369E7D989F}"/>
              </a:ext>
            </a:extLst>
          </p:cNvPr>
          <p:cNvSpPr>
            <a:spLocks xmlns:a="http://schemas.openxmlformats.org/drawingml/2006/main" noGrp="1"/>
          </p:cNvSpPr>
          <p:nvPr/>
        </p:nvSpPr>
        <p:spPr>
          <a:xfrm xmlns:a="http://schemas.openxmlformats.org/drawingml/2006/main">
            <a:off x="6667500" y="4762500"/>
            <a:ext cx="4095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D9F5F3"/>
                </a:solidFill>
                <a:latin typeface="Arial"/>
                <a:ea typeface="Arial"/>
                <a:cs typeface="Arial"/>
              </a:defRPr>
            </a:pPr>
            <a:r>
              <a:rPr sz="1425" b="0">
                <a:solidFill>
                  <a:srgbClr val="D9F5F3"/>
                </a:solidFill>
                <a:latin typeface="Arial"/>
                <a:ea typeface="Arial"/>
                <a:cs typeface="Arial"/>
              </a:rPr>
              <a:t>Mất thời gian không chỉ ở nhập liệu, mà ở việc xác định đâu là sự thật.</a:t>
            </a:r>
          </a:p>
        </p:txBody>
      </p:sp>
      <p:sp>
        <p:nvSpPr>
          <p:cNvPr id="33" name="">
            <a:extLst xmlns:a="http://schemas.openxmlformats.org/drawingml/2006/main">
              <a:ext uri="{FF2B5EF4-FFF2-40B4-BE49-F238E27FC236}">
                <a16:creationId xmlns:a16="http://schemas.microsoft.com/office/drawing/2014/main" id="{95F494B0-C784-4508-BBF5-D974E712D247}"/>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4" name="">
            <a:extLst xmlns:a="http://schemas.openxmlformats.org/drawingml/2006/main">
              <a:ext uri="{FF2B5EF4-FFF2-40B4-BE49-F238E27FC236}">
                <a16:creationId xmlns:a16="http://schemas.microsoft.com/office/drawing/2014/main" id="{47C06CAE-FE92-43A6-85A9-6BFD94308F5F}"/>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02</a:t>
            </a:r>
          </a:p>
        </p:txBody>
      </p:sp>
    </p:spTree>
    <p:extLst>
      <p:ext uri="{BB962C8B-B14F-4D97-AF65-F5344CB8AC3E}">
        <p14:creationId xmlns:p14="http://schemas.microsoft.com/office/powerpoint/2010/main" val="4380831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9111702-EC7A-4649-B1CA-43BD4B01468D}"/>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GIẢI PHÁP CỐT LÕI</a:t>
            </a:r>
          </a:p>
        </p:txBody>
      </p:sp>
      <p:sp>
        <p:nvSpPr>
          <p:cNvPr id="2" name="">
            <a:extLst xmlns:a="http://schemas.openxmlformats.org/drawingml/2006/main">
              <a:ext uri="{FF2B5EF4-FFF2-40B4-BE49-F238E27FC236}">
                <a16:creationId xmlns:a16="http://schemas.microsoft.com/office/drawing/2014/main" id="{33593846-C22C-4299-84E8-B2FE7F3EE845}"/>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Một hồ sơ, một nguồn dữ liệu</a:t>
            </a:r>
          </a:p>
        </p:txBody>
      </p:sp>
      <p:sp>
        <p:nvSpPr>
          <p:cNvPr id="3" name="">
            <a:extLst xmlns:a="http://schemas.openxmlformats.org/drawingml/2006/main">
              <a:ext uri="{FF2B5EF4-FFF2-40B4-BE49-F238E27FC236}">
                <a16:creationId xmlns:a16="http://schemas.microsoft.com/office/drawing/2014/main" id="{B3C25128-F28C-40B2-8120-707A9565ADBC}"/>
              </a:ext>
            </a:extLst>
          </p:cNvPr>
          <p:cNvSpPr>
            <a:spLocks xmlns:a="http://schemas.openxmlformats.org/drawingml/2006/main" noGrp="1"/>
          </p:cNvSpPr>
          <p:nvPr/>
        </p:nvSpPr>
        <p:spPr>
          <a:xfrm xmlns:a="http://schemas.openxmlformats.org/drawingml/2006/main">
            <a:off x="685800" y="129540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0">
                <a:solidFill>
                  <a:srgbClr val="52606D"/>
                </a:solidFill>
                <a:latin typeface="Arial"/>
                <a:ea typeface="Arial"/>
                <a:cs typeface="Arial"/>
              </a:defRPr>
            </a:pPr>
            <a:r>
              <a:rPr sz="1725" b="0">
                <a:solidFill>
                  <a:srgbClr val="52606D"/>
                </a:solidFill>
                <a:latin typeface="Arial"/>
                <a:ea typeface="Arial"/>
                <a:cs typeface="Arial"/>
              </a:rPr>
              <a:t>Ứng dụng nối liền vòng đời người lao động từ lúc tuyển đến khi tính công, ứng lương và lưu vết xử lý.</a:t>
            </a:r>
          </a:p>
        </p:txBody>
      </p:sp>
      <p:sp>
        <p:nvSpPr>
          <p:cNvPr id="4" name="">
            <a:extLst xmlns:a="http://schemas.openxmlformats.org/drawingml/2006/main">
              <a:ext uri="{FF2B5EF4-FFF2-40B4-BE49-F238E27FC236}">
                <a16:creationId xmlns:a16="http://schemas.microsoft.com/office/drawing/2014/main" id="{9EE8DCD7-52EA-4F8B-9B13-2F40B7BA11DE}"/>
              </a:ext>
            </a:extLst>
          </p:cNvPr>
          <p:cNvSpPr>
            <a:spLocks xmlns:a="http://schemas.openxmlformats.org/drawingml/2006/main" noGrp="1"/>
          </p:cNvSpPr>
          <p:nvPr/>
        </p:nvSpPr>
        <p:spPr>
          <a:xfrm xmlns:a="http://schemas.openxmlformats.org/drawingml/2006/main">
            <a:off x="685800" y="2571750"/>
            <a:ext cx="17526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0F8B8D"/>
            </a:solidFill>
          </a:ln>
        </p:spPr>
      </p:sp>
      <p:sp>
        <p:nvSpPr>
          <p:cNvPr id="5" name="">
            <a:extLst xmlns:a="http://schemas.openxmlformats.org/drawingml/2006/main">
              <a:ext uri="{FF2B5EF4-FFF2-40B4-BE49-F238E27FC236}">
                <a16:creationId xmlns:a16="http://schemas.microsoft.com/office/drawing/2014/main" id="{FBB54E55-8239-4714-9BA8-3EB2B6737AE3}"/>
              </a:ext>
            </a:extLst>
          </p:cNvPr>
          <p:cNvSpPr>
            <a:spLocks xmlns:a="http://schemas.openxmlformats.org/drawingml/2006/main" noGrp="1"/>
          </p:cNvSpPr>
          <p:nvPr/>
        </p:nvSpPr>
        <p:spPr>
          <a:xfrm xmlns:a="http://schemas.openxmlformats.org/drawingml/2006/main">
            <a:off x="685800" y="2571750"/>
            <a:ext cx="76200" cy="121920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9D4EEDE-D3EF-4518-A3D6-7727186D9A54}"/>
              </a:ext>
            </a:extLst>
          </p:cNvPr>
          <p:cNvSpPr>
            <a:spLocks xmlns:a="http://schemas.openxmlformats.org/drawingml/2006/main" noGrp="1"/>
          </p:cNvSpPr>
          <p:nvPr/>
        </p:nvSpPr>
        <p:spPr>
          <a:xfrm xmlns:a="http://schemas.openxmlformats.org/drawingml/2006/main">
            <a:off x="895350" y="2838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Hồ sơ NLĐ</a:t>
            </a:r>
          </a:p>
        </p:txBody>
      </p:sp>
      <p:sp>
        <p:nvSpPr>
          <p:cNvPr id="7" name="">
            <a:extLst xmlns:a="http://schemas.openxmlformats.org/drawingml/2006/main">
              <a:ext uri="{FF2B5EF4-FFF2-40B4-BE49-F238E27FC236}">
                <a16:creationId xmlns:a16="http://schemas.microsoft.com/office/drawing/2014/main" id="{9D20DDCD-0197-494F-88A6-0769341310DF}"/>
              </a:ext>
            </a:extLst>
          </p:cNvPr>
          <p:cNvSpPr>
            <a:spLocks xmlns:a="http://schemas.openxmlformats.org/drawingml/2006/main" noGrp="1"/>
          </p:cNvSpPr>
          <p:nvPr/>
        </p:nvSpPr>
        <p:spPr>
          <a:xfrm xmlns:a="http://schemas.openxmlformats.org/drawingml/2006/main">
            <a:off x="895350" y="32575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UID · CCCD · tài khoản</a:t>
            </a:r>
          </a:p>
        </p:txBody>
      </p:sp>
      <p:sp>
        <p:nvSpPr>
          <p:cNvPr id="8" name="">
            <a:extLst xmlns:a="http://schemas.openxmlformats.org/drawingml/2006/main">
              <a:ext uri="{FF2B5EF4-FFF2-40B4-BE49-F238E27FC236}">
                <a16:creationId xmlns:a16="http://schemas.microsoft.com/office/drawing/2014/main" id="{2191DF84-B51C-4840-AE88-0392966EFB4E}"/>
              </a:ext>
            </a:extLst>
          </p:cNvPr>
          <p:cNvSpPr>
            <a:spLocks xmlns:a="http://schemas.openxmlformats.org/drawingml/2006/main" noGrp="1"/>
          </p:cNvSpPr>
          <p:nvPr/>
        </p:nvSpPr>
        <p:spPr>
          <a:xfrm xmlns:a="http://schemas.openxmlformats.org/drawingml/2006/main">
            <a:off x="25050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BE618799-7E0E-4E3F-A9B0-AFE1A6D6A465}"/>
              </a:ext>
            </a:extLst>
          </p:cNvPr>
          <p:cNvSpPr>
            <a:spLocks xmlns:a="http://schemas.openxmlformats.org/drawingml/2006/main" noGrp="1"/>
          </p:cNvSpPr>
          <p:nvPr/>
        </p:nvSpPr>
        <p:spPr>
          <a:xfrm xmlns:a="http://schemas.openxmlformats.org/drawingml/2006/main">
            <a:off x="2781300" y="2571750"/>
            <a:ext cx="19050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38BDF8"/>
            </a:solidFill>
          </a:ln>
        </p:spPr>
      </p:sp>
      <p:sp>
        <p:nvSpPr>
          <p:cNvPr id="10" name="">
            <a:extLst xmlns:a="http://schemas.openxmlformats.org/drawingml/2006/main">
              <a:ext uri="{FF2B5EF4-FFF2-40B4-BE49-F238E27FC236}">
                <a16:creationId xmlns:a16="http://schemas.microsoft.com/office/drawing/2014/main" id="{A03EF2AC-9738-4E4E-80DD-A3D583329ED8}"/>
              </a:ext>
            </a:extLst>
          </p:cNvPr>
          <p:cNvSpPr>
            <a:spLocks xmlns:a="http://schemas.openxmlformats.org/drawingml/2006/main" noGrp="1"/>
          </p:cNvSpPr>
          <p:nvPr/>
        </p:nvSpPr>
        <p:spPr>
          <a:xfrm xmlns:a="http://schemas.openxmlformats.org/drawingml/2006/main">
            <a:off x="2781300" y="2571750"/>
            <a:ext cx="76200" cy="12192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E4E1272-0280-4F75-9766-61EA160AC8FA}"/>
              </a:ext>
            </a:extLst>
          </p:cNvPr>
          <p:cNvSpPr>
            <a:spLocks xmlns:a="http://schemas.openxmlformats.org/drawingml/2006/main" noGrp="1"/>
          </p:cNvSpPr>
          <p:nvPr/>
        </p:nvSpPr>
        <p:spPr>
          <a:xfrm xmlns:a="http://schemas.openxmlformats.org/drawingml/2006/main">
            <a:off x="2990850" y="28384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Lịch sử đi làm</a:t>
            </a:r>
          </a:p>
        </p:txBody>
      </p:sp>
      <p:sp>
        <p:nvSpPr>
          <p:cNvPr id="12" name="">
            <a:extLst xmlns:a="http://schemas.openxmlformats.org/drawingml/2006/main">
              <a:ext uri="{FF2B5EF4-FFF2-40B4-BE49-F238E27FC236}">
                <a16:creationId xmlns:a16="http://schemas.microsoft.com/office/drawing/2014/main" id="{B2D95DCE-B2FF-453D-85D9-66D9AC16CA25}"/>
              </a:ext>
            </a:extLst>
          </p:cNvPr>
          <p:cNvSpPr>
            <a:spLocks xmlns:a="http://schemas.openxmlformats.org/drawingml/2006/main" noGrp="1"/>
          </p:cNvSpPr>
          <p:nvPr/>
        </p:nvSpPr>
        <p:spPr>
          <a:xfrm xmlns:a="http://schemas.openxmlformats.org/drawingml/2006/main">
            <a:off x="2990850" y="3257550"/>
            <a:ext cx="1581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mã NV · ngày vào/nghỉ</a:t>
            </a:r>
          </a:p>
        </p:txBody>
      </p:sp>
      <p:sp>
        <p:nvSpPr>
          <p:cNvPr id="13" name="">
            <a:extLst xmlns:a="http://schemas.openxmlformats.org/drawingml/2006/main">
              <a:ext uri="{FF2B5EF4-FFF2-40B4-BE49-F238E27FC236}">
                <a16:creationId xmlns:a16="http://schemas.microsoft.com/office/drawing/2014/main" id="{1C200CD3-E9E8-44A3-85E2-8CCFC0F2514A}"/>
              </a:ext>
            </a:extLst>
          </p:cNvPr>
          <p:cNvSpPr>
            <a:spLocks xmlns:a="http://schemas.openxmlformats.org/drawingml/2006/main" noGrp="1"/>
          </p:cNvSpPr>
          <p:nvPr/>
        </p:nvSpPr>
        <p:spPr>
          <a:xfrm xmlns:a="http://schemas.openxmlformats.org/drawingml/2006/main">
            <a:off x="47529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2E88B0D2-3884-4E25-A260-DDCE192A1E63}"/>
              </a:ext>
            </a:extLst>
          </p:cNvPr>
          <p:cNvSpPr>
            <a:spLocks xmlns:a="http://schemas.openxmlformats.org/drawingml/2006/main" noGrp="1"/>
          </p:cNvSpPr>
          <p:nvPr/>
        </p:nvSpPr>
        <p:spPr>
          <a:xfrm xmlns:a="http://schemas.openxmlformats.org/drawingml/2006/main">
            <a:off x="5029200" y="2571750"/>
            <a:ext cx="17526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F59E0B"/>
            </a:solidFill>
          </a:ln>
        </p:spPr>
      </p:sp>
      <p:sp>
        <p:nvSpPr>
          <p:cNvPr id="15" name="">
            <a:extLst xmlns:a="http://schemas.openxmlformats.org/drawingml/2006/main">
              <a:ext uri="{FF2B5EF4-FFF2-40B4-BE49-F238E27FC236}">
                <a16:creationId xmlns:a16="http://schemas.microsoft.com/office/drawing/2014/main" id="{742EF768-692B-4084-9B59-D947E036171C}"/>
              </a:ext>
            </a:extLst>
          </p:cNvPr>
          <p:cNvSpPr>
            <a:spLocks xmlns:a="http://schemas.openxmlformats.org/drawingml/2006/main" noGrp="1"/>
          </p:cNvSpPr>
          <p:nvPr/>
        </p:nvSpPr>
        <p:spPr>
          <a:xfrm xmlns:a="http://schemas.openxmlformats.org/drawingml/2006/main">
            <a:off x="5029200" y="2571750"/>
            <a:ext cx="76200" cy="1219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3405B2E-7C51-4600-85AB-DBC95A515F76}"/>
              </a:ext>
            </a:extLst>
          </p:cNvPr>
          <p:cNvSpPr>
            <a:spLocks xmlns:a="http://schemas.openxmlformats.org/drawingml/2006/main" noGrp="1"/>
          </p:cNvSpPr>
          <p:nvPr/>
        </p:nvSpPr>
        <p:spPr>
          <a:xfrm xmlns:a="http://schemas.openxmlformats.org/drawingml/2006/main">
            <a:off x="5238750" y="2838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Nhà máy &amp; đối tác</a:t>
            </a:r>
          </a:p>
        </p:txBody>
      </p:sp>
      <p:sp>
        <p:nvSpPr>
          <p:cNvPr id="17" name="">
            <a:extLst xmlns:a="http://schemas.openxmlformats.org/drawingml/2006/main">
              <a:ext uri="{FF2B5EF4-FFF2-40B4-BE49-F238E27FC236}">
                <a16:creationId xmlns:a16="http://schemas.microsoft.com/office/drawing/2014/main" id="{F87B6657-88B4-4D44-A717-993C16789FB1}"/>
              </a:ext>
            </a:extLst>
          </p:cNvPr>
          <p:cNvSpPr>
            <a:spLocks xmlns:a="http://schemas.openxmlformats.org/drawingml/2006/main" noGrp="1"/>
          </p:cNvSpPr>
          <p:nvPr/>
        </p:nvSpPr>
        <p:spPr>
          <a:xfrm xmlns:a="http://schemas.openxmlformats.org/drawingml/2006/main">
            <a:off x="5238750" y="32575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nguồn tuyển · phạm vi</a:t>
            </a:r>
          </a:p>
        </p:txBody>
      </p:sp>
      <p:sp>
        <p:nvSpPr>
          <p:cNvPr id="18" name="">
            <a:extLst xmlns:a="http://schemas.openxmlformats.org/drawingml/2006/main">
              <a:ext uri="{FF2B5EF4-FFF2-40B4-BE49-F238E27FC236}">
                <a16:creationId xmlns:a16="http://schemas.microsoft.com/office/drawing/2014/main" id="{FBBE272E-92D3-417E-8662-CD337606BEFD}"/>
              </a:ext>
            </a:extLst>
          </p:cNvPr>
          <p:cNvSpPr>
            <a:spLocks xmlns:a="http://schemas.openxmlformats.org/drawingml/2006/main" noGrp="1"/>
          </p:cNvSpPr>
          <p:nvPr/>
        </p:nvSpPr>
        <p:spPr>
          <a:xfrm xmlns:a="http://schemas.openxmlformats.org/drawingml/2006/main">
            <a:off x="68484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EC2E7D4C-DD37-4B39-9B00-8B0420B03537}"/>
              </a:ext>
            </a:extLst>
          </p:cNvPr>
          <p:cNvSpPr>
            <a:spLocks xmlns:a="http://schemas.openxmlformats.org/drawingml/2006/main" noGrp="1"/>
          </p:cNvSpPr>
          <p:nvPr/>
        </p:nvSpPr>
        <p:spPr>
          <a:xfrm xmlns:a="http://schemas.openxmlformats.org/drawingml/2006/main">
            <a:off x="7124700" y="2571750"/>
            <a:ext cx="17526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159A78"/>
            </a:solidFill>
          </a:ln>
        </p:spPr>
      </p:sp>
      <p:sp>
        <p:nvSpPr>
          <p:cNvPr id="20" name="">
            <a:extLst xmlns:a="http://schemas.openxmlformats.org/drawingml/2006/main">
              <a:ext uri="{FF2B5EF4-FFF2-40B4-BE49-F238E27FC236}">
                <a16:creationId xmlns:a16="http://schemas.microsoft.com/office/drawing/2014/main" id="{B0652ECE-2D75-4E57-BA2C-447281D8AAD0}"/>
              </a:ext>
            </a:extLst>
          </p:cNvPr>
          <p:cNvSpPr>
            <a:spLocks xmlns:a="http://schemas.openxmlformats.org/drawingml/2006/main" noGrp="1"/>
          </p:cNvSpPr>
          <p:nvPr/>
        </p:nvSpPr>
        <p:spPr>
          <a:xfrm xmlns:a="http://schemas.openxmlformats.org/drawingml/2006/main">
            <a:off x="7124700" y="2571750"/>
            <a:ext cx="76200" cy="1219200"/>
          </a:xfrm>
          <a:prstGeom xmlns:a="http://schemas.openxmlformats.org/drawingml/2006/main" prst="roundRect">
            <a:avLst>
              <a:gd name="adj" fmla="val 50000"/>
            </a:avLst>
          </a:prstGeom>
          <a:solidFill xmlns:a="http://schemas.openxmlformats.org/drawingml/2006/main">
            <a:srgbClr val="159A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6603CB8-1B11-498D-BF2C-2CFC950496E2}"/>
              </a:ext>
            </a:extLst>
          </p:cNvPr>
          <p:cNvSpPr>
            <a:spLocks xmlns:a="http://schemas.openxmlformats.org/drawingml/2006/main" noGrp="1"/>
          </p:cNvSpPr>
          <p:nvPr/>
        </p:nvSpPr>
        <p:spPr>
          <a:xfrm xmlns:a="http://schemas.openxmlformats.org/drawingml/2006/main">
            <a:off x="7334250" y="2838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Công &amp; lương</a:t>
            </a:r>
          </a:p>
        </p:txBody>
      </p:sp>
      <p:sp>
        <p:nvSpPr>
          <p:cNvPr id="22" name="">
            <a:extLst xmlns:a="http://schemas.openxmlformats.org/drawingml/2006/main">
              <a:ext uri="{FF2B5EF4-FFF2-40B4-BE49-F238E27FC236}">
                <a16:creationId xmlns:a16="http://schemas.microsoft.com/office/drawing/2014/main" id="{CB15B8A9-8CEC-44B3-95F1-F71D09D0E13B}"/>
              </a:ext>
            </a:extLst>
          </p:cNvPr>
          <p:cNvSpPr>
            <a:spLocks xmlns:a="http://schemas.openxmlformats.org/drawingml/2006/main" noGrp="1"/>
          </p:cNvSpPr>
          <p:nvPr/>
        </p:nvSpPr>
        <p:spPr>
          <a:xfrm xmlns:a="http://schemas.openxmlformats.org/drawingml/2006/main">
            <a:off x="7334250" y="32575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giờ · phụ cấp · khấu trừ</a:t>
            </a:r>
          </a:p>
        </p:txBody>
      </p:sp>
      <p:sp>
        <p:nvSpPr>
          <p:cNvPr id="23" name="">
            <a:extLst xmlns:a="http://schemas.openxmlformats.org/drawingml/2006/main">
              <a:ext uri="{FF2B5EF4-FFF2-40B4-BE49-F238E27FC236}">
                <a16:creationId xmlns:a16="http://schemas.microsoft.com/office/drawing/2014/main" id="{68665A89-E62E-4948-81E5-080B2EAD6FB1}"/>
              </a:ext>
            </a:extLst>
          </p:cNvPr>
          <p:cNvSpPr>
            <a:spLocks xmlns:a="http://schemas.openxmlformats.org/drawingml/2006/main" noGrp="1"/>
          </p:cNvSpPr>
          <p:nvPr/>
        </p:nvSpPr>
        <p:spPr>
          <a:xfrm xmlns:a="http://schemas.openxmlformats.org/drawingml/2006/main">
            <a:off x="8943975" y="30289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725" b="1">
                <a:solidFill>
                  <a:srgbClr val="0F8B8D"/>
                </a:solidFill>
                <a:latin typeface="Arial"/>
                <a:ea typeface="Arial"/>
                <a:cs typeface="Arial"/>
              </a:defRPr>
            </a:pPr>
            <a:r>
              <a:rPr sz="1725" b="1">
                <a:solidFill>
                  <a:srgbClr val="0F8B8D"/>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A8C92E70-B814-4528-A38A-01D24DD516F6}"/>
              </a:ext>
            </a:extLst>
          </p:cNvPr>
          <p:cNvSpPr>
            <a:spLocks xmlns:a="http://schemas.openxmlformats.org/drawingml/2006/main" noGrp="1"/>
          </p:cNvSpPr>
          <p:nvPr/>
        </p:nvSpPr>
        <p:spPr>
          <a:xfrm xmlns:a="http://schemas.openxmlformats.org/drawingml/2006/main">
            <a:off x="9220200" y="2571750"/>
            <a:ext cx="2286000" cy="1219200"/>
          </a:xfrm>
          <a:prstGeom xmlns:a="http://schemas.openxmlformats.org/drawingml/2006/main" prst="roundRect">
            <a:avLst>
              <a:gd name="adj" fmla="val 14063"/>
            </a:avLst>
          </a:prstGeom>
          <a:solidFill xmlns:a="http://schemas.openxmlformats.org/drawingml/2006/main">
            <a:srgbClr val="F3F8F8"/>
          </a:solidFill>
          <a:ln xmlns:a="http://schemas.openxmlformats.org/drawingml/2006/main" w="9525">
            <a:solidFill>
              <a:srgbClr val="D85C5C"/>
            </a:solidFill>
          </a:ln>
        </p:spPr>
      </p:sp>
      <p:sp>
        <p:nvSpPr>
          <p:cNvPr id="25" name="">
            <a:extLst xmlns:a="http://schemas.openxmlformats.org/drawingml/2006/main">
              <a:ext uri="{FF2B5EF4-FFF2-40B4-BE49-F238E27FC236}">
                <a16:creationId xmlns:a16="http://schemas.microsoft.com/office/drawing/2014/main" id="{9A616068-D6BF-47FE-8DC2-D60D8704E9F7}"/>
              </a:ext>
            </a:extLst>
          </p:cNvPr>
          <p:cNvSpPr>
            <a:spLocks xmlns:a="http://schemas.openxmlformats.org/drawingml/2006/main" noGrp="1"/>
          </p:cNvSpPr>
          <p:nvPr/>
        </p:nvSpPr>
        <p:spPr>
          <a:xfrm xmlns:a="http://schemas.openxmlformats.org/drawingml/2006/main">
            <a:off x="9220200" y="2571750"/>
            <a:ext cx="76200" cy="1219200"/>
          </a:xfrm>
          <a:prstGeom xmlns:a="http://schemas.openxmlformats.org/drawingml/2006/main" prst="roundRect">
            <a:avLst>
              <a:gd name="adj" fmla="val 50000"/>
            </a:avLst>
          </a:prstGeom>
          <a:solidFill xmlns:a="http://schemas.openxmlformats.org/drawingml/2006/main">
            <a:srgbClr val="D85C5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B68C848-2D23-41CB-B3B6-0C02927D1D7B}"/>
              </a:ext>
            </a:extLst>
          </p:cNvPr>
          <p:cNvSpPr>
            <a:spLocks xmlns:a="http://schemas.openxmlformats.org/drawingml/2006/main" noGrp="1"/>
          </p:cNvSpPr>
          <p:nvPr/>
        </p:nvSpPr>
        <p:spPr>
          <a:xfrm xmlns:a="http://schemas.openxmlformats.org/drawingml/2006/main">
            <a:off x="9429750" y="2838450"/>
            <a:ext cx="1962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1">
                <a:solidFill>
                  <a:srgbClr val="0B2538"/>
                </a:solidFill>
                <a:latin typeface="Arial"/>
                <a:ea typeface="Arial"/>
                <a:cs typeface="Arial"/>
              </a:defRPr>
            </a:pPr>
            <a:r>
              <a:rPr sz="1575" b="1">
                <a:solidFill>
                  <a:srgbClr val="0B2538"/>
                </a:solidFill>
                <a:latin typeface="Arial"/>
                <a:ea typeface="Arial"/>
                <a:cs typeface="Arial"/>
              </a:rPr>
              <a:t>Phê duyệt &amp; nhật ký</a:t>
            </a:r>
          </a:p>
        </p:txBody>
      </p:sp>
      <p:sp>
        <p:nvSpPr>
          <p:cNvPr id="27" name="">
            <a:extLst xmlns:a="http://schemas.openxmlformats.org/drawingml/2006/main">
              <a:ext uri="{FF2B5EF4-FFF2-40B4-BE49-F238E27FC236}">
                <a16:creationId xmlns:a16="http://schemas.microsoft.com/office/drawing/2014/main" id="{EADD8259-9B38-4499-B26C-EBF8AA01CF1C}"/>
              </a:ext>
            </a:extLst>
          </p:cNvPr>
          <p:cNvSpPr>
            <a:spLocks xmlns:a="http://schemas.openxmlformats.org/drawingml/2006/main" noGrp="1"/>
          </p:cNvSpPr>
          <p:nvPr/>
        </p:nvSpPr>
        <p:spPr>
          <a:xfrm xmlns:a="http://schemas.openxmlformats.org/drawingml/2006/main">
            <a:off x="9429750" y="3257550"/>
            <a:ext cx="1962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ai làm · lúc nào · thay đổi gì</a:t>
            </a:r>
          </a:p>
        </p:txBody>
      </p:sp>
      <p:sp>
        <p:nvSpPr>
          <p:cNvPr id="28" name="">
            <a:extLst xmlns:a="http://schemas.openxmlformats.org/drawingml/2006/main">
              <a:ext uri="{FF2B5EF4-FFF2-40B4-BE49-F238E27FC236}">
                <a16:creationId xmlns:a16="http://schemas.microsoft.com/office/drawing/2014/main" id="{59CCB97A-6A9E-48FA-9648-F63FCFA591EC}"/>
              </a:ext>
            </a:extLst>
          </p:cNvPr>
          <p:cNvSpPr>
            <a:spLocks xmlns:a="http://schemas.openxmlformats.org/drawingml/2006/main" noGrp="1"/>
          </p:cNvSpPr>
          <p:nvPr/>
        </p:nvSpPr>
        <p:spPr>
          <a:xfrm xmlns:a="http://schemas.openxmlformats.org/drawingml/2006/main">
            <a:off x="685800" y="4495800"/>
            <a:ext cx="10820400" cy="895350"/>
          </a:xfrm>
          <a:prstGeom xmlns:a="http://schemas.openxmlformats.org/drawingml/2006/main" prst="roundRect">
            <a:avLst>
              <a:gd name="adj" fmla="val 19149"/>
            </a:avLst>
          </a:prstGeom>
          <a:solidFill xmlns:a="http://schemas.openxmlformats.org/drawingml/2006/main">
            <a:srgbClr val="0B253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8FB7FBE-3B9B-4534-B7C6-89EFA54452E6}"/>
              </a:ext>
            </a:extLst>
          </p:cNvPr>
          <p:cNvSpPr>
            <a:spLocks xmlns:a="http://schemas.openxmlformats.org/drawingml/2006/main" noGrp="1"/>
          </p:cNvSpPr>
          <p:nvPr/>
        </p:nvSpPr>
        <p:spPr>
          <a:xfrm xmlns:a="http://schemas.openxmlformats.org/drawingml/2006/main">
            <a:off x="1028700" y="4772025"/>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Khi một dữ liệu thay đổi, các vai trò liên quan nhìn thấy cùng một trạng thái đã được phân quyền.</a:t>
            </a:r>
          </a:p>
        </p:txBody>
      </p:sp>
      <p:sp>
        <p:nvSpPr>
          <p:cNvPr id="30" name="">
            <a:extLst xmlns:a="http://schemas.openxmlformats.org/drawingml/2006/main">
              <a:ext uri="{FF2B5EF4-FFF2-40B4-BE49-F238E27FC236}">
                <a16:creationId xmlns:a16="http://schemas.microsoft.com/office/drawing/2014/main" id="{0EDB0C4E-B965-4AD4-91A4-B656FCC75D26}"/>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1" name="">
            <a:extLst xmlns:a="http://schemas.openxmlformats.org/drawingml/2006/main">
              <a:ext uri="{FF2B5EF4-FFF2-40B4-BE49-F238E27FC236}">
                <a16:creationId xmlns:a16="http://schemas.microsoft.com/office/drawing/2014/main" id="{CAA7CB77-605A-4A3A-9E1E-10A956CD2FDB}"/>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03</a:t>
            </a:r>
          </a:p>
        </p:txBody>
      </p:sp>
    </p:spTree>
    <p:extLst>
      <p:ext uri="{BB962C8B-B14F-4D97-AF65-F5344CB8AC3E}">
        <p14:creationId xmlns:p14="http://schemas.microsoft.com/office/powerpoint/2010/main" val="901613695"/>
      </p:ext>
    </p:extLst>
  </p:cSld>
</p:sld>
</file>

<file path=ppt/slides/slide4.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A5FD998-CE67-47BA-885C-08E70289BDE3}"/>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NĂNG LỰC SẢN PHẨM</a:t>
            </a:r>
          </a:p>
        </p:txBody>
      </p:sp>
      <p:sp>
        <p:nvSpPr>
          <p:cNvPr id="2" name="">
            <a:extLst xmlns:a="http://schemas.openxmlformats.org/drawingml/2006/main">
              <a:ext uri="{FF2B5EF4-FFF2-40B4-BE49-F238E27FC236}">
                <a16:creationId xmlns:a16="http://schemas.microsoft.com/office/drawing/2014/main" id="{B3F85DDA-6F59-4864-B604-B2F5CB4F9C4A}"/>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Những gì ứng dụng đã sẵn sàng</a:t>
            </a:r>
          </a:p>
        </p:txBody>
      </p:sp>
      <p:sp>
        <p:nvSpPr>
          <p:cNvPr id="3" name="">
            <a:extLst xmlns:a="http://schemas.openxmlformats.org/drawingml/2006/main">
              <a:ext uri="{FF2B5EF4-FFF2-40B4-BE49-F238E27FC236}">
                <a16:creationId xmlns:a16="http://schemas.microsoft.com/office/drawing/2014/main" id="{0426AE22-B8E9-4872-AF92-FED8EE093FF6}"/>
              </a:ext>
            </a:extLst>
          </p:cNvPr>
          <p:cNvSpPr>
            <a:spLocks xmlns:a="http://schemas.openxmlformats.org/drawingml/2006/main" noGrp="1"/>
          </p:cNvSpPr>
          <p:nvPr/>
        </p:nvSpPr>
        <p:spPr>
          <a:xfrm xmlns:a="http://schemas.openxmlformats.org/drawingml/2006/main">
            <a:off x="685800" y="1524000"/>
            <a:ext cx="24003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4" name="">
            <a:extLst xmlns:a="http://schemas.openxmlformats.org/drawingml/2006/main">
              <a:ext uri="{FF2B5EF4-FFF2-40B4-BE49-F238E27FC236}">
                <a16:creationId xmlns:a16="http://schemas.microsoft.com/office/drawing/2014/main" id="{92DDC5D6-965C-404D-BF3A-E14A4B01C08C}"/>
              </a:ext>
            </a:extLst>
          </p:cNvPr>
          <p:cNvSpPr>
            <a:spLocks xmlns:a="http://schemas.openxmlformats.org/drawingml/2006/main" noGrp="1"/>
          </p:cNvSpPr>
          <p:nvPr/>
        </p:nvSpPr>
        <p:spPr>
          <a:xfrm xmlns:a="http://schemas.openxmlformats.org/drawingml/2006/main">
            <a:off x="857250" y="1695450"/>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0F8B8D"/>
                </a:solidFill>
                <a:latin typeface="Arial"/>
                <a:ea typeface="Arial"/>
                <a:cs typeface="Arial"/>
              </a:defRPr>
            </a:pPr>
            <a:r>
              <a:rPr sz="2325" b="1">
                <a:solidFill>
                  <a:srgbClr val="0F8B8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79088D3-3EF1-4546-BFCD-AA9D73EC9156}"/>
              </a:ext>
            </a:extLst>
          </p:cNvPr>
          <p:cNvSpPr>
            <a:spLocks xmlns:a="http://schemas.openxmlformats.org/drawingml/2006/main" noGrp="1"/>
          </p:cNvSpPr>
          <p:nvPr/>
        </p:nvSpPr>
        <p:spPr>
          <a:xfrm xmlns:a="http://schemas.openxmlformats.org/drawingml/2006/main">
            <a:off x="857250" y="21240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Dashboard nhân lực cho admin</a:t>
            </a:r>
          </a:p>
        </p:txBody>
      </p:sp>
      <p:sp>
        <p:nvSpPr>
          <p:cNvPr id="6" name="">
            <a:extLst xmlns:a="http://schemas.openxmlformats.org/drawingml/2006/main">
              <a:ext uri="{FF2B5EF4-FFF2-40B4-BE49-F238E27FC236}">
                <a16:creationId xmlns:a16="http://schemas.microsoft.com/office/drawing/2014/main" id="{E53F58DB-0837-42C4-A6EE-DE588696F0EC}"/>
              </a:ext>
            </a:extLst>
          </p:cNvPr>
          <p:cNvSpPr>
            <a:spLocks xmlns:a="http://schemas.openxmlformats.org/drawingml/2006/main" noGrp="1"/>
          </p:cNvSpPr>
          <p:nvPr/>
        </p:nvSpPr>
        <p:spPr>
          <a:xfrm xmlns:a="http://schemas.openxmlformats.org/drawingml/2006/main">
            <a:off x="3276600" y="1524000"/>
            <a:ext cx="24003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7" name="">
            <a:extLst xmlns:a="http://schemas.openxmlformats.org/drawingml/2006/main">
              <a:ext uri="{FF2B5EF4-FFF2-40B4-BE49-F238E27FC236}">
                <a16:creationId xmlns:a16="http://schemas.microsoft.com/office/drawing/2014/main" id="{561236AF-A9BC-4736-BC28-4101FFD74668}"/>
              </a:ext>
            </a:extLst>
          </p:cNvPr>
          <p:cNvSpPr>
            <a:spLocks xmlns:a="http://schemas.openxmlformats.org/drawingml/2006/main" noGrp="1"/>
          </p:cNvSpPr>
          <p:nvPr/>
        </p:nvSpPr>
        <p:spPr>
          <a:xfrm xmlns:a="http://schemas.openxmlformats.org/drawingml/2006/main">
            <a:off x="3448050" y="1695450"/>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38BDF8"/>
                </a:solidFill>
                <a:latin typeface="Arial"/>
                <a:ea typeface="Arial"/>
                <a:cs typeface="Arial"/>
              </a:defRPr>
            </a:pPr>
            <a:r>
              <a:rPr sz="2325" b="1">
                <a:solidFill>
                  <a:srgbClr val="38BDF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CDB2E28-6EC4-4247-B0BD-9D7D3D35C3CD}"/>
              </a:ext>
            </a:extLst>
          </p:cNvPr>
          <p:cNvSpPr>
            <a:spLocks xmlns:a="http://schemas.openxmlformats.org/drawingml/2006/main" noGrp="1"/>
          </p:cNvSpPr>
          <p:nvPr/>
        </p:nvSpPr>
        <p:spPr>
          <a:xfrm xmlns:a="http://schemas.openxmlformats.org/drawingml/2006/main">
            <a:off x="3448050" y="21240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Nhóm vai trò: admin và staff</a:t>
            </a:r>
          </a:p>
        </p:txBody>
      </p:sp>
      <p:sp>
        <p:nvSpPr>
          <p:cNvPr id="9" name="">
            <a:extLst xmlns:a="http://schemas.openxmlformats.org/drawingml/2006/main">
              <a:ext uri="{FF2B5EF4-FFF2-40B4-BE49-F238E27FC236}">
                <a16:creationId xmlns:a16="http://schemas.microsoft.com/office/drawing/2014/main" id="{8943E2E1-048C-4BD5-BD36-3633F300AB0F}"/>
              </a:ext>
            </a:extLst>
          </p:cNvPr>
          <p:cNvSpPr>
            <a:spLocks xmlns:a="http://schemas.openxmlformats.org/drawingml/2006/main" noGrp="1"/>
          </p:cNvSpPr>
          <p:nvPr/>
        </p:nvSpPr>
        <p:spPr>
          <a:xfrm xmlns:a="http://schemas.openxmlformats.org/drawingml/2006/main">
            <a:off x="5867400" y="1524000"/>
            <a:ext cx="24003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10" name="">
            <a:extLst xmlns:a="http://schemas.openxmlformats.org/drawingml/2006/main">
              <a:ext uri="{FF2B5EF4-FFF2-40B4-BE49-F238E27FC236}">
                <a16:creationId xmlns:a16="http://schemas.microsoft.com/office/drawing/2014/main" id="{8BF978B3-8C38-46C8-8DE5-36F9D664162C}"/>
              </a:ext>
            </a:extLst>
          </p:cNvPr>
          <p:cNvSpPr>
            <a:spLocks xmlns:a="http://schemas.openxmlformats.org/drawingml/2006/main" noGrp="1"/>
          </p:cNvSpPr>
          <p:nvPr/>
        </p:nvSpPr>
        <p:spPr>
          <a:xfrm xmlns:a="http://schemas.openxmlformats.org/drawingml/2006/main">
            <a:off x="6038850" y="1695450"/>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F59E0B"/>
                </a:solidFill>
                <a:latin typeface="Arial"/>
                <a:ea typeface="Arial"/>
                <a:cs typeface="Arial"/>
              </a:defRPr>
            </a:pPr>
            <a:r>
              <a:rPr sz="2325" b="1">
                <a:solidFill>
                  <a:srgbClr val="F59E0B"/>
                </a:solidFill>
                <a:latin typeface="Arial"/>
                <a:ea typeface="Arial"/>
                <a:cs typeface="Arial"/>
              </a:rPr>
              <a:t>Nhiều</a:t>
            </a:r>
          </a:p>
        </p:txBody>
      </p:sp>
      <p:sp>
        <p:nvSpPr>
          <p:cNvPr id="11" name="">
            <a:extLst xmlns:a="http://schemas.openxmlformats.org/drawingml/2006/main">
              <a:ext uri="{FF2B5EF4-FFF2-40B4-BE49-F238E27FC236}">
                <a16:creationId xmlns:a16="http://schemas.microsoft.com/office/drawing/2014/main" id="{CE9C31E6-8E9F-4DE7-917B-DE4BCC1A9457}"/>
              </a:ext>
            </a:extLst>
          </p:cNvPr>
          <p:cNvSpPr>
            <a:spLocks xmlns:a="http://schemas.openxmlformats.org/drawingml/2006/main" noGrp="1"/>
          </p:cNvSpPr>
          <p:nvPr/>
        </p:nvSpPr>
        <p:spPr>
          <a:xfrm xmlns:a="http://schemas.openxmlformats.org/drawingml/2006/main">
            <a:off x="6038850" y="21240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Nhà máy, nhà chính, đối tác</a:t>
            </a:r>
          </a:p>
        </p:txBody>
      </p:sp>
      <p:sp>
        <p:nvSpPr>
          <p:cNvPr id="12" name="">
            <a:extLst xmlns:a="http://schemas.openxmlformats.org/drawingml/2006/main">
              <a:ext uri="{FF2B5EF4-FFF2-40B4-BE49-F238E27FC236}">
                <a16:creationId xmlns:a16="http://schemas.microsoft.com/office/drawing/2014/main" id="{2E863924-3057-4AC2-A010-784BD16A1E76}"/>
              </a:ext>
            </a:extLst>
          </p:cNvPr>
          <p:cNvSpPr>
            <a:spLocks xmlns:a="http://schemas.openxmlformats.org/drawingml/2006/main" noGrp="1"/>
          </p:cNvSpPr>
          <p:nvPr/>
        </p:nvSpPr>
        <p:spPr>
          <a:xfrm xmlns:a="http://schemas.openxmlformats.org/drawingml/2006/main">
            <a:off x="8458200" y="1524000"/>
            <a:ext cx="30480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8E5E5"/>
            </a:solidFill>
          </a:ln>
        </p:spPr>
      </p:sp>
      <p:sp>
        <p:nvSpPr>
          <p:cNvPr id="13" name="">
            <a:extLst xmlns:a="http://schemas.openxmlformats.org/drawingml/2006/main">
              <a:ext uri="{FF2B5EF4-FFF2-40B4-BE49-F238E27FC236}">
                <a16:creationId xmlns:a16="http://schemas.microsoft.com/office/drawing/2014/main" id="{99BC8E8E-EE96-4035-82F0-9C1E633FC32B}"/>
              </a:ext>
            </a:extLst>
          </p:cNvPr>
          <p:cNvSpPr>
            <a:spLocks xmlns:a="http://schemas.openxmlformats.org/drawingml/2006/main" noGrp="1"/>
          </p:cNvSpPr>
          <p:nvPr/>
        </p:nvSpPr>
        <p:spPr>
          <a:xfrm xmlns:a="http://schemas.openxmlformats.org/drawingml/2006/main">
            <a:off x="8629650" y="1695450"/>
            <a:ext cx="2705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325" b="1">
                <a:solidFill>
                  <a:srgbClr val="159A78"/>
                </a:solidFill>
                <a:latin typeface="Arial"/>
                <a:ea typeface="Arial"/>
                <a:cs typeface="Arial"/>
              </a:defRPr>
            </a:pPr>
            <a:r>
              <a:rPr sz="2325" b="1">
                <a:solidFill>
                  <a:srgbClr val="159A78"/>
                </a:solidFill>
                <a:latin typeface="Arial"/>
                <a:ea typeface="Arial"/>
                <a:cs typeface="Arial"/>
              </a:rPr>
              <a:t>500+</a:t>
            </a:r>
          </a:p>
        </p:txBody>
      </p:sp>
      <p:sp>
        <p:nvSpPr>
          <p:cNvPr id="14" name="">
            <a:extLst xmlns:a="http://schemas.openxmlformats.org/drawingml/2006/main">
              <a:ext uri="{FF2B5EF4-FFF2-40B4-BE49-F238E27FC236}">
                <a16:creationId xmlns:a16="http://schemas.microsoft.com/office/drawing/2014/main" id="{944EE1CF-5796-4902-9530-1D6CA9A5003F}"/>
              </a:ext>
            </a:extLst>
          </p:cNvPr>
          <p:cNvSpPr>
            <a:spLocks xmlns:a="http://schemas.openxmlformats.org/drawingml/2006/main" noGrp="1"/>
          </p:cNvSpPr>
          <p:nvPr/>
        </p:nvSpPr>
        <p:spPr>
          <a:xfrm xmlns:a="http://schemas.openxmlformats.org/drawingml/2006/main">
            <a:off x="8629650" y="2124075"/>
            <a:ext cx="270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52606D"/>
                </a:solidFill>
                <a:latin typeface="Arial"/>
                <a:ea typeface="Arial"/>
                <a:cs typeface="Arial"/>
              </a:defRPr>
            </a:pPr>
            <a:r>
              <a:rPr sz="1200" b="0">
                <a:solidFill>
                  <a:srgbClr val="52606D"/>
                </a:solidFill>
                <a:latin typeface="Arial"/>
                <a:ea typeface="Arial"/>
                <a:cs typeface="Arial"/>
              </a:rPr>
              <a:t>Bản ghi mỗi lần tải dữ liệu</a:t>
            </a:r>
          </a:p>
        </p:txBody>
      </p:sp>
      <p:sp>
        <p:nvSpPr>
          <p:cNvPr id="15" name="">
            <a:extLst xmlns:a="http://schemas.openxmlformats.org/drawingml/2006/main">
              <a:ext uri="{FF2B5EF4-FFF2-40B4-BE49-F238E27FC236}">
                <a16:creationId xmlns:a16="http://schemas.microsoft.com/office/drawing/2014/main" id="{96F2C661-0B03-447A-87BB-33A4431BF153}"/>
              </a:ext>
            </a:extLst>
          </p:cNvPr>
          <p:cNvSpPr>
            <a:spLocks xmlns:a="http://schemas.openxmlformats.org/drawingml/2006/main" noGrp="1"/>
          </p:cNvSpPr>
          <p:nvPr/>
        </p:nvSpPr>
        <p:spPr>
          <a:xfrm xmlns:a="http://schemas.openxmlformats.org/drawingml/2006/main">
            <a:off x="685800" y="2952750"/>
            <a:ext cx="10820400" cy="533400"/>
          </a:xfrm>
          <a:prstGeom xmlns:a="http://schemas.openxmlformats.org/drawingml/2006/main" prst="roundRect">
            <a:avLst>
              <a:gd name="adj" fmla="val 21429"/>
            </a:avLst>
          </a:prstGeom>
          <a:solidFill xmlns:a="http://schemas.openxmlformats.org/drawingml/2006/main">
            <a:srgbClr val="EAF4F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3E8B542-7FB2-4952-B460-FCD667C9D412}"/>
              </a:ext>
            </a:extLst>
          </p:cNvPr>
          <p:cNvSpPr>
            <a:spLocks xmlns:a="http://schemas.openxmlformats.org/drawingml/2006/main" noGrp="1"/>
          </p:cNvSpPr>
          <p:nvPr/>
        </p:nvSpPr>
        <p:spPr>
          <a:xfrm xmlns:a="http://schemas.openxmlformats.org/drawingml/2006/main">
            <a:off x="914400" y="31051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Theo dõi nhân lực</a:t>
            </a:r>
          </a:p>
        </p:txBody>
      </p:sp>
      <p:sp>
        <p:nvSpPr>
          <p:cNvPr id="17" name="">
            <a:extLst xmlns:a="http://schemas.openxmlformats.org/drawingml/2006/main">
              <a:ext uri="{FF2B5EF4-FFF2-40B4-BE49-F238E27FC236}">
                <a16:creationId xmlns:a16="http://schemas.microsoft.com/office/drawing/2014/main" id="{15ED7A66-66E7-4894-B67A-131A5A1131B5}"/>
              </a:ext>
            </a:extLst>
          </p:cNvPr>
          <p:cNvSpPr>
            <a:spLocks xmlns:a="http://schemas.openxmlformats.org/drawingml/2006/main" noGrp="1"/>
          </p:cNvSpPr>
          <p:nvPr/>
        </p:nvSpPr>
        <p:spPr>
          <a:xfrm xmlns:a="http://schemas.openxmlformats.org/drawingml/2006/main">
            <a:off x="3429000" y="31051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Lọc theo nhà máy, người tuyển, đang làm/nghỉ; xem chi tiết từng NLĐ.</a:t>
            </a:r>
          </a:p>
        </p:txBody>
      </p:sp>
      <p:sp>
        <p:nvSpPr>
          <p:cNvPr id="18" name="">
            <a:extLst xmlns:a="http://schemas.openxmlformats.org/drawingml/2006/main">
              <a:ext uri="{FF2B5EF4-FFF2-40B4-BE49-F238E27FC236}">
                <a16:creationId xmlns:a16="http://schemas.microsoft.com/office/drawing/2014/main" id="{BF271393-6827-4533-B976-82DA484B20A1}"/>
              </a:ext>
            </a:extLst>
          </p:cNvPr>
          <p:cNvSpPr>
            <a:spLocks xmlns:a="http://schemas.openxmlformats.org/drawingml/2006/main" noGrp="1"/>
          </p:cNvSpPr>
          <p:nvPr/>
        </p:nvSpPr>
        <p:spPr>
          <a:xfrm xmlns:a="http://schemas.openxmlformats.org/drawingml/2006/main">
            <a:off x="685800" y="3638550"/>
            <a:ext cx="108204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E9D36D2-5B96-4E20-A39F-D2F0D0797FE3}"/>
              </a:ext>
            </a:extLst>
          </p:cNvPr>
          <p:cNvSpPr>
            <a:spLocks xmlns:a="http://schemas.openxmlformats.org/drawingml/2006/main" noGrp="1"/>
          </p:cNvSpPr>
          <p:nvPr/>
        </p:nvSpPr>
        <p:spPr>
          <a:xfrm xmlns:a="http://schemas.openxmlformats.org/drawingml/2006/main">
            <a:off x="914400" y="37909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Nhập và xuất Excel</a:t>
            </a:r>
          </a:p>
        </p:txBody>
      </p:sp>
      <p:sp>
        <p:nvSpPr>
          <p:cNvPr id="20" name="">
            <a:extLst xmlns:a="http://schemas.openxmlformats.org/drawingml/2006/main">
              <a:ext uri="{FF2B5EF4-FFF2-40B4-BE49-F238E27FC236}">
                <a16:creationId xmlns:a16="http://schemas.microsoft.com/office/drawing/2014/main" id="{7F9D4FF2-A39B-45B5-AE3C-0E6EC28FCD9D}"/>
              </a:ext>
            </a:extLst>
          </p:cNvPr>
          <p:cNvSpPr>
            <a:spLocks xmlns:a="http://schemas.openxmlformats.org/drawingml/2006/main" noGrp="1"/>
          </p:cNvSpPr>
          <p:nvPr/>
        </p:nvSpPr>
        <p:spPr>
          <a:xfrm xmlns:a="http://schemas.openxmlformats.org/drawingml/2006/main">
            <a:off x="3429000" y="37909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Nhập mới/cập nhật theo UID; dòng lỗi được tách để sửa, không làm dừng dòng hợp lệ.</a:t>
            </a:r>
          </a:p>
        </p:txBody>
      </p:sp>
      <p:sp>
        <p:nvSpPr>
          <p:cNvPr id="21" name="">
            <a:extLst xmlns:a="http://schemas.openxmlformats.org/drawingml/2006/main">
              <a:ext uri="{FF2B5EF4-FFF2-40B4-BE49-F238E27FC236}">
                <a16:creationId xmlns:a16="http://schemas.microsoft.com/office/drawing/2014/main" id="{582AB06A-78A1-4C75-98D6-1314EE8B6BEA}"/>
              </a:ext>
            </a:extLst>
          </p:cNvPr>
          <p:cNvSpPr>
            <a:spLocks xmlns:a="http://schemas.openxmlformats.org/drawingml/2006/main" noGrp="1"/>
          </p:cNvSpPr>
          <p:nvPr/>
        </p:nvSpPr>
        <p:spPr>
          <a:xfrm xmlns:a="http://schemas.openxmlformats.org/drawingml/2006/main">
            <a:off x="685800" y="4324350"/>
            <a:ext cx="10820400" cy="533400"/>
          </a:xfrm>
          <a:prstGeom xmlns:a="http://schemas.openxmlformats.org/drawingml/2006/main" prst="roundRect">
            <a:avLst>
              <a:gd name="adj" fmla="val 21429"/>
            </a:avLst>
          </a:prstGeom>
          <a:solidFill xmlns:a="http://schemas.openxmlformats.org/drawingml/2006/main">
            <a:srgbClr val="EAF4F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3DD0D72-A66F-449C-B599-A9AC5525B0FA}"/>
              </a:ext>
            </a:extLst>
          </p:cNvPr>
          <p:cNvSpPr>
            <a:spLocks xmlns:a="http://schemas.openxmlformats.org/drawingml/2006/main" noGrp="1"/>
          </p:cNvSpPr>
          <p:nvPr/>
        </p:nvSpPr>
        <p:spPr>
          <a:xfrm xmlns:a="http://schemas.openxmlformats.org/drawingml/2006/main">
            <a:off x="914400" y="44767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Tài chính vận hành</a:t>
            </a:r>
          </a:p>
        </p:txBody>
      </p:sp>
      <p:sp>
        <p:nvSpPr>
          <p:cNvPr id="23" name="">
            <a:extLst xmlns:a="http://schemas.openxmlformats.org/drawingml/2006/main">
              <a:ext uri="{FF2B5EF4-FFF2-40B4-BE49-F238E27FC236}">
                <a16:creationId xmlns:a16="http://schemas.microsoft.com/office/drawing/2014/main" id="{E6DBF2BD-A215-4781-93D7-EE2C02702614}"/>
              </a:ext>
            </a:extLst>
          </p:cNvPr>
          <p:cNvSpPr>
            <a:spLocks xmlns:a="http://schemas.openxmlformats.org/drawingml/2006/main" noGrp="1"/>
          </p:cNvSpPr>
          <p:nvPr/>
        </p:nvSpPr>
        <p:spPr>
          <a:xfrm xmlns:a="http://schemas.openxmlformats.org/drawingml/2006/main">
            <a:off x="3429000" y="44767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Bảng công, bảng lương, ứng lương, giữ lương và quy trình phê duyệt.</a:t>
            </a:r>
          </a:p>
        </p:txBody>
      </p:sp>
      <p:sp>
        <p:nvSpPr>
          <p:cNvPr id="24" name="">
            <a:extLst xmlns:a="http://schemas.openxmlformats.org/drawingml/2006/main">
              <a:ext uri="{FF2B5EF4-FFF2-40B4-BE49-F238E27FC236}">
                <a16:creationId xmlns:a16="http://schemas.microsoft.com/office/drawing/2014/main" id="{575F5307-B6BB-4970-89AF-85C7E88FAA12}"/>
              </a:ext>
            </a:extLst>
          </p:cNvPr>
          <p:cNvSpPr>
            <a:spLocks xmlns:a="http://schemas.openxmlformats.org/drawingml/2006/main" noGrp="1"/>
          </p:cNvSpPr>
          <p:nvPr/>
        </p:nvSpPr>
        <p:spPr>
          <a:xfrm xmlns:a="http://schemas.openxmlformats.org/drawingml/2006/main">
            <a:off x="685800" y="5010150"/>
            <a:ext cx="108204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2246EA8-39E1-4A4B-8AC6-2806FDE89CA9}"/>
              </a:ext>
            </a:extLst>
          </p:cNvPr>
          <p:cNvSpPr>
            <a:spLocks xmlns:a="http://schemas.openxmlformats.org/drawingml/2006/main" noGrp="1"/>
          </p:cNvSpPr>
          <p:nvPr/>
        </p:nvSpPr>
        <p:spPr>
          <a:xfrm xmlns:a="http://schemas.openxmlformats.org/drawingml/2006/main">
            <a:off x="914400" y="51625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1">
                <a:solidFill>
                  <a:srgbClr val="0B2538"/>
                </a:solidFill>
                <a:latin typeface="Arial"/>
                <a:ea typeface="Arial"/>
                <a:cs typeface="Arial"/>
              </a:defRPr>
            </a:pPr>
            <a:r>
              <a:rPr sz="1350" b="1">
                <a:solidFill>
                  <a:srgbClr val="0B2538"/>
                </a:solidFill>
                <a:latin typeface="Arial"/>
                <a:ea typeface="Arial"/>
                <a:cs typeface="Arial"/>
              </a:rPr>
              <a:t>Kiểm soát dữ liệu</a:t>
            </a:r>
          </a:p>
        </p:txBody>
      </p:sp>
      <p:sp>
        <p:nvSpPr>
          <p:cNvPr id="26" name="">
            <a:extLst xmlns:a="http://schemas.openxmlformats.org/drawingml/2006/main">
              <a:ext uri="{FF2B5EF4-FFF2-40B4-BE49-F238E27FC236}">
                <a16:creationId xmlns:a16="http://schemas.microsoft.com/office/drawing/2014/main" id="{92D0D0DC-9BD2-4AB0-AEC3-0EDCABB6966D}"/>
              </a:ext>
            </a:extLst>
          </p:cNvPr>
          <p:cNvSpPr>
            <a:spLocks xmlns:a="http://schemas.openxmlformats.org/drawingml/2006/main" noGrp="1"/>
          </p:cNvSpPr>
          <p:nvPr/>
        </p:nvSpPr>
        <p:spPr>
          <a:xfrm xmlns:a="http://schemas.openxmlformats.org/drawingml/2006/main">
            <a:off x="3429000" y="5162550"/>
            <a:ext cx="776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Chặn lịch sử đang làm trùng, theo dõi CCCD phiên bản và lưu nhật ký thao tác.</a:t>
            </a:r>
          </a:p>
        </p:txBody>
      </p:sp>
      <p:sp>
        <p:nvSpPr>
          <p:cNvPr id="27" name="">
            <a:extLst xmlns:a="http://schemas.openxmlformats.org/drawingml/2006/main">
              <a:ext uri="{FF2B5EF4-FFF2-40B4-BE49-F238E27FC236}">
                <a16:creationId xmlns:a16="http://schemas.microsoft.com/office/drawing/2014/main" id="{E5F5B181-E72B-42E0-B3C5-7296B36F0FD4}"/>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28" name="">
            <a:extLst xmlns:a="http://schemas.openxmlformats.org/drawingml/2006/main">
              <a:ext uri="{FF2B5EF4-FFF2-40B4-BE49-F238E27FC236}">
                <a16:creationId xmlns:a16="http://schemas.microsoft.com/office/drawing/2014/main" id="{E0895739-730E-4304-AC80-5F0925990C47}"/>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04</a:t>
            </a:r>
          </a:p>
        </p:txBody>
      </p:sp>
    </p:spTree>
    <p:extLst>
      <p:ext uri="{BB962C8B-B14F-4D97-AF65-F5344CB8AC3E}">
        <p14:creationId xmlns:p14="http://schemas.microsoft.com/office/powerpoint/2010/main" val="13509562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94151F-8AB1-4B1F-AF81-B6667CF3DF45}"/>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GIÁ TRỊ TRỰC TIẾP</a:t>
            </a:r>
          </a:p>
        </p:txBody>
      </p:sp>
      <p:sp>
        <p:nvSpPr>
          <p:cNvPr id="2" name="">
            <a:extLst xmlns:a="http://schemas.openxmlformats.org/drawingml/2006/main">
              <a:ext uri="{FF2B5EF4-FFF2-40B4-BE49-F238E27FC236}">
                <a16:creationId xmlns:a16="http://schemas.microsoft.com/office/drawing/2014/main" id="{69274F40-233B-485B-A61B-9979867BB3A2}"/>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5 điểm đau được khắc phục</a:t>
            </a:r>
          </a:p>
        </p:txBody>
      </p:sp>
      <p:graphicFrame>
        <p:nvGraphicFramePr>
          <p:cNvPr id="9" name=""/>
          <p:cNvGraphicFramePr/>
          <p:nvPr/>
        </p:nvGraphicFramePr>
        <p:xfrm>
          <a:off xmlns:a="http://schemas.openxmlformats.org/drawingml/2006/main" x="685800" y="1476375"/>
          <a:ext xmlns:a="http://schemas.openxmlformats.org/drawingml/2006/main" cx="10820400" cy="3952875"/>
        </p:xfrm>
        <a:graphic xmlns:a="http://schemas.openxmlformats.org/drawingml/2006/main">
          <a:graphicData uri="http://schemas.openxmlformats.org/drawingml/2006/table">
            <a:tbl>
              <a:tblPr firstRow="1" bandRow="1"/>
              <a:tblGrid>
                <a:gridCol w="2571750"/>
                <a:gridCol w="3905250"/>
                <a:gridCol w="4343400"/>
              </a:tblGrid>
              <a:tr h="658813">
                <a:tc>
                  <a:txBody>
                    <a:bodyPr/>
                    <a:lstStyle/>
                    <a:p>
                      <a:r>
                        <a:rPr sz="1200" b="1">
                          <a:solidFill>
                            <a:srgbClr val="FFFFFF"/>
                          </a:solidFill>
                          <a:latin typeface="Arial"/>
                          <a:ea typeface="Arial"/>
                          <a:cs typeface="Arial"/>
                        </a:rPr>
                        <a:t>Nỗi đau với Excel</a:t>
                      </a:r>
                    </a:p>
                  </a:txBody>
                  <a:tcPr marL="91440" marR="91440" marT="45720" marB="45720">
                    <a:solidFill>
                      <a:srgbClr val="0B2538"/>
                    </a:solidFill>
                  </a:tcPr>
                </a:tc>
                <a:tc>
                  <a:txBody>
                    <a:bodyPr/>
                    <a:lstStyle/>
                    <a:p>
                      <a:r>
                        <a:rPr sz="1200" b="1">
                          <a:solidFill>
                            <a:srgbClr val="FFFFFF"/>
                          </a:solidFill>
                          <a:latin typeface="Arial"/>
                          <a:ea typeface="Arial"/>
                          <a:cs typeface="Arial"/>
                        </a:rPr>
                        <a:t>Ảnh hưởng</a:t>
                      </a:r>
                    </a:p>
                  </a:txBody>
                  <a:tcPr marL="91440" marR="91440" marT="45720" marB="45720">
                    <a:solidFill>
                      <a:srgbClr val="0B2538"/>
                    </a:solidFill>
                  </a:tcPr>
                </a:tc>
                <a:tc>
                  <a:txBody>
                    <a:bodyPr/>
                    <a:lstStyle/>
                    <a:p>
                      <a:r>
                        <a:rPr sz="1200" b="1">
                          <a:solidFill>
                            <a:srgbClr val="FFFFFF"/>
                          </a:solidFill>
                          <a:latin typeface="Arial"/>
                          <a:ea typeface="Arial"/>
                          <a:cs typeface="Arial"/>
                        </a:rPr>
                        <a:t>Ứng dụng khắc phục bằng cách</a:t>
                      </a:r>
                    </a:p>
                  </a:txBody>
                  <a:tcPr marL="91440" marR="91440" marT="45720" marB="45720">
                    <a:solidFill>
                      <a:srgbClr val="0B2538"/>
                    </a:solidFill>
                  </a:tcPr>
                </a:tc>
              </a:tr>
              <a:tr h="658813">
                <a:tc>
                  <a:txBody>
                    <a:bodyPr/>
                    <a:lstStyle/>
                    <a:p>
                      <a:r>
                        <a:rPr sz="1125" b="1">
                          <a:solidFill>
                            <a:srgbClr val="12212B"/>
                          </a:solidFill>
                          <a:latin typeface="Arial"/>
                          <a:ea typeface="Arial"/>
                          <a:cs typeface="Arial"/>
                        </a:rPr>
                        <a:t>Dữ liệu phân tán</a:t>
                      </a:r>
                    </a:p>
                  </a:txBody>
                  <a:tcPr marL="91440" marR="91440" marT="45720" marB="45720">
                    <a:solidFill>
                      <a:srgbClr val="EEF7F7"/>
                    </a:solidFill>
                  </a:tcPr>
                </a:tc>
                <a:tc>
                  <a:txBody>
                    <a:bodyPr/>
                    <a:lstStyle/>
                    <a:p>
                      <a:r>
                        <a:rPr sz="1125" b="0">
                          <a:solidFill>
                            <a:srgbClr val="12212B"/>
                          </a:solidFill>
                          <a:latin typeface="Arial"/>
                          <a:ea typeface="Arial"/>
                          <a:cs typeface="Arial"/>
                        </a:rPr>
                        <a:t>Không xuyên suốt giữa tuyển dụng, nhà máy và lương</a:t>
                      </a:r>
                    </a:p>
                  </a:txBody>
                  <a:tcPr marL="91440" marR="91440" marT="45720" marB="45720"/>
                </a:tc>
                <a:tc>
                  <a:txBody>
                    <a:bodyPr/>
                    <a:lstStyle/>
                    <a:p>
                      <a:r>
                        <a:rPr sz="1125" b="0">
                          <a:solidFill>
                            <a:srgbClr val="12212B"/>
                          </a:solidFill>
                          <a:latin typeface="Arial"/>
                          <a:ea typeface="Arial"/>
                          <a:cs typeface="Arial"/>
                        </a:rPr>
                        <a:t>Gom hồ sơ, lịch sử và quan hệ vào một tenant công ty</a:t>
                      </a:r>
                    </a:p>
                  </a:txBody>
                  <a:tcPr marL="91440" marR="91440" marT="45720" marB="45720"/>
                </a:tc>
              </a:tr>
              <a:tr h="658813">
                <a:tc>
                  <a:txBody>
                    <a:bodyPr/>
                    <a:lstStyle/>
                    <a:p>
                      <a:r>
                        <a:rPr sz="1125" b="1">
                          <a:solidFill>
                            <a:srgbClr val="12212B"/>
                          </a:solidFill>
                          <a:latin typeface="Arial"/>
                          <a:ea typeface="Arial"/>
                          <a:cs typeface="Arial"/>
                        </a:rPr>
                        <a:t>Sai tên và mã</a:t>
                      </a:r>
                    </a:p>
                  </a:txBody>
                  <a:tcPr marL="91440" marR="91440" marT="45720" marB="45720">
                    <a:solidFill>
                      <a:srgbClr val="EEF7F7"/>
                    </a:solidFill>
                  </a:tcPr>
                </a:tc>
                <a:tc>
                  <a:txBody>
                    <a:bodyPr/>
                    <a:lstStyle/>
                    <a:p>
                      <a:r>
                        <a:rPr sz="1125" b="0">
                          <a:solidFill>
                            <a:srgbClr val="12212B"/>
                          </a:solidFill>
                          <a:latin typeface="Arial"/>
                          <a:ea typeface="Arial"/>
                          <a:cs typeface="Arial"/>
                        </a:rPr>
                        <a:t>Trùng hoặc nhầm người, khó truy ngược</a:t>
                      </a:r>
                    </a:p>
                  </a:txBody>
                  <a:tcPr marL="91440" marR="91440" marT="45720" marB="45720"/>
                </a:tc>
                <a:tc>
                  <a:txBody>
                    <a:bodyPr/>
                    <a:lstStyle/>
                    <a:p>
                      <a:r>
                        <a:rPr sz="1125" b="0">
                          <a:solidFill>
                            <a:srgbClr val="12212B"/>
                          </a:solidFill>
                          <a:latin typeface="Arial"/>
                          <a:ea typeface="Arial"/>
                          <a:cs typeface="Arial"/>
                        </a:rPr>
                        <a:t>UID, snapshot tại nhà máy và kiểm tra trùng lịch sử</a:t>
                      </a:r>
                    </a:p>
                  </a:txBody>
                  <a:tcPr marL="91440" marR="91440" marT="45720" marB="45720"/>
                </a:tc>
              </a:tr>
              <a:tr h="658813">
                <a:tc>
                  <a:txBody>
                    <a:bodyPr/>
                    <a:lstStyle/>
                    <a:p>
                      <a:r>
                        <a:rPr sz="1125" b="1">
                          <a:solidFill>
                            <a:srgbClr val="12212B"/>
                          </a:solidFill>
                          <a:latin typeface="Arial"/>
                          <a:ea typeface="Arial"/>
                          <a:cs typeface="Arial"/>
                        </a:rPr>
                        <a:t>Báo cáo chậm</a:t>
                      </a:r>
                    </a:p>
                  </a:txBody>
                  <a:tcPr marL="91440" marR="91440" marT="45720" marB="45720">
                    <a:solidFill>
                      <a:srgbClr val="EEF7F7"/>
                    </a:solidFill>
                  </a:tcPr>
                </a:tc>
                <a:tc>
                  <a:txBody>
                    <a:bodyPr/>
                    <a:lstStyle/>
                    <a:p>
                      <a:r>
                        <a:rPr sz="1125" b="0">
                          <a:solidFill>
                            <a:srgbClr val="12212B"/>
                          </a:solidFill>
                          <a:latin typeface="Arial"/>
                          <a:ea typeface="Arial"/>
                          <a:cs typeface="Arial"/>
                        </a:rPr>
                        <a:t>Giám đốc ra quyết định sau khi sự việc đã xảy ra</a:t>
                      </a:r>
                    </a:p>
                  </a:txBody>
                  <a:tcPr marL="91440" marR="91440" marT="45720" marB="45720"/>
                </a:tc>
                <a:tc>
                  <a:txBody>
                    <a:bodyPr/>
                    <a:lstStyle/>
                    <a:p>
                      <a:r>
                        <a:rPr sz="1125" b="0">
                          <a:solidFill>
                            <a:srgbClr val="12212B"/>
                          </a:solidFill>
                          <a:latin typeface="Arial"/>
                          <a:ea typeface="Arial"/>
                          <a:cs typeface="Arial"/>
                        </a:rPr>
                        <a:t>Dashboard lọc theo kỳ, nhà máy và người tuyển</a:t>
                      </a:r>
                    </a:p>
                  </a:txBody>
                  <a:tcPr marL="91440" marR="91440" marT="45720" marB="45720"/>
                </a:tc>
              </a:tr>
              <a:tr h="658813">
                <a:tc>
                  <a:txBody>
                    <a:bodyPr/>
                    <a:lstStyle/>
                    <a:p>
                      <a:r>
                        <a:rPr sz="1125" b="1">
                          <a:solidFill>
                            <a:srgbClr val="12212B"/>
                          </a:solidFill>
                          <a:latin typeface="Arial"/>
                          <a:ea typeface="Arial"/>
                          <a:cs typeface="Arial"/>
                        </a:rPr>
                        <a:t>Phê duyệt mơ hồ</a:t>
                      </a:r>
                    </a:p>
                  </a:txBody>
                  <a:tcPr marL="91440" marR="91440" marT="45720" marB="45720">
                    <a:solidFill>
                      <a:srgbClr val="EEF7F7"/>
                    </a:solidFill>
                  </a:tcPr>
                </a:tc>
                <a:tc>
                  <a:txBody>
                    <a:bodyPr/>
                    <a:lstStyle/>
                    <a:p>
                      <a:r>
                        <a:rPr sz="1125" b="0">
                          <a:solidFill>
                            <a:srgbClr val="12212B"/>
                          </a:solidFill>
                          <a:latin typeface="Arial"/>
                          <a:ea typeface="Arial"/>
                          <a:cs typeface="Arial"/>
                        </a:rPr>
                        <a:t>Không rõ ai chịu trách nhiệm</a:t>
                      </a:r>
                    </a:p>
                  </a:txBody>
                  <a:tcPr marL="91440" marR="91440" marT="45720" marB="45720"/>
                </a:tc>
                <a:tc>
                  <a:txBody>
                    <a:bodyPr/>
                    <a:lstStyle/>
                    <a:p>
                      <a:r>
                        <a:rPr sz="1125" b="0">
                          <a:solidFill>
                            <a:srgbClr val="12212B"/>
                          </a:solidFill>
                          <a:latin typeface="Arial"/>
                          <a:ea typeface="Arial"/>
                          <a:cs typeface="Arial"/>
                        </a:rPr>
                        <a:t>Trạng thái phê duyệt và nhật ký actor / thời điểm</a:t>
                      </a:r>
                    </a:p>
                  </a:txBody>
                  <a:tcPr marL="91440" marR="91440" marT="45720" marB="45720"/>
                </a:tc>
              </a:tr>
              <a:tr h="658813">
                <a:tc>
                  <a:txBody>
                    <a:bodyPr/>
                    <a:lstStyle/>
                    <a:p>
                      <a:r>
                        <a:rPr sz="1125" b="1">
                          <a:solidFill>
                            <a:srgbClr val="12212B"/>
                          </a:solidFill>
                          <a:latin typeface="Arial"/>
                          <a:ea typeface="Arial"/>
                          <a:cs typeface="Arial"/>
                        </a:rPr>
                        <a:t>Đối soát thủ công</a:t>
                      </a:r>
                    </a:p>
                  </a:txBody>
                  <a:tcPr marL="91440" marR="91440" marT="45720" marB="45720">
                    <a:solidFill>
                      <a:srgbClr val="EEF7F7"/>
                    </a:solidFill>
                  </a:tcPr>
                </a:tc>
                <a:tc>
                  <a:txBody>
                    <a:bodyPr/>
                    <a:lstStyle/>
                    <a:p>
                      <a:r>
                        <a:rPr sz="1125" b="0">
                          <a:solidFill>
                            <a:srgbClr val="12212B"/>
                          </a:solidFill>
                          <a:latin typeface="Arial"/>
                          <a:ea typeface="Arial"/>
                          <a:cs typeface="Arial"/>
                        </a:rPr>
                        <a:t>Tốn giờ tổng hợp, dễ bỏ sót</a:t>
                      </a:r>
                    </a:p>
                  </a:txBody>
                  <a:tcPr marL="91440" marR="91440" marT="45720" marB="45720"/>
                </a:tc>
                <a:tc>
                  <a:txBody>
                    <a:bodyPr/>
                    <a:lstStyle/>
                    <a:p>
                      <a:r>
                        <a:rPr sz="1125" b="0">
                          <a:solidFill>
                            <a:srgbClr val="12212B"/>
                          </a:solidFill>
                          <a:latin typeface="Arial"/>
                          <a:ea typeface="Arial"/>
                          <a:cs typeface="Arial"/>
                        </a:rPr>
                        <a:t>Nhập Excel có template, báo lỗi theo từng dòng, xuất lại file lỗi</a:t>
                      </a:r>
                    </a:p>
                  </a:txBody>
                  <a:tcPr marL="91440" marR="91440" marT="45720" marB="45720"/>
                </a:tc>
              </a:tr>
            </a:tbl>
          </a:graphicData>
        </a:graphic>
      </p:graphicFrame>
      <p:sp>
        <p:nvSpPr>
          <p:cNvPr id="4" name="">
            <a:extLst xmlns:a="http://schemas.openxmlformats.org/drawingml/2006/main">
              <a:ext uri="{FF2B5EF4-FFF2-40B4-BE49-F238E27FC236}">
                <a16:creationId xmlns:a16="http://schemas.microsoft.com/office/drawing/2014/main" id="{0ADD902E-6F39-413F-AFD5-821A3C09117A}"/>
              </a:ext>
            </a:extLst>
          </p:cNvPr>
          <p:cNvSpPr>
            <a:spLocks xmlns:a="http://schemas.openxmlformats.org/drawingml/2006/main" noGrp="1"/>
          </p:cNvSpPr>
          <p:nvPr/>
        </p:nvSpPr>
        <p:spPr>
          <a:xfrm xmlns:a="http://schemas.openxmlformats.org/drawingml/2006/main">
            <a:off x="685800" y="57435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75" b="1">
                <a:solidFill>
                  <a:srgbClr val="0F8B8D"/>
                </a:solidFill>
                <a:latin typeface="Arial"/>
                <a:ea typeface="Arial"/>
                <a:cs typeface="Arial"/>
              </a:defRPr>
            </a:pPr>
            <a:r>
              <a:rPr sz="1575" b="1">
                <a:solidFill>
                  <a:srgbClr val="0F8B8D"/>
                </a:solidFill>
                <a:latin typeface="Arial"/>
                <a:ea typeface="Arial"/>
                <a:cs typeface="Arial"/>
              </a:rPr>
              <a:t>Mục tiêu thương mại hóa: biến dữ liệu vận hành thành tài sản dùng chung, không phải file của riêng một người.</a:t>
            </a:r>
          </a:p>
        </p:txBody>
      </p:sp>
      <p:sp>
        <p:nvSpPr>
          <p:cNvPr id="5" name="">
            <a:extLst xmlns:a="http://schemas.openxmlformats.org/drawingml/2006/main">
              <a:ext uri="{FF2B5EF4-FFF2-40B4-BE49-F238E27FC236}">
                <a16:creationId xmlns:a16="http://schemas.microsoft.com/office/drawing/2014/main" id="{BD1E2793-673C-4C9D-AADE-380178C875EE}"/>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6" name="">
            <a:extLst xmlns:a="http://schemas.openxmlformats.org/drawingml/2006/main">
              <a:ext uri="{FF2B5EF4-FFF2-40B4-BE49-F238E27FC236}">
                <a16:creationId xmlns:a16="http://schemas.microsoft.com/office/drawing/2014/main" id="{95099F37-BEB8-4112-A0BA-9177E630506E}"/>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05</a:t>
            </a:r>
          </a:p>
        </p:txBody>
      </p:sp>
    </p:spTree>
    <p:extLst>
      <p:ext uri="{BB962C8B-B14F-4D97-AF65-F5344CB8AC3E}">
        <p14:creationId xmlns:p14="http://schemas.microsoft.com/office/powerpoint/2010/main" val="602999181"/>
      </p:ext>
    </p:extLst>
  </p:cSld>
</p:sld>
</file>

<file path=ppt/slides/slide6.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747B409-EC05-48A3-95C8-C70AF5E9B57B}"/>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GÓC NHÌN ĐIỀU HÀNH</a:t>
            </a:r>
          </a:p>
        </p:txBody>
      </p:sp>
      <p:sp>
        <p:nvSpPr>
          <p:cNvPr id="2" name="">
            <a:extLst xmlns:a="http://schemas.openxmlformats.org/drawingml/2006/main">
              <a:ext uri="{FF2B5EF4-FFF2-40B4-BE49-F238E27FC236}">
                <a16:creationId xmlns:a16="http://schemas.microsoft.com/office/drawing/2014/main" id="{96FF0D02-8329-4DEE-8D56-C63AFA9A1560}"/>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Giám đốc thấy gì trong 5 phút?</a:t>
            </a:r>
          </a:p>
        </p:txBody>
      </p:sp>
      <p:sp>
        <p:nvSpPr>
          <p:cNvPr id="3" name="">
            <a:extLst xmlns:a="http://schemas.openxmlformats.org/drawingml/2006/main">
              <a:ext uri="{FF2B5EF4-FFF2-40B4-BE49-F238E27FC236}">
                <a16:creationId xmlns:a16="http://schemas.microsoft.com/office/drawing/2014/main" id="{34800E17-F117-4777-955D-3D5ADFA11E6C}"/>
              </a:ext>
            </a:extLst>
          </p:cNvPr>
          <p:cNvSpPr>
            <a:spLocks xmlns:a="http://schemas.openxmlformats.org/drawingml/2006/main" noGrp="1"/>
          </p:cNvSpPr>
          <p:nvPr/>
        </p:nvSpPr>
        <p:spPr>
          <a:xfrm xmlns:a="http://schemas.openxmlformats.org/drawingml/2006/main">
            <a:off x="685800" y="129540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0">
                <a:solidFill>
                  <a:srgbClr val="52606D"/>
                </a:solidFill>
                <a:latin typeface="Arial"/>
                <a:ea typeface="Arial"/>
                <a:cs typeface="Arial"/>
              </a:defRPr>
            </a:pPr>
            <a:r>
              <a:rPr sz="1725" b="0">
                <a:solidFill>
                  <a:srgbClr val="52606D"/>
                </a:solidFill>
                <a:latin typeface="Arial"/>
                <a:ea typeface="Arial"/>
                <a:cs typeface="Arial"/>
              </a:rPr>
              <a:t>Một màn hình tốt phải trả lời được câu hỏi tiếp theo, không chỉ hiển thị thêm dữ liệu.</a:t>
            </a:r>
          </a:p>
        </p:txBody>
      </p:sp>
      <p:sp>
        <p:nvSpPr>
          <p:cNvPr id="4" name="">
            <a:extLst xmlns:a="http://schemas.openxmlformats.org/drawingml/2006/main">
              <a:ext uri="{FF2B5EF4-FFF2-40B4-BE49-F238E27FC236}">
                <a16:creationId xmlns:a16="http://schemas.microsoft.com/office/drawing/2014/main" id="{8D76F193-22D9-47C0-8C8D-479820329563}"/>
              </a:ext>
            </a:extLst>
          </p:cNvPr>
          <p:cNvSpPr>
            <a:spLocks xmlns:a="http://schemas.openxmlformats.org/drawingml/2006/main" noGrp="1"/>
          </p:cNvSpPr>
          <p:nvPr/>
        </p:nvSpPr>
        <p:spPr>
          <a:xfrm xmlns:a="http://schemas.openxmlformats.org/drawingml/2006/main">
            <a:off x="685800" y="2000250"/>
            <a:ext cx="4762500" cy="3429000"/>
          </a:xfrm>
          <a:prstGeom xmlns:a="http://schemas.openxmlformats.org/drawingml/2006/main" prst="roundRect">
            <a:avLst>
              <a:gd name="adj" fmla="val 5556"/>
            </a:avLst>
          </a:prstGeom>
          <a:solidFill xmlns:a="http://schemas.openxmlformats.org/drawingml/2006/main">
            <a:srgbClr val="0B253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91A906C-4E1D-4723-A64B-92720CF98BCE}"/>
              </a:ext>
            </a:extLst>
          </p:cNvPr>
          <p:cNvSpPr>
            <a:spLocks xmlns:a="http://schemas.openxmlformats.org/drawingml/2006/main" noGrp="1"/>
          </p:cNvSpPr>
          <p:nvPr/>
        </p:nvSpPr>
        <p:spPr>
          <a:xfrm xmlns:a="http://schemas.openxmlformats.org/drawingml/2006/main">
            <a:off x="1028700" y="232410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Câu hỏi điều hành</a:t>
            </a:r>
          </a:p>
        </p:txBody>
      </p:sp>
      <p:sp>
        <p:nvSpPr>
          <p:cNvPr id="6" name="">
            <a:extLst xmlns:a="http://schemas.openxmlformats.org/drawingml/2006/main">
              <a:ext uri="{FF2B5EF4-FFF2-40B4-BE49-F238E27FC236}">
                <a16:creationId xmlns:a16="http://schemas.microsoft.com/office/drawing/2014/main" id="{C51BF0F9-47F3-4514-A582-3F6159CF67EA}"/>
              </a:ext>
            </a:extLst>
          </p:cNvPr>
          <p:cNvSpPr>
            <a:spLocks xmlns:a="http://schemas.openxmlformats.org/drawingml/2006/main" noGrp="1"/>
          </p:cNvSpPr>
          <p:nvPr/>
        </p:nvSpPr>
        <p:spPr>
          <a:xfrm xmlns:a="http://schemas.openxmlformats.org/drawingml/2006/main">
            <a:off x="1028700" y="29051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F6BD3E4-85CA-48BD-AB07-A386595482EC}"/>
              </a:ext>
            </a:extLst>
          </p:cNvPr>
          <p:cNvSpPr>
            <a:spLocks xmlns:a="http://schemas.openxmlformats.org/drawingml/2006/main" noGrp="1"/>
          </p:cNvSpPr>
          <p:nvPr/>
        </p:nvSpPr>
        <p:spPr>
          <a:xfrm xmlns:a="http://schemas.openxmlformats.org/drawingml/2006/main">
            <a:off x="1257300" y="283845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Hôm nay có bao nhiêu NLĐ đang làm?</a:t>
            </a:r>
          </a:p>
        </p:txBody>
      </p:sp>
      <p:sp>
        <p:nvSpPr>
          <p:cNvPr id="8" name="">
            <a:extLst xmlns:a="http://schemas.openxmlformats.org/drawingml/2006/main">
              <a:ext uri="{FF2B5EF4-FFF2-40B4-BE49-F238E27FC236}">
                <a16:creationId xmlns:a16="http://schemas.microsoft.com/office/drawing/2014/main" id="{26CDF52C-534F-4831-9815-75BC9DAA246A}"/>
              </a:ext>
            </a:extLst>
          </p:cNvPr>
          <p:cNvSpPr>
            <a:spLocks xmlns:a="http://schemas.openxmlformats.org/drawingml/2006/main" noGrp="1"/>
          </p:cNvSpPr>
          <p:nvPr/>
        </p:nvSpPr>
        <p:spPr>
          <a:xfrm xmlns:a="http://schemas.openxmlformats.org/drawingml/2006/main">
            <a:off x="1028700" y="34575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91BFBE0-2BC8-45BB-8244-B42C43898ED6}"/>
              </a:ext>
            </a:extLst>
          </p:cNvPr>
          <p:cNvSpPr>
            <a:spLocks xmlns:a="http://schemas.openxmlformats.org/drawingml/2006/main" noGrp="1"/>
          </p:cNvSpPr>
          <p:nvPr/>
        </p:nvSpPr>
        <p:spPr>
          <a:xfrm xmlns:a="http://schemas.openxmlformats.org/drawingml/2006/main">
            <a:off x="1257300" y="339090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Nhà máy nào tuyển mới hoặc rời việc nhiều?</a:t>
            </a:r>
          </a:p>
        </p:txBody>
      </p:sp>
      <p:sp>
        <p:nvSpPr>
          <p:cNvPr id="10" name="">
            <a:extLst xmlns:a="http://schemas.openxmlformats.org/drawingml/2006/main">
              <a:ext uri="{FF2B5EF4-FFF2-40B4-BE49-F238E27FC236}">
                <a16:creationId xmlns:a16="http://schemas.microsoft.com/office/drawing/2014/main" id="{9F23B06B-38BB-4452-B1F9-9457975AE74B}"/>
              </a:ext>
            </a:extLst>
          </p:cNvPr>
          <p:cNvSpPr>
            <a:spLocks xmlns:a="http://schemas.openxmlformats.org/drawingml/2006/main" noGrp="1"/>
          </p:cNvSpPr>
          <p:nvPr/>
        </p:nvSpPr>
        <p:spPr>
          <a:xfrm xmlns:a="http://schemas.openxmlformats.org/drawingml/2006/main">
            <a:off x="1028700" y="40100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A9A23CC-98F8-48C5-ACF0-3BF824E5C742}"/>
              </a:ext>
            </a:extLst>
          </p:cNvPr>
          <p:cNvSpPr>
            <a:spLocks xmlns:a="http://schemas.openxmlformats.org/drawingml/2006/main" noGrp="1"/>
          </p:cNvSpPr>
          <p:nvPr/>
        </p:nvSpPr>
        <p:spPr>
          <a:xfrm xmlns:a="http://schemas.openxmlformats.org/drawingml/2006/main">
            <a:off x="1257300" y="394335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Nguồn tuyển nội bộ hay đối tác hiệu quả hơn?</a:t>
            </a:r>
          </a:p>
        </p:txBody>
      </p:sp>
      <p:sp>
        <p:nvSpPr>
          <p:cNvPr id="12" name="">
            <a:extLst xmlns:a="http://schemas.openxmlformats.org/drawingml/2006/main">
              <a:ext uri="{FF2B5EF4-FFF2-40B4-BE49-F238E27FC236}">
                <a16:creationId xmlns:a16="http://schemas.microsoft.com/office/drawing/2014/main" id="{95FC7AC5-86C6-40DF-A75A-C17D54543743}"/>
              </a:ext>
            </a:extLst>
          </p:cNvPr>
          <p:cNvSpPr>
            <a:spLocks xmlns:a="http://schemas.openxmlformats.org/drawingml/2006/main" noGrp="1"/>
          </p:cNvSpPr>
          <p:nvPr/>
        </p:nvSpPr>
        <p:spPr>
          <a:xfrm xmlns:a="http://schemas.openxmlformats.org/drawingml/2006/main">
            <a:off x="1028700" y="45624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B399B24-BEB4-4184-9070-A53E8C4FE9CB}"/>
              </a:ext>
            </a:extLst>
          </p:cNvPr>
          <p:cNvSpPr>
            <a:spLocks xmlns:a="http://schemas.openxmlformats.org/drawingml/2006/main" noGrp="1"/>
          </p:cNvSpPr>
          <p:nvPr/>
        </p:nvSpPr>
        <p:spPr>
          <a:xfrm xmlns:a="http://schemas.openxmlformats.org/drawingml/2006/main">
            <a:off x="1257300" y="4495800"/>
            <a:ext cx="377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D9F5F3"/>
                </a:solidFill>
                <a:latin typeface="Arial"/>
                <a:ea typeface="Arial"/>
                <a:cs typeface="Arial"/>
              </a:defRPr>
            </a:pPr>
            <a:r>
              <a:rPr sz="1350" b="0">
                <a:solidFill>
                  <a:srgbClr val="D9F5F3"/>
                </a:solidFill>
                <a:latin typeface="Arial"/>
                <a:ea typeface="Arial"/>
                <a:cs typeface="Arial"/>
              </a:rPr>
              <a:t>Có yêu cầu nào đang chờ phê duyệt?</a:t>
            </a:r>
          </a:p>
        </p:txBody>
      </p:sp>
      <p:sp>
        <p:nvSpPr>
          <p:cNvPr id="14" name="">
            <a:extLst xmlns:a="http://schemas.openxmlformats.org/drawingml/2006/main">
              <a:ext uri="{FF2B5EF4-FFF2-40B4-BE49-F238E27FC236}">
                <a16:creationId xmlns:a16="http://schemas.microsoft.com/office/drawing/2014/main" id="{B6997E0B-10B5-43FF-A9BB-E40AFE10EFD2}"/>
              </a:ext>
            </a:extLst>
          </p:cNvPr>
          <p:cNvSpPr>
            <a:spLocks xmlns:a="http://schemas.openxmlformats.org/drawingml/2006/main" noGrp="1"/>
          </p:cNvSpPr>
          <p:nvPr/>
        </p:nvSpPr>
        <p:spPr>
          <a:xfrm xmlns:a="http://schemas.openxmlformats.org/drawingml/2006/main">
            <a:off x="5905500" y="2000250"/>
            <a:ext cx="5600700" cy="34290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8E5E5"/>
            </a:solidFill>
          </a:ln>
        </p:spPr>
      </p:sp>
      <p:sp>
        <p:nvSpPr>
          <p:cNvPr id="15" name="">
            <a:extLst xmlns:a="http://schemas.openxmlformats.org/drawingml/2006/main">
              <a:ext uri="{FF2B5EF4-FFF2-40B4-BE49-F238E27FC236}">
                <a16:creationId xmlns:a16="http://schemas.microsoft.com/office/drawing/2014/main" id="{FFBF255E-F350-4AFE-9E6D-D590C26D8514}"/>
              </a:ext>
            </a:extLst>
          </p:cNvPr>
          <p:cNvSpPr>
            <a:spLocks xmlns:a="http://schemas.openxmlformats.org/drawingml/2006/main" noGrp="1"/>
          </p:cNvSpPr>
          <p:nvPr/>
        </p:nvSpPr>
        <p:spPr>
          <a:xfrm xmlns:a="http://schemas.openxmlformats.org/drawingml/2006/main">
            <a:off x="6248400" y="2324100"/>
            <a:ext cx="466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Câu trả lời từ hệ thống</a:t>
            </a:r>
          </a:p>
        </p:txBody>
      </p:sp>
      <p:sp>
        <p:nvSpPr>
          <p:cNvPr id="16" name="">
            <a:extLst xmlns:a="http://schemas.openxmlformats.org/drawingml/2006/main">
              <a:ext uri="{FF2B5EF4-FFF2-40B4-BE49-F238E27FC236}">
                <a16:creationId xmlns:a16="http://schemas.microsoft.com/office/drawing/2014/main" id="{58D35EBE-AE83-4C97-A26C-C804130EFFF4}"/>
              </a:ext>
            </a:extLst>
          </p:cNvPr>
          <p:cNvSpPr>
            <a:spLocks xmlns:a="http://schemas.openxmlformats.org/drawingml/2006/main" noGrp="1"/>
          </p:cNvSpPr>
          <p:nvPr/>
        </p:nvSpPr>
        <p:spPr>
          <a:xfrm xmlns:a="http://schemas.openxmlformats.org/drawingml/2006/main">
            <a:off x="6248400" y="2867025"/>
            <a:ext cx="95250" cy="3238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95EB409-023F-4CF0-837E-C2FFE0490D38}"/>
              </a:ext>
            </a:extLst>
          </p:cNvPr>
          <p:cNvSpPr>
            <a:spLocks xmlns:a="http://schemas.openxmlformats.org/drawingml/2006/main" noGrp="1"/>
          </p:cNvSpPr>
          <p:nvPr/>
        </p:nvSpPr>
        <p:spPr>
          <a:xfrm xmlns:a="http://schemas.openxmlformats.org/drawingml/2006/main">
            <a:off x="6477000" y="2838450"/>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Trạng thái làm việc</a:t>
            </a:r>
          </a:p>
        </p:txBody>
      </p:sp>
      <p:sp>
        <p:nvSpPr>
          <p:cNvPr id="18" name="">
            <a:extLst xmlns:a="http://schemas.openxmlformats.org/drawingml/2006/main">
              <a:ext uri="{FF2B5EF4-FFF2-40B4-BE49-F238E27FC236}">
                <a16:creationId xmlns:a16="http://schemas.microsoft.com/office/drawing/2014/main" id="{346524A0-DECB-4438-A04B-D0BF7E29ABEE}"/>
              </a:ext>
            </a:extLst>
          </p:cNvPr>
          <p:cNvSpPr>
            <a:spLocks xmlns:a="http://schemas.openxmlformats.org/drawingml/2006/main" noGrp="1"/>
          </p:cNvSpPr>
          <p:nvPr/>
        </p:nvSpPr>
        <p:spPr>
          <a:xfrm xmlns:a="http://schemas.openxmlformats.org/drawingml/2006/main">
            <a:off x="8343900" y="283845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Đang làm / đã nghỉ / theo kỳ</a:t>
            </a:r>
          </a:p>
        </p:txBody>
      </p:sp>
      <p:sp>
        <p:nvSpPr>
          <p:cNvPr id="19" name="">
            <a:extLst xmlns:a="http://schemas.openxmlformats.org/drawingml/2006/main">
              <a:ext uri="{FF2B5EF4-FFF2-40B4-BE49-F238E27FC236}">
                <a16:creationId xmlns:a16="http://schemas.microsoft.com/office/drawing/2014/main" id="{01FEF48F-6192-49A9-AF4F-A229BE61DD7F}"/>
              </a:ext>
            </a:extLst>
          </p:cNvPr>
          <p:cNvSpPr>
            <a:spLocks xmlns:a="http://schemas.openxmlformats.org/drawingml/2006/main" noGrp="1"/>
          </p:cNvSpPr>
          <p:nvPr/>
        </p:nvSpPr>
        <p:spPr>
          <a:xfrm xmlns:a="http://schemas.openxmlformats.org/drawingml/2006/main">
            <a:off x="6248400" y="3390900"/>
            <a:ext cx="95250" cy="3238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BD34DAD-11B5-449A-BA8C-B49CFFFDD4B5}"/>
              </a:ext>
            </a:extLst>
          </p:cNvPr>
          <p:cNvSpPr>
            <a:spLocks xmlns:a="http://schemas.openxmlformats.org/drawingml/2006/main" noGrp="1"/>
          </p:cNvSpPr>
          <p:nvPr/>
        </p:nvSpPr>
        <p:spPr>
          <a:xfrm xmlns:a="http://schemas.openxmlformats.org/drawingml/2006/main">
            <a:off x="6477000" y="3362325"/>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Hiệu quả tuyển</a:t>
            </a:r>
          </a:p>
        </p:txBody>
      </p:sp>
      <p:sp>
        <p:nvSpPr>
          <p:cNvPr id="21" name="">
            <a:extLst xmlns:a="http://schemas.openxmlformats.org/drawingml/2006/main">
              <a:ext uri="{FF2B5EF4-FFF2-40B4-BE49-F238E27FC236}">
                <a16:creationId xmlns:a16="http://schemas.microsoft.com/office/drawing/2014/main" id="{9BBCD3DA-742C-433A-8B67-212031849DAE}"/>
              </a:ext>
            </a:extLst>
          </p:cNvPr>
          <p:cNvSpPr>
            <a:spLocks xmlns:a="http://schemas.openxmlformats.org/drawingml/2006/main" noGrp="1"/>
          </p:cNvSpPr>
          <p:nvPr/>
        </p:nvSpPr>
        <p:spPr>
          <a:xfrm xmlns:a="http://schemas.openxmlformats.org/drawingml/2006/main">
            <a:off x="8343900" y="336232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Theo nhà máy và người tuyển</a:t>
            </a:r>
          </a:p>
        </p:txBody>
      </p:sp>
      <p:sp>
        <p:nvSpPr>
          <p:cNvPr id="22" name="">
            <a:extLst xmlns:a="http://schemas.openxmlformats.org/drawingml/2006/main">
              <a:ext uri="{FF2B5EF4-FFF2-40B4-BE49-F238E27FC236}">
                <a16:creationId xmlns:a16="http://schemas.microsoft.com/office/drawing/2014/main" id="{AE162BEE-6704-437A-8615-566907A20FFA}"/>
              </a:ext>
            </a:extLst>
          </p:cNvPr>
          <p:cNvSpPr>
            <a:spLocks xmlns:a="http://schemas.openxmlformats.org/drawingml/2006/main" noGrp="1"/>
          </p:cNvSpPr>
          <p:nvPr/>
        </p:nvSpPr>
        <p:spPr>
          <a:xfrm xmlns:a="http://schemas.openxmlformats.org/drawingml/2006/main">
            <a:off x="6248400" y="3914775"/>
            <a:ext cx="95250" cy="323850"/>
          </a:xfrm>
          <a:prstGeom xmlns:a="http://schemas.openxmlformats.org/drawingml/2006/main" prst="roundRect">
            <a:avLst>
              <a:gd name="adj" fmla="val 50000"/>
            </a:avLst>
          </a:prstGeom>
          <a:solidFill xmlns:a="http://schemas.openxmlformats.org/drawingml/2006/main">
            <a:srgbClr val="159A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A5BCAA6-7695-4A25-9300-54F38B6302FB}"/>
              </a:ext>
            </a:extLst>
          </p:cNvPr>
          <p:cNvSpPr>
            <a:spLocks xmlns:a="http://schemas.openxmlformats.org/drawingml/2006/main" noGrp="1"/>
          </p:cNvSpPr>
          <p:nvPr/>
        </p:nvSpPr>
        <p:spPr>
          <a:xfrm xmlns:a="http://schemas.openxmlformats.org/drawingml/2006/main">
            <a:off x="6477000" y="3886200"/>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Công lương</a:t>
            </a:r>
          </a:p>
        </p:txBody>
      </p:sp>
      <p:sp>
        <p:nvSpPr>
          <p:cNvPr id="24" name="">
            <a:extLst xmlns:a="http://schemas.openxmlformats.org/drawingml/2006/main">
              <a:ext uri="{FF2B5EF4-FFF2-40B4-BE49-F238E27FC236}">
                <a16:creationId xmlns:a16="http://schemas.microsoft.com/office/drawing/2014/main" id="{C46F2BFE-F893-4CDB-93C3-A0E67EB34668}"/>
              </a:ext>
            </a:extLst>
          </p:cNvPr>
          <p:cNvSpPr>
            <a:spLocks xmlns:a="http://schemas.openxmlformats.org/drawingml/2006/main" noGrp="1"/>
          </p:cNvSpPr>
          <p:nvPr/>
        </p:nvSpPr>
        <p:spPr>
          <a:xfrm xmlns:a="http://schemas.openxmlformats.org/drawingml/2006/main">
            <a:off x="8343900" y="38862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Bảng công, lương, số giờ</a:t>
            </a:r>
          </a:p>
        </p:txBody>
      </p:sp>
      <p:sp>
        <p:nvSpPr>
          <p:cNvPr id="25" name="">
            <a:extLst xmlns:a="http://schemas.openxmlformats.org/drawingml/2006/main">
              <a:ext uri="{FF2B5EF4-FFF2-40B4-BE49-F238E27FC236}">
                <a16:creationId xmlns:a16="http://schemas.microsoft.com/office/drawing/2014/main" id="{5DEFC1FD-8E0B-4C0A-A9E6-3222D69CD2A9}"/>
              </a:ext>
            </a:extLst>
          </p:cNvPr>
          <p:cNvSpPr>
            <a:spLocks xmlns:a="http://schemas.openxmlformats.org/drawingml/2006/main" noGrp="1"/>
          </p:cNvSpPr>
          <p:nvPr/>
        </p:nvSpPr>
        <p:spPr>
          <a:xfrm xmlns:a="http://schemas.openxmlformats.org/drawingml/2006/main">
            <a:off x="6248400" y="4438650"/>
            <a:ext cx="95250" cy="323850"/>
          </a:xfrm>
          <a:prstGeom xmlns:a="http://schemas.openxmlformats.org/drawingml/2006/main" prst="roundRect">
            <a:avLst>
              <a:gd name="adj" fmla="val 50000"/>
            </a:avLst>
          </a:prstGeom>
          <a:solidFill xmlns:a="http://schemas.openxmlformats.org/drawingml/2006/main">
            <a:srgbClr val="D85C5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6290003-AFD3-4FB7-A61D-3F5DDB8AEC82}"/>
              </a:ext>
            </a:extLst>
          </p:cNvPr>
          <p:cNvSpPr>
            <a:spLocks xmlns:a="http://schemas.openxmlformats.org/drawingml/2006/main" noGrp="1"/>
          </p:cNvSpPr>
          <p:nvPr/>
        </p:nvSpPr>
        <p:spPr>
          <a:xfrm xmlns:a="http://schemas.openxmlformats.org/drawingml/2006/main">
            <a:off x="6477000" y="4410075"/>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1">
                <a:solidFill>
                  <a:srgbClr val="12212B"/>
                </a:solidFill>
                <a:latin typeface="Arial"/>
                <a:ea typeface="Arial"/>
                <a:cs typeface="Arial"/>
              </a:defRPr>
            </a:pPr>
            <a:r>
              <a:rPr sz="1275" b="1">
                <a:solidFill>
                  <a:srgbClr val="12212B"/>
                </a:solidFill>
                <a:latin typeface="Arial"/>
                <a:ea typeface="Arial"/>
                <a:cs typeface="Arial"/>
              </a:rPr>
              <a:t>Kiểm soát</a:t>
            </a:r>
          </a:p>
        </p:txBody>
      </p:sp>
      <p:sp>
        <p:nvSpPr>
          <p:cNvPr id="27" name="">
            <a:extLst xmlns:a="http://schemas.openxmlformats.org/drawingml/2006/main">
              <a:ext uri="{FF2B5EF4-FFF2-40B4-BE49-F238E27FC236}">
                <a16:creationId xmlns:a16="http://schemas.microsoft.com/office/drawing/2014/main" id="{C1CCE39C-2355-44B2-9867-4035A5E29673}"/>
              </a:ext>
            </a:extLst>
          </p:cNvPr>
          <p:cNvSpPr>
            <a:spLocks xmlns:a="http://schemas.openxmlformats.org/drawingml/2006/main" noGrp="1"/>
          </p:cNvSpPr>
          <p:nvPr/>
        </p:nvSpPr>
        <p:spPr>
          <a:xfrm xmlns:a="http://schemas.openxmlformats.org/drawingml/2006/main">
            <a:off x="8343900" y="4410075"/>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Phê duyệt, log, cảnh báo trùng</a:t>
            </a:r>
          </a:p>
        </p:txBody>
      </p:sp>
      <p:sp>
        <p:nvSpPr>
          <p:cNvPr id="28" name="">
            <a:extLst xmlns:a="http://schemas.openxmlformats.org/drawingml/2006/main">
              <a:ext uri="{FF2B5EF4-FFF2-40B4-BE49-F238E27FC236}">
                <a16:creationId xmlns:a16="http://schemas.microsoft.com/office/drawing/2014/main" id="{C1086A8F-7343-4792-A3E8-B0A70AC4C3A1}"/>
              </a:ext>
            </a:extLst>
          </p:cNvPr>
          <p:cNvSpPr>
            <a:spLocks xmlns:a="http://schemas.openxmlformats.org/drawingml/2006/main" noGrp="1"/>
          </p:cNvSpPr>
          <p:nvPr/>
        </p:nvSpPr>
        <p:spPr>
          <a:xfrm xmlns:a="http://schemas.openxmlformats.org/drawingml/2006/main">
            <a:off x="685800" y="58293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00" b="1">
                <a:solidFill>
                  <a:srgbClr val="0F8B8D"/>
                </a:solidFill>
                <a:latin typeface="Arial"/>
                <a:ea typeface="Arial"/>
                <a:cs typeface="Arial"/>
              </a:defRPr>
            </a:pPr>
            <a:r>
              <a:rPr sz="1500" b="1">
                <a:solidFill>
                  <a:srgbClr val="0F8B8D"/>
                </a:solidFill>
                <a:latin typeface="Arial"/>
                <a:ea typeface="Arial"/>
                <a:cs typeface="Arial"/>
              </a:rPr>
              <a:t>Kết quả: cuộc họp bắt đầu từ quyết định, không bắt đầu từ việc hỏi “file nào mới nhất?”.</a:t>
            </a:r>
          </a:p>
        </p:txBody>
      </p:sp>
      <p:sp>
        <p:nvSpPr>
          <p:cNvPr id="29" name="">
            <a:extLst xmlns:a="http://schemas.openxmlformats.org/drawingml/2006/main">
              <a:ext uri="{FF2B5EF4-FFF2-40B4-BE49-F238E27FC236}">
                <a16:creationId xmlns:a16="http://schemas.microsoft.com/office/drawing/2014/main" id="{B107F64B-FDB7-47EE-AD1A-4265CD3F107F}"/>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0" name="">
            <a:extLst xmlns:a="http://schemas.openxmlformats.org/drawingml/2006/main">
              <a:ext uri="{FF2B5EF4-FFF2-40B4-BE49-F238E27FC236}">
                <a16:creationId xmlns:a16="http://schemas.microsoft.com/office/drawing/2014/main" id="{A4578F19-EB10-4B0B-8923-92D7F329CBCD}"/>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06</a:t>
            </a:r>
          </a:p>
        </p:txBody>
      </p:sp>
    </p:spTree>
    <p:extLst>
      <p:ext uri="{BB962C8B-B14F-4D97-AF65-F5344CB8AC3E}">
        <p14:creationId xmlns:p14="http://schemas.microsoft.com/office/powerpoint/2010/main" val="18055432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DD0D72-C905-434B-A1FC-DFED2663D4A6}"/>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ĐỀ XUẤT GIÁ NIÊM YẾT</a:t>
            </a:r>
          </a:p>
        </p:txBody>
      </p:sp>
      <p:sp>
        <p:nvSpPr>
          <p:cNvPr id="2" name="">
            <a:extLst xmlns:a="http://schemas.openxmlformats.org/drawingml/2006/main">
              <a:ext uri="{FF2B5EF4-FFF2-40B4-BE49-F238E27FC236}">
                <a16:creationId xmlns:a16="http://schemas.microsoft.com/office/drawing/2014/main" id="{678DC250-5E3A-4C1C-BDE3-988376768686}"/>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Gói giá theo quy mô vận hành</a:t>
            </a:r>
          </a:p>
        </p:txBody>
      </p:sp>
      <p:sp>
        <p:nvSpPr>
          <p:cNvPr id="3" name="">
            <a:extLst xmlns:a="http://schemas.openxmlformats.org/drawingml/2006/main">
              <a:ext uri="{FF2B5EF4-FFF2-40B4-BE49-F238E27FC236}">
                <a16:creationId xmlns:a16="http://schemas.microsoft.com/office/drawing/2014/main" id="{1F8768A4-94AB-4570-BE5B-44B6CDECF31E}"/>
              </a:ext>
            </a:extLst>
          </p:cNvPr>
          <p:cNvSpPr>
            <a:spLocks xmlns:a="http://schemas.openxmlformats.org/drawingml/2006/main" noGrp="1"/>
          </p:cNvSpPr>
          <p:nvPr/>
        </p:nvSpPr>
        <p:spPr>
          <a:xfrm xmlns:a="http://schemas.openxmlformats.org/drawingml/2006/main">
            <a:off x="685800" y="12954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575" b="0">
                <a:solidFill>
                  <a:srgbClr val="52606D"/>
                </a:solidFill>
                <a:latin typeface="Arial"/>
                <a:ea typeface="Arial"/>
                <a:cs typeface="Arial"/>
              </a:defRPr>
            </a:pPr>
            <a:r>
              <a:rPr sz="1575" b="0">
                <a:solidFill>
                  <a:srgbClr val="52606D"/>
                </a:solidFill>
                <a:latin typeface="Arial"/>
                <a:ea typeface="Arial"/>
                <a:cs typeface="Arial"/>
              </a:rPr>
              <a:t>Đơn vị tính theo dữ liệu cần quản lý. Mỗi gói gồm một công ty, hỗ trợ onboarding từ xa và cập nhật tính năng nền tảng.</a:t>
            </a:r>
          </a:p>
        </p:txBody>
      </p:sp>
      <p:graphicFrame>
        <p:nvGraphicFramePr>
          <p:cNvPr id="12" name=""/>
          <p:cNvGraphicFramePr/>
          <p:nvPr/>
        </p:nvGraphicFramePr>
        <p:xfrm>
          <a:off xmlns:a="http://schemas.openxmlformats.org/drawingml/2006/main" x="685800" y="1943100"/>
          <a:ext xmlns:a="http://schemas.openxmlformats.org/drawingml/2006/main" cx="10820400" cy="3048000"/>
        </p:xfrm>
        <a:graphic xmlns:a="http://schemas.openxmlformats.org/drawingml/2006/main">
          <a:graphicData uri="http://schemas.openxmlformats.org/drawingml/2006/table">
            <a:tbl>
              <a:tblPr firstRow="1" bandRow="1"/>
              <a:tblGrid>
                <a:gridCol w="2266950"/>
                <a:gridCol w="1714500"/>
                <a:gridCol w="2266950"/>
                <a:gridCol w="2266950"/>
                <a:gridCol w="2305050"/>
              </a:tblGrid>
              <a:tr h="609600">
                <a:tc>
                  <a:txBody>
                    <a:bodyPr/>
                    <a:lstStyle/>
                    <a:p>
                      <a:pPr algn="l"/>
                      <a:r>
                        <a:rPr sz="1125" b="1">
                          <a:solidFill>
                            <a:srgbClr val="FFFFFF"/>
                          </a:solidFill>
                          <a:latin typeface="Arial"/>
                          <a:ea typeface="Arial"/>
                          <a:cs typeface="Arial"/>
                        </a:rPr>
                        <a:t>Gói</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Giá / tháng</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Lịch sử đi làm</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Tài khoản staff</a:t>
                      </a:r>
                    </a:p>
                  </a:txBody>
                  <a:tcPr marL="91440" marR="91440" marT="45720" marB="45720">
                    <a:solidFill>
                      <a:srgbClr val="0B2538"/>
                    </a:solidFill>
                  </a:tcPr>
                </a:tc>
                <a:tc>
                  <a:txBody>
                    <a:bodyPr/>
                    <a:lstStyle/>
                    <a:p>
                      <a:pPr algn="ctr"/>
                      <a:r>
                        <a:rPr sz="1125" b="1">
                          <a:solidFill>
                            <a:srgbClr val="FFFFFF"/>
                          </a:solidFill>
                          <a:latin typeface="Arial"/>
                          <a:ea typeface="Arial"/>
                          <a:cs typeface="Arial"/>
                        </a:rPr>
                        <a:t>Đối tác / Nhà máy</a:t>
                      </a:r>
                    </a:p>
                  </a:txBody>
                  <a:tcPr marL="91440" marR="91440" marT="45720" marB="45720">
                    <a:solidFill>
                      <a:srgbClr val="0B2538"/>
                    </a:solidFill>
                  </a:tcPr>
                </a:tc>
              </a:tr>
              <a:tr h="609600">
                <a:tc>
                  <a:txBody>
                    <a:bodyPr/>
                    <a:lstStyle/>
                    <a:p>
                      <a:pPr algn="l"/>
                      <a:r>
                        <a:rPr sz="1350" b="1">
                          <a:solidFill>
                            <a:srgbClr val="12212B"/>
                          </a:solidFill>
                          <a:latin typeface="Arial"/>
                          <a:ea typeface="Arial"/>
                          <a:cs typeface="Arial"/>
                        </a:rPr>
                        <a:t>Khởi động</a:t>
                      </a:r>
                    </a:p>
                  </a:txBody>
                  <a:tcPr marL="91440" marR="91440" marT="45720" marB="45720"/>
                </a:tc>
                <a:tc>
                  <a:txBody>
                    <a:bodyPr/>
                    <a:lstStyle/>
                    <a:p>
                      <a:pPr algn="ctr"/>
                      <a:r>
                        <a:rPr sz="1350" b="1">
                          <a:solidFill>
                            <a:srgbClr val="12212B"/>
                          </a:solidFill>
                          <a:latin typeface="Arial"/>
                          <a:ea typeface="Arial"/>
                          <a:cs typeface="Arial"/>
                        </a:rPr>
                        <a:t>500.000 đ</a:t>
                      </a:r>
                    </a:p>
                  </a:txBody>
                  <a:tcPr marL="91440" marR="91440" marT="45720" marB="45720">
                    <a:solidFill>
                      <a:srgbClr val="FFF5DF"/>
                    </a:solidFill>
                  </a:tcPr>
                </a:tc>
                <a:tc>
                  <a:txBody>
                    <a:bodyPr/>
                    <a:lstStyle/>
                    <a:p>
                      <a:pPr algn="ctr"/>
                      <a:r>
                        <a:rPr sz="1350" b="0">
                          <a:solidFill>
                            <a:srgbClr val="12212B"/>
                          </a:solidFill>
                          <a:latin typeface="Arial"/>
                          <a:ea typeface="Arial"/>
                          <a:cs typeface="Arial"/>
                        </a:rPr>
                        <a:t>500</a:t>
                      </a:r>
                    </a:p>
                  </a:txBody>
                  <a:tcPr marL="91440" marR="91440" marT="45720" marB="45720"/>
                </a:tc>
                <a:tc>
                  <a:txBody>
                    <a:bodyPr/>
                    <a:lstStyle/>
                    <a:p>
                      <a:pPr algn="ctr"/>
                      <a:r>
                        <a:rPr sz="1350" b="0">
                          <a:solidFill>
                            <a:srgbClr val="12212B"/>
                          </a:solidFill>
                          <a:latin typeface="Arial"/>
                          <a:ea typeface="Arial"/>
                          <a:cs typeface="Arial"/>
                        </a:rPr>
                        <a:t>5</a:t>
                      </a:r>
                    </a:p>
                  </a:txBody>
                  <a:tcPr marL="91440" marR="91440" marT="45720" marB="45720"/>
                </a:tc>
                <a:tc>
                  <a:txBody>
                    <a:bodyPr/>
                    <a:lstStyle/>
                    <a:p>
                      <a:pPr algn="ctr"/>
                      <a:r>
                        <a:rPr sz="1350" b="0">
                          <a:solidFill>
                            <a:srgbClr val="12212B"/>
                          </a:solidFill>
                          <a:latin typeface="Arial"/>
                          <a:ea typeface="Arial"/>
                          <a:cs typeface="Arial"/>
                        </a:rPr>
                        <a:t>5 / 5</a:t>
                      </a:r>
                    </a:p>
                  </a:txBody>
                  <a:tcPr marL="91440" marR="91440" marT="45720" marB="45720"/>
                </a:tc>
              </a:tr>
              <a:tr h="609600">
                <a:tc>
                  <a:txBody>
                    <a:bodyPr/>
                    <a:lstStyle/>
                    <a:p>
                      <a:pPr algn="l"/>
                      <a:r>
                        <a:rPr sz="1350" b="1">
                          <a:solidFill>
                            <a:srgbClr val="12212B"/>
                          </a:solidFill>
                          <a:latin typeface="Arial"/>
                          <a:ea typeface="Arial"/>
                          <a:cs typeface="Arial"/>
                        </a:rPr>
                        <a:t>Tăng trưởng</a:t>
                      </a:r>
                    </a:p>
                  </a:txBody>
                  <a:tcPr marL="91440" marR="91440" marT="45720" marB="45720"/>
                </a:tc>
                <a:tc>
                  <a:txBody>
                    <a:bodyPr/>
                    <a:lstStyle/>
                    <a:p>
                      <a:pPr algn="ctr"/>
                      <a:r>
                        <a:rPr sz="1350" b="1">
                          <a:solidFill>
                            <a:srgbClr val="12212B"/>
                          </a:solidFill>
                          <a:latin typeface="Arial"/>
                          <a:ea typeface="Arial"/>
                          <a:cs typeface="Arial"/>
                        </a:rPr>
                        <a:t>1.500.000 đ</a:t>
                      </a:r>
                    </a:p>
                  </a:txBody>
                  <a:tcPr marL="91440" marR="91440" marT="45720" marB="45720"/>
                </a:tc>
                <a:tc>
                  <a:txBody>
                    <a:bodyPr/>
                    <a:lstStyle/>
                    <a:p>
                      <a:pPr algn="ctr"/>
                      <a:r>
                        <a:rPr sz="1350" b="0">
                          <a:solidFill>
                            <a:srgbClr val="12212B"/>
                          </a:solidFill>
                          <a:latin typeface="Arial"/>
                          <a:ea typeface="Arial"/>
                          <a:cs typeface="Arial"/>
                        </a:rPr>
                        <a:t>2.000</a:t>
                      </a:r>
                    </a:p>
                  </a:txBody>
                  <a:tcPr marL="91440" marR="91440" marT="45720" marB="45720"/>
                </a:tc>
                <a:tc>
                  <a:txBody>
                    <a:bodyPr/>
                    <a:lstStyle/>
                    <a:p>
                      <a:pPr algn="ctr"/>
                      <a:r>
                        <a:rPr sz="1350" b="0">
                          <a:solidFill>
                            <a:srgbClr val="12212B"/>
                          </a:solidFill>
                          <a:latin typeface="Arial"/>
                          <a:ea typeface="Arial"/>
                          <a:cs typeface="Arial"/>
                        </a:rPr>
                        <a:t>15</a:t>
                      </a:r>
                    </a:p>
                  </a:txBody>
                  <a:tcPr marL="91440" marR="91440" marT="45720" marB="45720"/>
                </a:tc>
                <a:tc>
                  <a:txBody>
                    <a:bodyPr/>
                    <a:lstStyle/>
                    <a:p>
                      <a:pPr algn="ctr"/>
                      <a:r>
                        <a:rPr sz="1350" b="0">
                          <a:solidFill>
                            <a:srgbClr val="12212B"/>
                          </a:solidFill>
                          <a:latin typeface="Arial"/>
                          <a:ea typeface="Arial"/>
                          <a:cs typeface="Arial"/>
                        </a:rPr>
                        <a:t>15 / 15</a:t>
                      </a:r>
                    </a:p>
                  </a:txBody>
                  <a:tcPr marL="91440" marR="91440" marT="45720" marB="45720"/>
                </a:tc>
              </a:tr>
              <a:tr h="609600">
                <a:tc>
                  <a:txBody>
                    <a:bodyPr/>
                    <a:lstStyle/>
                    <a:p>
                      <a:pPr algn="l"/>
                      <a:r>
                        <a:rPr sz="1350" b="1">
                          <a:solidFill>
                            <a:srgbClr val="12212B"/>
                          </a:solidFill>
                          <a:latin typeface="Arial"/>
                          <a:ea typeface="Arial"/>
                          <a:cs typeface="Arial"/>
                        </a:rPr>
                        <a:t>Chuyên nghiệp</a:t>
                      </a:r>
                    </a:p>
                  </a:txBody>
                  <a:tcPr marL="91440" marR="91440" marT="45720" marB="45720"/>
                </a:tc>
                <a:tc>
                  <a:txBody>
                    <a:bodyPr/>
                    <a:lstStyle/>
                    <a:p>
                      <a:pPr algn="ctr"/>
                      <a:r>
                        <a:rPr sz="1350" b="1">
                          <a:solidFill>
                            <a:srgbClr val="12212B"/>
                          </a:solidFill>
                          <a:latin typeface="Arial"/>
                          <a:ea typeface="Arial"/>
                          <a:cs typeface="Arial"/>
                        </a:rPr>
                        <a:t>3.000.000 đ</a:t>
                      </a:r>
                    </a:p>
                  </a:txBody>
                  <a:tcPr marL="91440" marR="91440" marT="45720" marB="45720">
                    <a:solidFill>
                      <a:srgbClr val="EAF8F3"/>
                    </a:solidFill>
                  </a:tcPr>
                </a:tc>
                <a:tc>
                  <a:txBody>
                    <a:bodyPr/>
                    <a:lstStyle/>
                    <a:p>
                      <a:pPr algn="ctr"/>
                      <a:r>
                        <a:rPr sz="1350" b="0">
                          <a:solidFill>
                            <a:srgbClr val="12212B"/>
                          </a:solidFill>
                          <a:latin typeface="Arial"/>
                          <a:ea typeface="Arial"/>
                          <a:cs typeface="Arial"/>
                        </a:rPr>
                        <a:t>5.000</a:t>
                      </a:r>
                    </a:p>
                  </a:txBody>
                  <a:tcPr marL="91440" marR="91440" marT="45720" marB="45720"/>
                </a:tc>
                <a:tc>
                  <a:txBody>
                    <a:bodyPr/>
                    <a:lstStyle/>
                    <a:p>
                      <a:pPr algn="ctr"/>
                      <a:r>
                        <a:rPr sz="1350" b="0">
                          <a:solidFill>
                            <a:srgbClr val="12212B"/>
                          </a:solidFill>
                          <a:latin typeface="Arial"/>
                          <a:ea typeface="Arial"/>
                          <a:cs typeface="Arial"/>
                        </a:rPr>
                        <a:t>30</a:t>
                      </a:r>
                    </a:p>
                  </a:txBody>
                  <a:tcPr marL="91440" marR="91440" marT="45720" marB="45720"/>
                </a:tc>
                <a:tc>
                  <a:txBody>
                    <a:bodyPr/>
                    <a:lstStyle/>
                    <a:p>
                      <a:pPr algn="ctr"/>
                      <a:r>
                        <a:rPr sz="1350" b="0">
                          <a:solidFill>
                            <a:srgbClr val="12212B"/>
                          </a:solidFill>
                          <a:latin typeface="Arial"/>
                          <a:ea typeface="Arial"/>
                          <a:cs typeface="Arial"/>
                        </a:rPr>
                        <a:t>30 / 30</a:t>
                      </a:r>
                    </a:p>
                  </a:txBody>
                  <a:tcPr marL="91440" marR="91440" marT="45720" marB="45720"/>
                </a:tc>
              </a:tr>
              <a:tr h="609600">
                <a:tc>
                  <a:txBody>
                    <a:bodyPr/>
                    <a:lstStyle/>
                    <a:p>
                      <a:pPr algn="l"/>
                      <a:r>
                        <a:rPr sz="1350" b="1">
                          <a:solidFill>
                            <a:srgbClr val="12212B"/>
                          </a:solidFill>
                          <a:latin typeface="Arial"/>
                          <a:ea typeface="Arial"/>
                          <a:cs typeface="Arial"/>
                        </a:rPr>
                        <a:t>Doanh nghiệp</a:t>
                      </a:r>
                    </a:p>
                  </a:txBody>
                  <a:tcPr marL="91440" marR="91440" marT="45720" marB="45720"/>
                </a:tc>
                <a:tc>
                  <a:txBody>
                    <a:bodyPr/>
                    <a:lstStyle/>
                    <a:p>
                      <a:pPr algn="ctr"/>
                      <a:r>
                        <a:rPr sz="1350" b="1">
                          <a:solidFill>
                            <a:srgbClr val="12212B"/>
                          </a:solidFill>
                          <a:latin typeface="Arial"/>
                          <a:ea typeface="Arial"/>
                          <a:cs typeface="Arial"/>
                        </a:rPr>
                        <a:t>5.000.000 đ</a:t>
                      </a:r>
                    </a:p>
                  </a:txBody>
                  <a:tcPr marL="91440" marR="91440" marT="45720" marB="45720"/>
                </a:tc>
                <a:tc>
                  <a:txBody>
                    <a:bodyPr/>
                    <a:lstStyle/>
                    <a:p>
                      <a:pPr algn="ctr"/>
                      <a:r>
                        <a:rPr sz="1350" b="0">
                          <a:solidFill>
                            <a:srgbClr val="12212B"/>
                          </a:solidFill>
                          <a:latin typeface="Arial"/>
                          <a:ea typeface="Arial"/>
                          <a:cs typeface="Arial"/>
                        </a:rPr>
                        <a:t>15.000</a:t>
                      </a:r>
                    </a:p>
                  </a:txBody>
                  <a:tcPr marL="91440" marR="91440" marT="45720" marB="45720"/>
                </a:tc>
                <a:tc>
                  <a:txBody>
                    <a:bodyPr/>
                    <a:lstStyle/>
                    <a:p>
                      <a:pPr algn="ctr"/>
                      <a:r>
                        <a:rPr sz="1350" b="0">
                          <a:solidFill>
                            <a:srgbClr val="12212B"/>
                          </a:solidFill>
                          <a:latin typeface="Arial"/>
                          <a:ea typeface="Arial"/>
                          <a:cs typeface="Arial"/>
                        </a:rPr>
                        <a:t>100</a:t>
                      </a:r>
                    </a:p>
                  </a:txBody>
                  <a:tcPr marL="91440" marR="91440" marT="45720" marB="45720"/>
                </a:tc>
                <a:tc>
                  <a:txBody>
                    <a:bodyPr/>
                    <a:lstStyle/>
                    <a:p>
                      <a:pPr algn="ctr"/>
                      <a:r>
                        <a:rPr sz="1350" b="0">
                          <a:solidFill>
                            <a:srgbClr val="12212B"/>
                          </a:solidFill>
                          <a:latin typeface="Arial"/>
                          <a:ea typeface="Arial"/>
                          <a:cs typeface="Arial"/>
                        </a:rPr>
                        <a:t>100 / 100</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2280A852-AB13-4C28-A5D0-08E2FE335478}"/>
              </a:ext>
            </a:extLst>
          </p:cNvPr>
          <p:cNvSpPr>
            <a:spLocks xmlns:a="http://schemas.openxmlformats.org/drawingml/2006/main" noGrp="1"/>
          </p:cNvSpPr>
          <p:nvPr/>
        </p:nvSpPr>
        <p:spPr>
          <a:xfrm xmlns:a="http://schemas.openxmlformats.org/drawingml/2006/main">
            <a:off x="685800" y="5314950"/>
            <a:ext cx="10820400" cy="552450"/>
          </a:xfrm>
          <a:prstGeom xmlns:a="http://schemas.openxmlformats.org/drawingml/2006/main" prst="roundRect">
            <a:avLst>
              <a:gd name="adj" fmla="val 24138"/>
            </a:avLst>
          </a:prstGeom>
          <a:solidFill xmlns:a="http://schemas.openxmlformats.org/drawingml/2006/main">
            <a:srgbClr val="FFF5D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01B465A-9771-4042-B1DB-5D94CE9F8001}"/>
              </a:ext>
            </a:extLst>
          </p:cNvPr>
          <p:cNvSpPr>
            <a:spLocks xmlns:a="http://schemas.openxmlformats.org/drawingml/2006/main" noGrp="1"/>
          </p:cNvSpPr>
          <p:nvPr/>
        </p:nvSpPr>
        <p:spPr>
          <a:xfrm xmlns:a="http://schemas.openxmlformats.org/drawingml/2006/main">
            <a:off x="895350" y="5476875"/>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350" b="1">
                <a:solidFill>
                  <a:srgbClr val="805A00"/>
                </a:solidFill>
                <a:latin typeface="Arial"/>
                <a:ea typeface="Arial"/>
                <a:cs typeface="Arial"/>
              </a:defRPr>
            </a:pPr>
            <a:r>
              <a:rPr sz="1350" b="1">
                <a:solidFill>
                  <a:srgbClr val="805A00"/>
                </a:solidFill>
                <a:latin typeface="Arial"/>
                <a:ea typeface="Arial"/>
                <a:cs typeface="Arial"/>
              </a:rPr>
              <a:t>Nguyên tắc mở rộng: nâng gói khi chạm 80% hạn mức; không cần thay đổi quy trình hay di chuyển dữ liệu.</a:t>
            </a:r>
          </a:p>
        </p:txBody>
      </p:sp>
      <p:sp>
        <p:nvSpPr>
          <p:cNvPr id="7" name="">
            <a:extLst xmlns:a="http://schemas.openxmlformats.org/drawingml/2006/main">
              <a:ext uri="{FF2B5EF4-FFF2-40B4-BE49-F238E27FC236}">
                <a16:creationId xmlns:a16="http://schemas.microsoft.com/office/drawing/2014/main" id="{A27F18F0-D8A0-4AD3-B316-CCF37542F04C}"/>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giá tham khảo | Có thể điều chỉnh theo số công ty, SLA và nhu cầu tích hợp</a:t>
            </a:r>
          </a:p>
        </p:txBody>
      </p:sp>
      <p:sp>
        <p:nvSpPr>
          <p:cNvPr id="8" name="">
            <a:extLst xmlns:a="http://schemas.openxmlformats.org/drawingml/2006/main">
              <a:ext uri="{FF2B5EF4-FFF2-40B4-BE49-F238E27FC236}">
                <a16:creationId xmlns:a16="http://schemas.microsoft.com/office/drawing/2014/main" id="{F4F14DA2-40A7-47AB-B4F8-1431323E5778}"/>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07</a:t>
            </a:r>
          </a:p>
        </p:txBody>
      </p:sp>
    </p:spTree>
    <p:extLst>
      <p:ext uri="{BB962C8B-B14F-4D97-AF65-F5344CB8AC3E}">
        <p14:creationId xmlns:p14="http://schemas.microsoft.com/office/powerpoint/2010/main" val="1765410369"/>
      </p:ext>
    </p:extLst>
  </p:cSld>
</p:sld>
</file>

<file path=ppt/slides/slide8.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1E3B0A7-B164-4A4D-AB69-C4B4CB7BD156}"/>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LẬP LUẬN GIÁ TRỊ</a:t>
            </a:r>
          </a:p>
        </p:txBody>
      </p:sp>
      <p:sp>
        <p:nvSpPr>
          <p:cNvPr id="2" name="">
            <a:extLst xmlns:a="http://schemas.openxmlformats.org/drawingml/2006/main">
              <a:ext uri="{FF2B5EF4-FFF2-40B4-BE49-F238E27FC236}">
                <a16:creationId xmlns:a16="http://schemas.microsoft.com/office/drawing/2014/main" id="{9D92BE7A-EE42-4F0B-B3E9-269CA8F8D96A}"/>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Chi phí nhỏ hơn một lỗi vận hành</a:t>
            </a:r>
          </a:p>
        </p:txBody>
      </p:sp>
      <p:sp>
        <p:nvSpPr>
          <p:cNvPr id="3" name="">
            <a:extLst xmlns:a="http://schemas.openxmlformats.org/drawingml/2006/main">
              <a:ext uri="{FF2B5EF4-FFF2-40B4-BE49-F238E27FC236}">
                <a16:creationId xmlns:a16="http://schemas.microsoft.com/office/drawing/2014/main" id="{F936F335-E645-4757-80C9-4A6F51A9B089}"/>
              </a:ext>
            </a:extLst>
          </p:cNvPr>
          <p:cNvSpPr>
            <a:spLocks xmlns:a="http://schemas.openxmlformats.org/drawingml/2006/main" noGrp="1"/>
          </p:cNvSpPr>
          <p:nvPr/>
        </p:nvSpPr>
        <p:spPr>
          <a:xfrm xmlns:a="http://schemas.openxmlformats.org/drawingml/2006/main">
            <a:off x="685800" y="12954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0">
                <a:solidFill>
                  <a:srgbClr val="52606D"/>
                </a:solidFill>
                <a:latin typeface="Arial"/>
                <a:ea typeface="Arial"/>
                <a:cs typeface="Arial"/>
              </a:defRPr>
            </a:pPr>
            <a:r>
              <a:rPr sz="1650" b="0">
                <a:solidFill>
                  <a:srgbClr val="52606D"/>
                </a:solidFill>
                <a:latin typeface="Arial"/>
                <a:ea typeface="Arial"/>
                <a:cs typeface="Arial"/>
              </a:rPr>
              <a:t>Mô hình minh họa: chỉ cần giảm một phần thời gian đối soát mỗi tháng, gói phần mềm đã có thể tự hoàn vốn.</a:t>
            </a:r>
          </a:p>
        </p:txBody>
      </p:sp>
      <p:graphicFrame>
        <p:nvGraphicFramePr>
          <p:cNvPr id="22" name="Chart"/>
          <p:cNvGraphicFramePr/>
          <p:nvPr/>
        </p:nvGraphicFramePr>
        <p:xfrm>
          <a:off xmlns:a="http://schemas.openxmlformats.org/drawingml/2006/main" x="685800" y="2076450"/>
          <a:ext xmlns:a="http://schemas.openxmlformats.org/drawingml/2006/main" cx="7334250" cy="3333750"/>
        </p:xfrm>
        <a:graphic xmlns:a="http://schemas.openxmlformats.org/drawingml/2006/main">
          <a:graphicData uri="http://schemas.openxmlformats.org/drawingml/2006/chart">
            <c:chart xmlns:r="http://schemas.openxmlformats.org/officeDocument/2006/relationships" xmlns:c="http://schemas.openxmlformats.org/drawingml/2006/chart" r:id="Re2ffced8454e4b8d"/>
          </a:graphicData>
        </a:graphic>
      </p:graphicFrame>
      <p:sp>
        <p:nvSpPr>
          <p:cNvPr id="5" name="">
            <a:extLst xmlns:a="http://schemas.openxmlformats.org/drawingml/2006/main">
              <a:ext uri="{FF2B5EF4-FFF2-40B4-BE49-F238E27FC236}">
                <a16:creationId xmlns:a16="http://schemas.microsoft.com/office/drawing/2014/main" id="{3575D096-5893-4660-B283-585D3D9F4742}"/>
              </a:ext>
            </a:extLst>
          </p:cNvPr>
          <p:cNvSpPr>
            <a:spLocks xmlns:a="http://schemas.openxmlformats.org/drawingml/2006/main" noGrp="1"/>
          </p:cNvSpPr>
          <p:nvPr/>
        </p:nvSpPr>
        <p:spPr>
          <a:xfrm xmlns:a="http://schemas.openxmlformats.org/drawingml/2006/main">
            <a:off x="8572500" y="2076450"/>
            <a:ext cx="2933700" cy="3333750"/>
          </a:xfrm>
          <a:prstGeom xmlns:a="http://schemas.openxmlformats.org/drawingml/2006/main" prst="roundRect">
            <a:avLst>
              <a:gd name="adj" fmla="val 5844"/>
            </a:avLst>
          </a:prstGeom>
          <a:solidFill xmlns:a="http://schemas.openxmlformats.org/drawingml/2006/main">
            <a:srgbClr val="FFFFFF"/>
          </a:solidFill>
          <a:ln xmlns:a="http://schemas.openxmlformats.org/drawingml/2006/main" w="9525">
            <a:solidFill>
              <a:srgbClr val="D8E5E5"/>
            </a:solidFill>
          </a:ln>
        </p:spPr>
      </p:sp>
      <p:sp>
        <p:nvSpPr>
          <p:cNvPr id="6" name="">
            <a:extLst xmlns:a="http://schemas.openxmlformats.org/drawingml/2006/main">
              <a:ext uri="{FF2B5EF4-FFF2-40B4-BE49-F238E27FC236}">
                <a16:creationId xmlns:a16="http://schemas.microsoft.com/office/drawing/2014/main" id="{6191E02A-D5C3-4A3D-8C19-DD84386895C2}"/>
              </a:ext>
            </a:extLst>
          </p:cNvPr>
          <p:cNvSpPr>
            <a:spLocks xmlns:a="http://schemas.openxmlformats.org/drawingml/2006/main" noGrp="1"/>
          </p:cNvSpPr>
          <p:nvPr/>
        </p:nvSpPr>
        <p:spPr>
          <a:xfrm xmlns:a="http://schemas.openxmlformats.org/drawingml/2006/main">
            <a:off x="8877300" y="2381250"/>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1">
                <a:solidFill>
                  <a:srgbClr val="0B2538"/>
                </a:solidFill>
                <a:latin typeface="Arial"/>
                <a:ea typeface="Arial"/>
                <a:cs typeface="Arial"/>
              </a:defRPr>
            </a:pPr>
            <a:r>
              <a:rPr sz="1650" b="1">
                <a:solidFill>
                  <a:srgbClr val="0B2538"/>
                </a:solidFill>
                <a:latin typeface="Arial"/>
                <a:ea typeface="Arial"/>
                <a:cs typeface="Arial"/>
              </a:rPr>
              <a:t>Giả định minh họa</a:t>
            </a:r>
          </a:p>
        </p:txBody>
      </p:sp>
      <p:sp>
        <p:nvSpPr>
          <p:cNvPr id="7" name="">
            <a:extLst xmlns:a="http://schemas.openxmlformats.org/drawingml/2006/main">
              <a:ext uri="{FF2B5EF4-FFF2-40B4-BE49-F238E27FC236}">
                <a16:creationId xmlns:a16="http://schemas.microsoft.com/office/drawing/2014/main" id="{369B5C71-30A7-4F56-9DE5-EB911FFDA458}"/>
              </a:ext>
            </a:extLst>
          </p:cNvPr>
          <p:cNvSpPr>
            <a:spLocks xmlns:a="http://schemas.openxmlformats.org/drawingml/2006/main" noGrp="1"/>
          </p:cNvSpPr>
          <p:nvPr/>
        </p:nvSpPr>
        <p:spPr>
          <a:xfrm xmlns:a="http://schemas.openxmlformats.org/drawingml/2006/main">
            <a:off x="8877300" y="297180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2E93B57-33AA-4930-9E9E-941536927D2E}"/>
              </a:ext>
            </a:extLst>
          </p:cNvPr>
          <p:cNvSpPr>
            <a:spLocks xmlns:a="http://schemas.openxmlformats.org/drawingml/2006/main" noGrp="1"/>
          </p:cNvSpPr>
          <p:nvPr/>
        </p:nvSpPr>
        <p:spPr>
          <a:xfrm xmlns:a="http://schemas.openxmlformats.org/drawingml/2006/main">
            <a:off x="9105900" y="2905125"/>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10 giờ đối soát giảm mỗi tháng</a:t>
            </a:r>
          </a:p>
        </p:txBody>
      </p:sp>
      <p:sp>
        <p:nvSpPr>
          <p:cNvPr id="9" name="">
            <a:extLst xmlns:a="http://schemas.openxmlformats.org/drawingml/2006/main">
              <a:ext uri="{FF2B5EF4-FFF2-40B4-BE49-F238E27FC236}">
                <a16:creationId xmlns:a16="http://schemas.microsoft.com/office/drawing/2014/main" id="{421C35C4-4165-4104-97DC-50ED92772AB2}"/>
              </a:ext>
            </a:extLst>
          </p:cNvPr>
          <p:cNvSpPr>
            <a:spLocks xmlns:a="http://schemas.openxmlformats.org/drawingml/2006/main" noGrp="1"/>
          </p:cNvSpPr>
          <p:nvPr/>
        </p:nvSpPr>
        <p:spPr>
          <a:xfrm xmlns:a="http://schemas.openxmlformats.org/drawingml/2006/main">
            <a:off x="8877300" y="349567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F6BE3A0-150D-463F-8F2B-7403199CEB27}"/>
              </a:ext>
            </a:extLst>
          </p:cNvPr>
          <p:cNvSpPr>
            <a:spLocks xmlns:a="http://schemas.openxmlformats.org/drawingml/2006/main" noGrp="1"/>
          </p:cNvSpPr>
          <p:nvPr/>
        </p:nvSpPr>
        <p:spPr>
          <a:xfrm xmlns:a="http://schemas.openxmlformats.org/drawingml/2006/main">
            <a:off x="9105900" y="3429000"/>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120.000 đ / giờ chi phí thời gian</a:t>
            </a:r>
          </a:p>
        </p:txBody>
      </p:sp>
      <p:sp>
        <p:nvSpPr>
          <p:cNvPr id="11" name="">
            <a:extLst xmlns:a="http://schemas.openxmlformats.org/drawingml/2006/main">
              <a:ext uri="{FF2B5EF4-FFF2-40B4-BE49-F238E27FC236}">
                <a16:creationId xmlns:a16="http://schemas.microsoft.com/office/drawing/2014/main" id="{B2432A9C-9B14-4397-88F6-66E847793B86}"/>
              </a:ext>
            </a:extLst>
          </p:cNvPr>
          <p:cNvSpPr>
            <a:spLocks xmlns:a="http://schemas.openxmlformats.org/drawingml/2006/main" noGrp="1"/>
          </p:cNvSpPr>
          <p:nvPr/>
        </p:nvSpPr>
        <p:spPr>
          <a:xfrm xmlns:a="http://schemas.openxmlformats.org/drawingml/2006/main">
            <a:off x="8877300" y="4019550"/>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CC9AC41-4A5B-4144-B628-78FC6729542C}"/>
              </a:ext>
            </a:extLst>
          </p:cNvPr>
          <p:cNvSpPr>
            <a:spLocks xmlns:a="http://schemas.openxmlformats.org/drawingml/2006/main" noGrp="1"/>
          </p:cNvSpPr>
          <p:nvPr/>
        </p:nvSpPr>
        <p:spPr>
          <a:xfrm xmlns:a="http://schemas.openxmlformats.org/drawingml/2006/main">
            <a:off x="9105900" y="3952875"/>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Giá trị trực tiếp: 1,2 triệu đ</a:t>
            </a:r>
          </a:p>
        </p:txBody>
      </p:sp>
      <p:sp>
        <p:nvSpPr>
          <p:cNvPr id="13" name="">
            <a:extLst xmlns:a="http://schemas.openxmlformats.org/drawingml/2006/main">
              <a:ext uri="{FF2B5EF4-FFF2-40B4-BE49-F238E27FC236}">
                <a16:creationId xmlns:a16="http://schemas.microsoft.com/office/drawing/2014/main" id="{4DF83B6F-87BE-4FA3-ADBA-FF2D5040C064}"/>
              </a:ext>
            </a:extLst>
          </p:cNvPr>
          <p:cNvSpPr>
            <a:spLocks xmlns:a="http://schemas.openxmlformats.org/drawingml/2006/main" noGrp="1"/>
          </p:cNvSpPr>
          <p:nvPr/>
        </p:nvSpPr>
        <p:spPr>
          <a:xfrm xmlns:a="http://schemas.openxmlformats.org/drawingml/2006/main">
            <a:off x="8877300" y="4543425"/>
            <a:ext cx="95250" cy="9525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AFCCFBD-950B-4252-8047-B493C285FAA3}"/>
              </a:ext>
            </a:extLst>
          </p:cNvPr>
          <p:cNvSpPr>
            <a:spLocks xmlns:a="http://schemas.openxmlformats.org/drawingml/2006/main" noGrp="1"/>
          </p:cNvSpPr>
          <p:nvPr/>
        </p:nvSpPr>
        <p:spPr>
          <a:xfrm xmlns:a="http://schemas.openxmlformats.org/drawingml/2006/main">
            <a:off x="9105900" y="4476750"/>
            <a:ext cx="21050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00" b="0">
                <a:solidFill>
                  <a:srgbClr val="12212B"/>
                </a:solidFill>
                <a:latin typeface="Arial"/>
                <a:ea typeface="Arial"/>
                <a:cs typeface="Arial"/>
              </a:defRPr>
            </a:pPr>
            <a:r>
              <a:rPr sz="1200" b="0">
                <a:solidFill>
                  <a:srgbClr val="12212B"/>
                </a:solidFill>
                <a:latin typeface="Arial"/>
                <a:ea typeface="Arial"/>
                <a:cs typeface="Arial"/>
              </a:rPr>
              <a:t>Chưa tính lỗi dữ liệu và quyết định chậm</a:t>
            </a:r>
          </a:p>
        </p:txBody>
      </p:sp>
      <p:sp>
        <p:nvSpPr>
          <p:cNvPr id="15" name="">
            <a:extLst xmlns:a="http://schemas.openxmlformats.org/drawingml/2006/main">
              <a:ext uri="{FF2B5EF4-FFF2-40B4-BE49-F238E27FC236}">
                <a16:creationId xmlns:a16="http://schemas.microsoft.com/office/drawing/2014/main" id="{82788198-2892-4EA7-B51D-F7676BD3EC80}"/>
              </a:ext>
            </a:extLst>
          </p:cNvPr>
          <p:cNvSpPr>
            <a:spLocks xmlns:a="http://schemas.openxmlformats.org/drawingml/2006/main" noGrp="1"/>
          </p:cNvSpPr>
          <p:nvPr/>
        </p:nvSpPr>
        <p:spPr>
          <a:xfrm xmlns:a="http://schemas.openxmlformats.org/drawingml/2006/main">
            <a:off x="8877300" y="5010150"/>
            <a:ext cx="2324100" cy="304800"/>
          </a:xfrm>
          <a:prstGeom xmlns:a="http://schemas.openxmlformats.org/drawingml/2006/main" prst="roundRect">
            <a:avLst>
              <a:gd name="adj" fmla="val 37500"/>
            </a:avLst>
          </a:prstGeom>
          <a:solidFill xmlns:a="http://schemas.openxmlformats.org/drawingml/2006/main">
            <a:srgbClr val="EAF8F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4F9E83F-3BA3-4458-8086-E3F5A11AEC78}"/>
              </a:ext>
            </a:extLst>
          </p:cNvPr>
          <p:cNvSpPr>
            <a:spLocks xmlns:a="http://schemas.openxmlformats.org/drawingml/2006/main" noGrp="1"/>
          </p:cNvSpPr>
          <p:nvPr/>
        </p:nvSpPr>
        <p:spPr>
          <a:xfrm xmlns:a="http://schemas.openxmlformats.org/drawingml/2006/main">
            <a:off x="8991600" y="50863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125" b="1">
                <a:solidFill>
                  <a:srgbClr val="159A78"/>
                </a:solidFill>
                <a:latin typeface="Arial"/>
                <a:ea typeface="Arial"/>
                <a:cs typeface="Arial"/>
              </a:defRPr>
            </a:pPr>
            <a:r>
              <a:rPr sz="1125" b="1">
                <a:solidFill>
                  <a:srgbClr val="159A78"/>
                </a:solidFill>
                <a:latin typeface="Arial"/>
                <a:ea typeface="Arial"/>
                <a:cs typeface="Arial"/>
              </a:rPr>
              <a:t>Khởi động: 2,4×</a:t>
            </a:r>
          </a:p>
        </p:txBody>
      </p:sp>
      <p:sp>
        <p:nvSpPr>
          <p:cNvPr id="17" name="">
            <a:extLst xmlns:a="http://schemas.openxmlformats.org/drawingml/2006/main">
              <a:ext uri="{FF2B5EF4-FFF2-40B4-BE49-F238E27FC236}">
                <a16:creationId xmlns:a16="http://schemas.microsoft.com/office/drawing/2014/main" id="{F1AB026A-74AF-448B-88EE-C51BFC65EAAF}"/>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Giả định minh họa, cần đo lại trong pilot 30 ngày</a:t>
            </a:r>
          </a:p>
        </p:txBody>
      </p:sp>
      <p:sp>
        <p:nvSpPr>
          <p:cNvPr id="18" name="">
            <a:extLst xmlns:a="http://schemas.openxmlformats.org/drawingml/2006/main">
              <a:ext uri="{FF2B5EF4-FFF2-40B4-BE49-F238E27FC236}">
                <a16:creationId xmlns:a16="http://schemas.microsoft.com/office/drawing/2014/main" id="{F173B99D-BCEF-4598-9C23-90EB1839071C}"/>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08</a:t>
            </a:r>
          </a:p>
        </p:txBody>
      </p:sp>
    </p:spTree>
    <p:extLst>
      <p:ext uri="{BB962C8B-B14F-4D97-AF65-F5344CB8AC3E}">
        <p14:creationId xmlns:p14="http://schemas.microsoft.com/office/powerpoint/2010/main" val="1799539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F01AC5A-953D-4B02-88A6-2F1EFE300A87}"/>
              </a:ext>
            </a:extLst>
          </p:cNvPr>
          <p:cNvSpPr>
            <a:spLocks xmlns:a="http://schemas.openxmlformats.org/drawingml/2006/main" noGrp="1"/>
          </p:cNvSpPr>
          <p:nvPr/>
        </p:nvSpPr>
        <p:spPr>
          <a:xfrm xmlns:a="http://schemas.openxmlformats.org/drawingml/2006/main">
            <a:off x="685800" y="4000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050" b="1">
                <a:solidFill>
                  <a:srgbClr val="0F8B8D"/>
                </a:solidFill>
                <a:latin typeface="Arial"/>
                <a:ea typeface="Arial"/>
                <a:cs typeface="Arial"/>
              </a:defRPr>
            </a:pPr>
            <a:r>
              <a:rPr sz="1050" b="1">
                <a:solidFill>
                  <a:srgbClr val="0F8B8D"/>
                </a:solidFill>
                <a:latin typeface="Arial"/>
                <a:ea typeface="Arial"/>
                <a:cs typeface="Arial"/>
              </a:rPr>
              <a:t>CÁCH BÁN VÀ TRIỂN KHAI</a:t>
            </a:r>
          </a:p>
        </p:txBody>
      </p:sp>
      <p:sp>
        <p:nvSpPr>
          <p:cNvPr id="2" name="">
            <a:extLst xmlns:a="http://schemas.openxmlformats.org/drawingml/2006/main">
              <a:ext uri="{FF2B5EF4-FFF2-40B4-BE49-F238E27FC236}">
                <a16:creationId xmlns:a16="http://schemas.microsoft.com/office/drawing/2014/main" id="{7D9A8852-DA24-4E1E-8AAB-0965AF7CCAE2}"/>
              </a:ext>
            </a:extLst>
          </p:cNvPr>
          <p:cNvSpPr>
            <a:spLocks xmlns:a="http://schemas.openxmlformats.org/drawingml/2006/main" noGrp="1"/>
          </p:cNvSpPr>
          <p:nvPr/>
        </p:nvSpPr>
        <p:spPr>
          <a:xfrm xmlns:a="http://schemas.openxmlformats.org/drawingml/2006/main">
            <a:off x="685800" y="6477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000" b="1">
                <a:solidFill>
                  <a:srgbClr val="0B2538"/>
                </a:solidFill>
                <a:latin typeface="Arial"/>
                <a:ea typeface="Arial"/>
                <a:cs typeface="Arial"/>
              </a:defRPr>
            </a:pPr>
            <a:r>
              <a:rPr sz="3000" b="1">
                <a:solidFill>
                  <a:srgbClr val="0B2538"/>
                </a:solidFill>
                <a:latin typeface="Arial"/>
                <a:ea typeface="Arial"/>
                <a:cs typeface="Arial"/>
              </a:rPr>
              <a:t>Lộ trình thí điểm 30 ngày</a:t>
            </a:r>
          </a:p>
        </p:txBody>
      </p:sp>
      <p:sp>
        <p:nvSpPr>
          <p:cNvPr id="3" name="">
            <a:extLst xmlns:a="http://schemas.openxmlformats.org/drawingml/2006/main">
              <a:ext uri="{FF2B5EF4-FFF2-40B4-BE49-F238E27FC236}">
                <a16:creationId xmlns:a16="http://schemas.microsoft.com/office/drawing/2014/main" id="{A094767B-2F54-4D28-85E3-599F6EBB2DF4}"/>
              </a:ext>
            </a:extLst>
          </p:cNvPr>
          <p:cNvSpPr>
            <a:spLocks xmlns:a="http://schemas.openxmlformats.org/drawingml/2006/main" noGrp="1"/>
          </p:cNvSpPr>
          <p:nvPr/>
        </p:nvSpPr>
        <p:spPr>
          <a:xfrm xmlns:a="http://schemas.openxmlformats.org/drawingml/2006/main">
            <a:off x="685800" y="1295400"/>
            <a:ext cx="876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0">
                <a:solidFill>
                  <a:srgbClr val="52606D"/>
                </a:solidFill>
                <a:latin typeface="Arial"/>
                <a:ea typeface="Arial"/>
                <a:cs typeface="Arial"/>
              </a:defRPr>
            </a:pPr>
            <a:r>
              <a:rPr sz="1650" b="0">
                <a:solidFill>
                  <a:srgbClr val="52606D"/>
                </a:solidFill>
                <a:latin typeface="Arial"/>
                <a:ea typeface="Arial"/>
                <a:cs typeface="Arial"/>
              </a:rPr>
              <a:t>Bắt đầu nhỏ, đo được, và chỉ mở rộng khi người dùng đã nhìn thấy dữ liệu của chính họ.</a:t>
            </a:r>
          </a:p>
        </p:txBody>
      </p:sp>
      <p:sp>
        <p:nvSpPr>
          <p:cNvPr id="4" name="">
            <a:extLst xmlns:a="http://schemas.openxmlformats.org/drawingml/2006/main">
              <a:ext uri="{FF2B5EF4-FFF2-40B4-BE49-F238E27FC236}">
                <a16:creationId xmlns:a16="http://schemas.microsoft.com/office/drawing/2014/main" id="{DBE89A1F-CDA4-467C-B332-CAFB5209EA9E}"/>
              </a:ext>
            </a:extLst>
          </p:cNvPr>
          <p:cNvSpPr>
            <a:spLocks xmlns:a="http://schemas.openxmlformats.org/drawingml/2006/main" noGrp="1"/>
          </p:cNvSpPr>
          <p:nvPr/>
        </p:nvSpPr>
        <p:spPr>
          <a:xfrm xmlns:a="http://schemas.openxmlformats.org/drawingml/2006/main">
            <a:off x="6858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0F8B8D"/>
            </a:solidFill>
          </a:ln>
        </p:spPr>
      </p:sp>
      <p:sp>
        <p:nvSpPr>
          <p:cNvPr id="5" name="">
            <a:extLst xmlns:a="http://schemas.openxmlformats.org/drawingml/2006/main">
              <a:ext uri="{FF2B5EF4-FFF2-40B4-BE49-F238E27FC236}">
                <a16:creationId xmlns:a16="http://schemas.microsoft.com/office/drawing/2014/main" id="{A0F069B1-7054-4BBD-A6D9-3D87D14C4DE9}"/>
              </a:ext>
            </a:extLst>
          </p:cNvPr>
          <p:cNvSpPr>
            <a:spLocks xmlns:a="http://schemas.openxmlformats.org/drawingml/2006/main" noGrp="1"/>
          </p:cNvSpPr>
          <p:nvPr/>
        </p:nvSpPr>
        <p:spPr>
          <a:xfrm xmlns:a="http://schemas.openxmlformats.org/drawingml/2006/main">
            <a:off x="685800" y="2286000"/>
            <a:ext cx="2362200" cy="114300"/>
          </a:xfrm>
          <a:prstGeom xmlns:a="http://schemas.openxmlformats.org/drawingml/2006/main" prst="roundRect">
            <a:avLst>
              <a:gd name="adj" fmla="val 50000"/>
            </a:avLst>
          </a:prstGeom>
          <a:solidFill xmlns:a="http://schemas.openxmlformats.org/drawingml/2006/main">
            <a:srgbClr val="0F8B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64885AE-B40B-4E94-B9F2-A7998276016A}"/>
              </a:ext>
            </a:extLst>
          </p:cNvPr>
          <p:cNvSpPr>
            <a:spLocks xmlns:a="http://schemas.openxmlformats.org/drawingml/2006/main" noGrp="1"/>
          </p:cNvSpPr>
          <p:nvPr/>
        </p:nvSpPr>
        <p:spPr>
          <a:xfrm xmlns:a="http://schemas.openxmlformats.org/drawingml/2006/main">
            <a:off x="9144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0F8B8D"/>
                </a:solidFill>
                <a:latin typeface="Arial"/>
                <a:ea typeface="Arial"/>
                <a:cs typeface="Arial"/>
              </a:defRPr>
            </a:pPr>
            <a:r>
              <a:rPr sz="1125" b="1">
                <a:solidFill>
                  <a:srgbClr val="0F8B8D"/>
                </a:solidFill>
                <a:latin typeface="Arial"/>
                <a:ea typeface="Arial"/>
                <a:cs typeface="Arial"/>
              </a:rPr>
              <a:t>Tuần 1</a:t>
            </a:r>
          </a:p>
        </p:txBody>
      </p:sp>
      <p:sp>
        <p:nvSpPr>
          <p:cNvPr id="7" name="">
            <a:extLst xmlns:a="http://schemas.openxmlformats.org/drawingml/2006/main">
              <a:ext uri="{FF2B5EF4-FFF2-40B4-BE49-F238E27FC236}">
                <a16:creationId xmlns:a16="http://schemas.microsoft.com/office/drawing/2014/main" id="{A0212608-A30D-48F6-B255-06FEF159AB18}"/>
              </a:ext>
            </a:extLst>
          </p:cNvPr>
          <p:cNvSpPr>
            <a:spLocks xmlns:a="http://schemas.openxmlformats.org/drawingml/2006/main" noGrp="1"/>
          </p:cNvSpPr>
          <p:nvPr/>
        </p:nvSpPr>
        <p:spPr>
          <a:xfrm xmlns:a="http://schemas.openxmlformats.org/drawingml/2006/main">
            <a:off x="9144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Thiết lập</a:t>
            </a:r>
          </a:p>
        </p:txBody>
      </p:sp>
      <p:sp>
        <p:nvSpPr>
          <p:cNvPr id="8" name="">
            <a:extLst xmlns:a="http://schemas.openxmlformats.org/drawingml/2006/main">
              <a:ext uri="{FF2B5EF4-FFF2-40B4-BE49-F238E27FC236}">
                <a16:creationId xmlns:a16="http://schemas.microsoft.com/office/drawing/2014/main" id="{9E10F914-9997-41B5-9214-D389C4B72BCD}"/>
              </a:ext>
            </a:extLst>
          </p:cNvPr>
          <p:cNvSpPr>
            <a:spLocks xmlns:a="http://schemas.openxmlformats.org/drawingml/2006/main" noGrp="1"/>
          </p:cNvSpPr>
          <p:nvPr/>
        </p:nvSpPr>
        <p:spPr>
          <a:xfrm xmlns:a="http://schemas.openxmlformats.org/drawingml/2006/main">
            <a:off x="9144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Chốt công ty, nhà máy, staff, đối tác và quyền truy cập.</a:t>
            </a:r>
          </a:p>
        </p:txBody>
      </p:sp>
      <p:sp>
        <p:nvSpPr>
          <p:cNvPr id="9" name="">
            <a:extLst xmlns:a="http://schemas.openxmlformats.org/drawingml/2006/main">
              <a:ext uri="{FF2B5EF4-FFF2-40B4-BE49-F238E27FC236}">
                <a16:creationId xmlns:a16="http://schemas.microsoft.com/office/drawing/2014/main" id="{91A21A79-F067-42BB-91F5-A81F1CCBDAC0}"/>
              </a:ext>
            </a:extLst>
          </p:cNvPr>
          <p:cNvSpPr>
            <a:spLocks xmlns:a="http://schemas.openxmlformats.org/drawingml/2006/main" noGrp="1"/>
          </p:cNvSpPr>
          <p:nvPr/>
        </p:nvSpPr>
        <p:spPr>
          <a:xfrm xmlns:a="http://schemas.openxmlformats.org/drawingml/2006/main">
            <a:off x="3086100" y="33337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0F8B8D"/>
                </a:solidFill>
                <a:latin typeface="Arial"/>
                <a:ea typeface="Arial"/>
                <a:cs typeface="Arial"/>
              </a:defRPr>
            </a:pPr>
            <a:r>
              <a:rPr sz="1800" b="1">
                <a:solidFill>
                  <a:srgbClr val="0F8B8D"/>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0A4FC2B0-86C9-4353-AA78-EE77753E09A5}"/>
              </a:ext>
            </a:extLst>
          </p:cNvPr>
          <p:cNvSpPr>
            <a:spLocks xmlns:a="http://schemas.openxmlformats.org/drawingml/2006/main" noGrp="1"/>
          </p:cNvSpPr>
          <p:nvPr/>
        </p:nvSpPr>
        <p:spPr>
          <a:xfrm xmlns:a="http://schemas.openxmlformats.org/drawingml/2006/main">
            <a:off x="33909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38BDF8"/>
            </a:solidFill>
          </a:ln>
        </p:spPr>
      </p:sp>
      <p:sp>
        <p:nvSpPr>
          <p:cNvPr id="11" name="">
            <a:extLst xmlns:a="http://schemas.openxmlformats.org/drawingml/2006/main">
              <a:ext uri="{FF2B5EF4-FFF2-40B4-BE49-F238E27FC236}">
                <a16:creationId xmlns:a16="http://schemas.microsoft.com/office/drawing/2014/main" id="{14302C35-AD23-417B-AA4E-DCC1D118803B}"/>
              </a:ext>
            </a:extLst>
          </p:cNvPr>
          <p:cNvSpPr>
            <a:spLocks xmlns:a="http://schemas.openxmlformats.org/drawingml/2006/main" noGrp="1"/>
          </p:cNvSpPr>
          <p:nvPr/>
        </p:nvSpPr>
        <p:spPr>
          <a:xfrm xmlns:a="http://schemas.openxmlformats.org/drawingml/2006/main">
            <a:off x="3390900" y="2286000"/>
            <a:ext cx="2362200" cy="1143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2419542-D77E-47FC-84A5-E0BCB30A7CB4}"/>
              </a:ext>
            </a:extLst>
          </p:cNvPr>
          <p:cNvSpPr>
            <a:spLocks xmlns:a="http://schemas.openxmlformats.org/drawingml/2006/main" noGrp="1"/>
          </p:cNvSpPr>
          <p:nvPr/>
        </p:nvSpPr>
        <p:spPr>
          <a:xfrm xmlns:a="http://schemas.openxmlformats.org/drawingml/2006/main">
            <a:off x="36195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38BDF8"/>
                </a:solidFill>
                <a:latin typeface="Arial"/>
                <a:ea typeface="Arial"/>
                <a:cs typeface="Arial"/>
              </a:defRPr>
            </a:pPr>
            <a:r>
              <a:rPr sz="1125" b="1">
                <a:solidFill>
                  <a:srgbClr val="38BDF8"/>
                </a:solidFill>
                <a:latin typeface="Arial"/>
                <a:ea typeface="Arial"/>
                <a:cs typeface="Arial"/>
              </a:rPr>
              <a:t>Tuần 2</a:t>
            </a:r>
          </a:p>
        </p:txBody>
      </p:sp>
      <p:sp>
        <p:nvSpPr>
          <p:cNvPr id="13" name="">
            <a:extLst xmlns:a="http://schemas.openxmlformats.org/drawingml/2006/main">
              <a:ext uri="{FF2B5EF4-FFF2-40B4-BE49-F238E27FC236}">
                <a16:creationId xmlns:a16="http://schemas.microsoft.com/office/drawing/2014/main" id="{8B39AF02-3FFE-4001-8F5D-1FA669C12FAF}"/>
              </a:ext>
            </a:extLst>
          </p:cNvPr>
          <p:cNvSpPr>
            <a:spLocks xmlns:a="http://schemas.openxmlformats.org/drawingml/2006/main" noGrp="1"/>
          </p:cNvSpPr>
          <p:nvPr/>
        </p:nvSpPr>
        <p:spPr>
          <a:xfrm xmlns:a="http://schemas.openxmlformats.org/drawingml/2006/main">
            <a:off x="36195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Di chuyển dữ liệu</a:t>
            </a:r>
          </a:p>
        </p:txBody>
      </p:sp>
      <p:sp>
        <p:nvSpPr>
          <p:cNvPr id="14" name="">
            <a:extLst xmlns:a="http://schemas.openxmlformats.org/drawingml/2006/main">
              <a:ext uri="{FF2B5EF4-FFF2-40B4-BE49-F238E27FC236}">
                <a16:creationId xmlns:a16="http://schemas.microsoft.com/office/drawing/2014/main" id="{4F774D63-F4DB-45E7-BD81-68C8907209A5}"/>
              </a:ext>
            </a:extLst>
          </p:cNvPr>
          <p:cNvSpPr>
            <a:spLocks xmlns:a="http://schemas.openxmlformats.org/drawingml/2006/main" noGrp="1"/>
          </p:cNvSpPr>
          <p:nvPr/>
        </p:nvSpPr>
        <p:spPr>
          <a:xfrm xmlns:a="http://schemas.openxmlformats.org/drawingml/2006/main">
            <a:off x="36195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Nhập Excel theo template; xử lý các dòng lỗi còn lại.</a:t>
            </a:r>
          </a:p>
        </p:txBody>
      </p:sp>
      <p:sp>
        <p:nvSpPr>
          <p:cNvPr id="15" name="">
            <a:extLst xmlns:a="http://schemas.openxmlformats.org/drawingml/2006/main">
              <a:ext uri="{FF2B5EF4-FFF2-40B4-BE49-F238E27FC236}">
                <a16:creationId xmlns:a16="http://schemas.microsoft.com/office/drawing/2014/main" id="{E0516A62-7EE5-4436-9DE6-7AF0E76EFC8E}"/>
              </a:ext>
            </a:extLst>
          </p:cNvPr>
          <p:cNvSpPr>
            <a:spLocks xmlns:a="http://schemas.openxmlformats.org/drawingml/2006/main" noGrp="1"/>
          </p:cNvSpPr>
          <p:nvPr/>
        </p:nvSpPr>
        <p:spPr>
          <a:xfrm xmlns:a="http://schemas.openxmlformats.org/drawingml/2006/main">
            <a:off x="5791200" y="33337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0F8B8D"/>
                </a:solidFill>
                <a:latin typeface="Arial"/>
                <a:ea typeface="Arial"/>
                <a:cs typeface="Arial"/>
              </a:defRPr>
            </a:pPr>
            <a:r>
              <a:rPr sz="1800" b="1">
                <a:solidFill>
                  <a:srgbClr val="0F8B8D"/>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81E3E3C4-2A33-44ED-9DCC-863D98CA7393}"/>
              </a:ext>
            </a:extLst>
          </p:cNvPr>
          <p:cNvSpPr>
            <a:spLocks xmlns:a="http://schemas.openxmlformats.org/drawingml/2006/main" noGrp="1"/>
          </p:cNvSpPr>
          <p:nvPr/>
        </p:nvSpPr>
        <p:spPr>
          <a:xfrm xmlns:a="http://schemas.openxmlformats.org/drawingml/2006/main">
            <a:off x="60960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F59E0B"/>
            </a:solidFill>
          </a:ln>
        </p:spPr>
      </p:sp>
      <p:sp>
        <p:nvSpPr>
          <p:cNvPr id="17" name="">
            <a:extLst xmlns:a="http://schemas.openxmlformats.org/drawingml/2006/main">
              <a:ext uri="{FF2B5EF4-FFF2-40B4-BE49-F238E27FC236}">
                <a16:creationId xmlns:a16="http://schemas.microsoft.com/office/drawing/2014/main" id="{BCDCE145-3E63-47F9-988C-F242700EF9B2}"/>
              </a:ext>
            </a:extLst>
          </p:cNvPr>
          <p:cNvSpPr>
            <a:spLocks xmlns:a="http://schemas.openxmlformats.org/drawingml/2006/main" noGrp="1"/>
          </p:cNvSpPr>
          <p:nvPr/>
        </p:nvSpPr>
        <p:spPr>
          <a:xfrm xmlns:a="http://schemas.openxmlformats.org/drawingml/2006/main">
            <a:off x="6096000" y="2286000"/>
            <a:ext cx="2362200" cy="1143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C13A9FC-C4EF-4CF6-9B7D-CB58B3F4B5FE}"/>
              </a:ext>
            </a:extLst>
          </p:cNvPr>
          <p:cNvSpPr>
            <a:spLocks xmlns:a="http://schemas.openxmlformats.org/drawingml/2006/main" noGrp="1"/>
          </p:cNvSpPr>
          <p:nvPr/>
        </p:nvSpPr>
        <p:spPr>
          <a:xfrm xmlns:a="http://schemas.openxmlformats.org/drawingml/2006/main">
            <a:off x="63246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F59E0B"/>
                </a:solidFill>
                <a:latin typeface="Arial"/>
                <a:ea typeface="Arial"/>
                <a:cs typeface="Arial"/>
              </a:defRPr>
            </a:pPr>
            <a:r>
              <a:rPr sz="1125" b="1">
                <a:solidFill>
                  <a:srgbClr val="F59E0B"/>
                </a:solidFill>
                <a:latin typeface="Arial"/>
                <a:ea typeface="Arial"/>
                <a:cs typeface="Arial"/>
              </a:rPr>
              <a:t>Tuần 3</a:t>
            </a:r>
          </a:p>
        </p:txBody>
      </p:sp>
      <p:sp>
        <p:nvSpPr>
          <p:cNvPr id="19" name="">
            <a:extLst xmlns:a="http://schemas.openxmlformats.org/drawingml/2006/main">
              <a:ext uri="{FF2B5EF4-FFF2-40B4-BE49-F238E27FC236}">
                <a16:creationId xmlns:a16="http://schemas.microsoft.com/office/drawing/2014/main" id="{4C9ECE3D-72E1-4B89-B9A6-F0313FEC0F0B}"/>
              </a:ext>
            </a:extLst>
          </p:cNvPr>
          <p:cNvSpPr>
            <a:spLocks xmlns:a="http://schemas.openxmlformats.org/drawingml/2006/main" noGrp="1"/>
          </p:cNvSpPr>
          <p:nvPr/>
        </p:nvSpPr>
        <p:spPr>
          <a:xfrm xmlns:a="http://schemas.openxmlformats.org/drawingml/2006/main">
            <a:off x="63246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Đưa vào nhịp</a:t>
            </a:r>
          </a:p>
        </p:txBody>
      </p:sp>
      <p:sp>
        <p:nvSpPr>
          <p:cNvPr id="20" name="">
            <a:extLst xmlns:a="http://schemas.openxmlformats.org/drawingml/2006/main">
              <a:ext uri="{FF2B5EF4-FFF2-40B4-BE49-F238E27FC236}">
                <a16:creationId xmlns:a16="http://schemas.microsoft.com/office/drawing/2014/main" id="{7E39A466-1EB2-44C2-AAD9-B52965E23DCD}"/>
              </a:ext>
            </a:extLst>
          </p:cNvPr>
          <p:cNvSpPr>
            <a:spLocks xmlns:a="http://schemas.openxmlformats.org/drawingml/2006/main" noGrp="1"/>
          </p:cNvSpPr>
          <p:nvPr/>
        </p:nvSpPr>
        <p:spPr>
          <a:xfrm xmlns:a="http://schemas.openxmlformats.org/drawingml/2006/main">
            <a:off x="63246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Chạy luồng hồ sơ, lịch sử đi làm, phê duyệt và công/lương.</a:t>
            </a:r>
          </a:p>
        </p:txBody>
      </p:sp>
      <p:sp>
        <p:nvSpPr>
          <p:cNvPr id="21" name="">
            <a:extLst xmlns:a="http://schemas.openxmlformats.org/drawingml/2006/main">
              <a:ext uri="{FF2B5EF4-FFF2-40B4-BE49-F238E27FC236}">
                <a16:creationId xmlns:a16="http://schemas.microsoft.com/office/drawing/2014/main" id="{6387909C-ABF1-47F7-BDB0-BBD992F6F327}"/>
              </a:ext>
            </a:extLst>
          </p:cNvPr>
          <p:cNvSpPr>
            <a:spLocks xmlns:a="http://schemas.openxmlformats.org/drawingml/2006/main" noGrp="1"/>
          </p:cNvSpPr>
          <p:nvPr/>
        </p:nvSpPr>
        <p:spPr>
          <a:xfrm xmlns:a="http://schemas.openxmlformats.org/drawingml/2006/main">
            <a:off x="8496300" y="33337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800" b="1">
                <a:solidFill>
                  <a:srgbClr val="0F8B8D"/>
                </a:solidFill>
                <a:latin typeface="Arial"/>
                <a:ea typeface="Arial"/>
                <a:cs typeface="Arial"/>
              </a:defRPr>
            </a:pPr>
            <a:r>
              <a:rPr sz="1800" b="1">
                <a:solidFill>
                  <a:srgbClr val="0F8B8D"/>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863AB2FA-217F-4499-9C61-EC28ACE9A9B2}"/>
              </a:ext>
            </a:extLst>
          </p:cNvPr>
          <p:cNvSpPr>
            <a:spLocks xmlns:a="http://schemas.openxmlformats.org/drawingml/2006/main" noGrp="1"/>
          </p:cNvSpPr>
          <p:nvPr/>
        </p:nvSpPr>
        <p:spPr>
          <a:xfrm xmlns:a="http://schemas.openxmlformats.org/drawingml/2006/main">
            <a:off x="8801100" y="2286000"/>
            <a:ext cx="2362200" cy="2428875"/>
          </a:xfrm>
          <a:prstGeom xmlns:a="http://schemas.openxmlformats.org/drawingml/2006/main" prst="roundRect">
            <a:avLst>
              <a:gd name="adj" fmla="val 7258"/>
            </a:avLst>
          </a:prstGeom>
          <a:solidFill xmlns:a="http://schemas.openxmlformats.org/drawingml/2006/main">
            <a:srgbClr val="F3F8F8"/>
          </a:solidFill>
          <a:ln xmlns:a="http://schemas.openxmlformats.org/drawingml/2006/main" w="9525">
            <a:solidFill>
              <a:srgbClr val="159A78"/>
            </a:solidFill>
          </a:ln>
        </p:spPr>
      </p:sp>
      <p:sp>
        <p:nvSpPr>
          <p:cNvPr id="23" name="">
            <a:extLst xmlns:a="http://schemas.openxmlformats.org/drawingml/2006/main">
              <a:ext uri="{FF2B5EF4-FFF2-40B4-BE49-F238E27FC236}">
                <a16:creationId xmlns:a16="http://schemas.microsoft.com/office/drawing/2014/main" id="{A7FE7FAD-BF4D-4F5D-9D86-D4BE3A2A11FD}"/>
              </a:ext>
            </a:extLst>
          </p:cNvPr>
          <p:cNvSpPr>
            <a:spLocks xmlns:a="http://schemas.openxmlformats.org/drawingml/2006/main" noGrp="1"/>
          </p:cNvSpPr>
          <p:nvPr/>
        </p:nvSpPr>
        <p:spPr>
          <a:xfrm xmlns:a="http://schemas.openxmlformats.org/drawingml/2006/main">
            <a:off x="8801100" y="2286000"/>
            <a:ext cx="2362200" cy="114300"/>
          </a:xfrm>
          <a:prstGeom xmlns:a="http://schemas.openxmlformats.org/drawingml/2006/main" prst="roundRect">
            <a:avLst>
              <a:gd name="adj" fmla="val 50000"/>
            </a:avLst>
          </a:prstGeom>
          <a:solidFill xmlns:a="http://schemas.openxmlformats.org/drawingml/2006/main">
            <a:srgbClr val="159A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AE195C8-D51D-44C9-BD2F-754AF5032F7C}"/>
              </a:ext>
            </a:extLst>
          </p:cNvPr>
          <p:cNvSpPr>
            <a:spLocks xmlns:a="http://schemas.openxmlformats.org/drawingml/2006/main" noGrp="1"/>
          </p:cNvSpPr>
          <p:nvPr/>
        </p:nvSpPr>
        <p:spPr>
          <a:xfrm xmlns:a="http://schemas.openxmlformats.org/drawingml/2006/main">
            <a:off x="9029700" y="26098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125" b="1">
                <a:solidFill>
                  <a:srgbClr val="159A78"/>
                </a:solidFill>
                <a:latin typeface="Arial"/>
                <a:ea typeface="Arial"/>
                <a:cs typeface="Arial"/>
              </a:defRPr>
            </a:pPr>
            <a:r>
              <a:rPr sz="1125" b="1">
                <a:solidFill>
                  <a:srgbClr val="159A78"/>
                </a:solidFill>
                <a:latin typeface="Arial"/>
                <a:ea typeface="Arial"/>
                <a:cs typeface="Arial"/>
              </a:rPr>
              <a:t>Tuần 4</a:t>
            </a:r>
          </a:p>
        </p:txBody>
      </p:sp>
      <p:sp>
        <p:nvSpPr>
          <p:cNvPr id="25" name="">
            <a:extLst xmlns:a="http://schemas.openxmlformats.org/drawingml/2006/main">
              <a:ext uri="{FF2B5EF4-FFF2-40B4-BE49-F238E27FC236}">
                <a16:creationId xmlns:a16="http://schemas.microsoft.com/office/drawing/2014/main" id="{E713C815-9E4E-4F6E-B219-E01971D0688B}"/>
              </a:ext>
            </a:extLst>
          </p:cNvPr>
          <p:cNvSpPr>
            <a:spLocks xmlns:a="http://schemas.openxmlformats.org/drawingml/2006/main" noGrp="1"/>
          </p:cNvSpPr>
          <p:nvPr/>
        </p:nvSpPr>
        <p:spPr>
          <a:xfrm xmlns:a="http://schemas.openxmlformats.org/drawingml/2006/main">
            <a:off x="9029700" y="29908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0B2538"/>
                </a:solidFill>
                <a:latin typeface="Arial"/>
                <a:ea typeface="Arial"/>
                <a:cs typeface="Arial"/>
              </a:defRPr>
            </a:pPr>
            <a:r>
              <a:rPr sz="1800" b="1">
                <a:solidFill>
                  <a:srgbClr val="0B2538"/>
                </a:solidFill>
                <a:latin typeface="Arial"/>
                <a:ea typeface="Arial"/>
                <a:cs typeface="Arial"/>
              </a:rPr>
              <a:t>Đo và mở rộng</a:t>
            </a:r>
          </a:p>
        </p:txBody>
      </p:sp>
      <p:sp>
        <p:nvSpPr>
          <p:cNvPr id="26" name="">
            <a:extLst xmlns:a="http://schemas.openxmlformats.org/drawingml/2006/main">
              <a:ext uri="{FF2B5EF4-FFF2-40B4-BE49-F238E27FC236}">
                <a16:creationId xmlns:a16="http://schemas.microsoft.com/office/drawing/2014/main" id="{50CE35BE-C505-4929-8124-A7D94BD863F5}"/>
              </a:ext>
            </a:extLst>
          </p:cNvPr>
          <p:cNvSpPr>
            <a:spLocks xmlns:a="http://schemas.openxmlformats.org/drawingml/2006/main" noGrp="1"/>
          </p:cNvSpPr>
          <p:nvPr/>
        </p:nvSpPr>
        <p:spPr>
          <a:xfrm xmlns:a="http://schemas.openxmlformats.org/drawingml/2006/main">
            <a:off x="9029700" y="3543300"/>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Đo giờ đối soát, lỗi dữ liệu, thời gian ra báo cáo; chọn gói phù hợp.</a:t>
            </a:r>
          </a:p>
        </p:txBody>
      </p:sp>
      <p:sp>
        <p:nvSpPr>
          <p:cNvPr id="27" name="">
            <a:extLst xmlns:a="http://schemas.openxmlformats.org/drawingml/2006/main">
              <a:ext uri="{FF2B5EF4-FFF2-40B4-BE49-F238E27FC236}">
                <a16:creationId xmlns:a16="http://schemas.microsoft.com/office/drawing/2014/main" id="{C86700B5-102C-45DF-A630-4F766C7F97C9}"/>
              </a:ext>
            </a:extLst>
          </p:cNvPr>
          <p:cNvSpPr>
            <a:spLocks xmlns:a="http://schemas.openxmlformats.org/drawingml/2006/main" noGrp="1"/>
          </p:cNvSpPr>
          <p:nvPr/>
        </p:nvSpPr>
        <p:spPr>
          <a:xfrm xmlns:a="http://schemas.openxmlformats.org/drawingml/2006/main">
            <a:off x="685800" y="5219700"/>
            <a:ext cx="10820400" cy="628650"/>
          </a:xfrm>
          <a:prstGeom xmlns:a="http://schemas.openxmlformats.org/drawingml/2006/main" prst="roundRect">
            <a:avLst>
              <a:gd name="adj" fmla="val 24242"/>
            </a:avLst>
          </a:prstGeom>
          <a:solidFill xmlns:a="http://schemas.openxmlformats.org/drawingml/2006/main">
            <a:srgbClr val="0B253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44AB2C8-1E73-4851-A187-368EC456C531}"/>
              </a:ext>
            </a:extLst>
          </p:cNvPr>
          <p:cNvSpPr>
            <a:spLocks xmlns:a="http://schemas.openxmlformats.org/drawingml/2006/main" noGrp="1"/>
          </p:cNvSpPr>
          <p:nvPr/>
        </p:nvSpPr>
        <p:spPr>
          <a:xfrm xmlns:a="http://schemas.openxmlformats.org/drawingml/2006/main">
            <a:off x="95250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Đầu ra sau pilot: số liệu trước/sau, danh sách lỗi đã giảm và đề xuất gói theo quy mô thật.</a:t>
            </a:r>
          </a:p>
        </p:txBody>
      </p:sp>
      <p:sp>
        <p:nvSpPr>
          <p:cNvPr id="29" name="">
            <a:extLst xmlns:a="http://schemas.openxmlformats.org/drawingml/2006/main">
              <a:ext uri="{FF2B5EF4-FFF2-40B4-BE49-F238E27FC236}">
                <a16:creationId xmlns:a16="http://schemas.microsoft.com/office/drawing/2014/main" id="{047E3FD2-C83E-4863-8BE9-B8EFD64DB7A8}"/>
              </a:ext>
            </a:extLst>
          </p:cNvPr>
          <p:cNvSpPr>
            <a:spLocks xmlns:a="http://schemas.openxmlformats.org/drawingml/2006/main" noGrp="1"/>
          </p:cNvSpPr>
          <p:nvPr/>
        </p:nvSpPr>
        <p:spPr>
          <a:xfrm xmlns:a="http://schemas.openxmlformats.org/drawingml/2006/main">
            <a:off x="685800" y="64960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825" b="0">
                <a:solidFill>
                  <a:srgbClr val="52606D"/>
                </a:solidFill>
                <a:latin typeface="Arial"/>
                <a:ea typeface="Arial"/>
                <a:cs typeface="Arial"/>
              </a:defRPr>
            </a:pPr>
            <a:r>
              <a:rPr sz="825" b="0">
                <a:solidFill>
                  <a:srgbClr val="52606D"/>
                </a:solidFill>
                <a:latin typeface="Arial"/>
                <a:ea typeface="Arial"/>
                <a:cs typeface="Arial"/>
              </a:rPr>
              <a:t>Đề xuất thương mại hóa | Dữ liệu tính năng lấy từ sản phẩm hiện tại</a:t>
            </a:r>
          </a:p>
        </p:txBody>
      </p:sp>
      <p:sp>
        <p:nvSpPr>
          <p:cNvPr id="30" name="">
            <a:extLst xmlns:a="http://schemas.openxmlformats.org/drawingml/2006/main">
              <a:ext uri="{FF2B5EF4-FFF2-40B4-BE49-F238E27FC236}">
                <a16:creationId xmlns:a16="http://schemas.microsoft.com/office/drawing/2014/main" id="{0798AF8A-264E-41BB-BE03-FEE48FCC0744}"/>
              </a:ext>
            </a:extLst>
          </p:cNvPr>
          <p:cNvSpPr>
            <a:spLocks xmlns:a="http://schemas.openxmlformats.org/drawingml/2006/main" noGrp="1"/>
          </p:cNvSpPr>
          <p:nvPr/>
        </p:nvSpPr>
        <p:spPr>
          <a:xfrm xmlns:a="http://schemas.openxmlformats.org/drawingml/2006/main">
            <a:off x="1104900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050" b="1">
                <a:solidFill>
                  <a:srgbClr val="0F8B8D"/>
                </a:solidFill>
                <a:latin typeface="Arial"/>
                <a:ea typeface="Arial"/>
                <a:cs typeface="Arial"/>
              </a:defRPr>
            </a:pPr>
            <a:r>
              <a:rPr sz="1050" b="1">
                <a:solidFill>
                  <a:srgbClr val="0F8B8D"/>
                </a:solidFill>
                <a:latin typeface="Arial"/>
                <a:ea typeface="Arial"/>
                <a:cs typeface="Arial"/>
              </a:rPr>
              <a:t>09</a:t>
            </a:r>
          </a:p>
        </p:txBody>
      </p:sp>
    </p:spTree>
    <p:extLst>
      <p:ext uri="{BB962C8B-B14F-4D97-AF65-F5344CB8AC3E}">
        <p14:creationId xmlns:p14="http://schemas.microsoft.com/office/powerpoint/2010/main" val="2092278589"/>
      </p:ext>
    </p:extLst>
  </p:cSld>
</p:sld>
</file>

<file path=ppt/slides/slide10.xml><?xml version="1.0" encoding="utf-8"?>
<p:sld xmlns:p="http://schemas.openxmlformats.org/presentationml/2006/main">
  <p:cSld>
    <p:bg>
      <p:bgPr>
        <a:solidFill xmlns:a="http://schemas.openxmlformats.org/drawingml/2006/main">
          <a:srgbClr val="0B253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1E50DF-725E-488F-8644-694BBCA223A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3940E8-BCF4-45EE-B4AD-3564A8791E92}"/>
              </a:ext>
            </a:extLst>
          </p:cNvPr>
          <p:cNvSpPr>
            <a:spLocks xmlns:a="http://schemas.openxmlformats.org/drawingml/2006/main" noGrp="1"/>
          </p:cNvSpPr>
          <p:nvPr/>
        </p:nvSpPr>
        <p:spPr>
          <a:xfrm xmlns:a="http://schemas.openxmlformats.org/drawingml/2006/main">
            <a:off x="876300" y="1352550"/>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Bắt đầu với gói Khởi động</a:t>
            </a:r>
          </a:p>
        </p:txBody>
      </p:sp>
      <p:sp>
        <p:nvSpPr>
          <p:cNvPr id="3" name="">
            <a:extLst xmlns:a="http://schemas.openxmlformats.org/drawingml/2006/main">
              <a:ext uri="{FF2B5EF4-FFF2-40B4-BE49-F238E27FC236}">
                <a16:creationId xmlns:a16="http://schemas.microsoft.com/office/drawing/2014/main" id="{C495F05B-0E8B-4883-AEA8-7DA9EC01D321}"/>
              </a:ext>
            </a:extLst>
          </p:cNvPr>
          <p:cNvSpPr>
            <a:spLocks xmlns:a="http://schemas.openxmlformats.org/drawingml/2006/main" noGrp="1"/>
          </p:cNvSpPr>
          <p:nvPr/>
        </p:nvSpPr>
        <p:spPr>
          <a:xfrm xmlns:a="http://schemas.openxmlformats.org/drawingml/2006/main">
            <a:off x="895350" y="226695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550" b="1">
                <a:solidFill>
                  <a:srgbClr val="F59E0B"/>
                </a:solidFill>
                <a:latin typeface="Arial"/>
                <a:ea typeface="Arial"/>
                <a:cs typeface="Arial"/>
              </a:defRPr>
            </a:pPr>
            <a:r>
              <a:rPr sz="2550" b="1">
                <a:solidFill>
                  <a:srgbClr val="F59E0B"/>
                </a:solidFill>
                <a:latin typeface="Arial"/>
                <a:ea typeface="Arial"/>
                <a:cs typeface="Arial"/>
              </a:rPr>
              <a:t>500.000 đ / tháng</a:t>
            </a:r>
          </a:p>
        </p:txBody>
      </p:sp>
      <p:sp>
        <p:nvSpPr>
          <p:cNvPr id="4" name="">
            <a:extLst xmlns:a="http://schemas.openxmlformats.org/drawingml/2006/main">
              <a:ext uri="{FF2B5EF4-FFF2-40B4-BE49-F238E27FC236}">
                <a16:creationId xmlns:a16="http://schemas.microsoft.com/office/drawing/2014/main" id="{732C8F89-CE55-4A2A-9C4E-D51496E60079}"/>
              </a:ext>
            </a:extLst>
          </p:cNvPr>
          <p:cNvSpPr>
            <a:spLocks xmlns:a="http://schemas.openxmlformats.org/drawingml/2006/main" noGrp="1"/>
          </p:cNvSpPr>
          <p:nvPr/>
        </p:nvSpPr>
        <p:spPr>
          <a:xfrm xmlns:a="http://schemas.openxmlformats.org/drawingml/2006/main">
            <a:off x="895350" y="297180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650" b="0">
                <a:solidFill>
                  <a:srgbClr val="D9F5F3"/>
                </a:solidFill>
                <a:latin typeface="Arial"/>
                <a:ea typeface="Arial"/>
                <a:cs typeface="Arial"/>
              </a:defRPr>
            </a:pPr>
            <a:r>
              <a:rPr sz="1650" b="0">
                <a:solidFill>
                  <a:srgbClr val="D9F5F3"/>
                </a:solidFill>
                <a:latin typeface="Arial"/>
                <a:ea typeface="Arial"/>
                <a:cs typeface="Arial"/>
              </a:rPr>
              <a:t>500 lịch sử đi làm · 5 staff · 5 đối tác · 5 nhà máy</a:t>
            </a:r>
          </a:p>
        </p:txBody>
      </p:sp>
      <p:sp>
        <p:nvSpPr>
          <p:cNvPr id="5" name="">
            <a:extLst xmlns:a="http://schemas.openxmlformats.org/drawingml/2006/main">
              <a:ext uri="{FF2B5EF4-FFF2-40B4-BE49-F238E27FC236}">
                <a16:creationId xmlns:a16="http://schemas.microsoft.com/office/drawing/2014/main" id="{B7220FD2-FDB4-41C8-B69E-E2C60BFF9DE9}"/>
              </a:ext>
            </a:extLst>
          </p:cNvPr>
          <p:cNvSpPr>
            <a:spLocks xmlns:a="http://schemas.openxmlformats.org/drawingml/2006/main" noGrp="1"/>
          </p:cNvSpPr>
          <p:nvPr/>
        </p:nvSpPr>
        <p:spPr>
          <a:xfrm xmlns:a="http://schemas.openxmlformats.org/drawingml/2006/main">
            <a:off x="895350" y="3886200"/>
            <a:ext cx="5143500" cy="723900"/>
          </a:xfrm>
          <a:prstGeom xmlns:a="http://schemas.openxmlformats.org/drawingml/2006/main" prst="roundRect">
            <a:avLst>
              <a:gd name="adj" fmla="val 23684"/>
            </a:avLst>
          </a:prstGeom>
          <a:solidFill xmlns:a="http://schemas.openxmlformats.org/drawingml/2006/main">
            <a:srgbClr val="0F8B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494D429-A82E-422D-BD9C-B8CE2C370460}"/>
              </a:ext>
            </a:extLst>
          </p:cNvPr>
          <p:cNvSpPr>
            <a:spLocks xmlns:a="http://schemas.openxmlformats.org/drawingml/2006/main" noGrp="1"/>
          </p:cNvSpPr>
          <p:nvPr/>
        </p:nvSpPr>
        <p:spPr>
          <a:xfrm xmlns:a="http://schemas.openxmlformats.org/drawingml/2006/main">
            <a:off x="1162050" y="4095750"/>
            <a:ext cx="461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Mục tiêu đầu tiên: một nguồn dữ liệu mà cả công ty cùng tin.</a:t>
            </a:r>
          </a:p>
        </p:txBody>
      </p:sp>
      <p:sp>
        <p:nvSpPr>
          <p:cNvPr id="7" name="">
            <a:extLst xmlns:a="http://schemas.openxmlformats.org/drawingml/2006/main">
              <a:ext uri="{FF2B5EF4-FFF2-40B4-BE49-F238E27FC236}">
                <a16:creationId xmlns:a16="http://schemas.microsoft.com/office/drawing/2014/main" id="{FAF57666-DA76-4743-81BF-5434A8ECFE1A}"/>
              </a:ext>
            </a:extLst>
          </p:cNvPr>
          <p:cNvSpPr>
            <a:spLocks xmlns:a="http://schemas.openxmlformats.org/drawingml/2006/main" noGrp="1"/>
          </p:cNvSpPr>
          <p:nvPr/>
        </p:nvSpPr>
        <p:spPr>
          <a:xfrm xmlns:a="http://schemas.openxmlformats.org/drawingml/2006/main">
            <a:off x="895350" y="565785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B7D1D3"/>
                </a:solidFill>
                <a:latin typeface="Arial"/>
                <a:ea typeface="Arial"/>
                <a:cs typeface="Arial"/>
              </a:defRPr>
            </a:pPr>
            <a:r>
              <a:rPr sz="1425" b="0">
                <a:solidFill>
                  <a:srgbClr val="B7D1D3"/>
                </a:solidFill>
                <a:latin typeface="Arial"/>
                <a:ea typeface="Arial"/>
                <a:cs typeface="Arial"/>
              </a:rPr>
              <a:t>Đề xuất tiếp theo: chọn một công ty hoặc một cụm nhà máy để chạy pilot 30 ngày.</a:t>
            </a:r>
          </a:p>
        </p:txBody>
      </p:sp>
      <p:sp>
        <p:nvSpPr>
          <p:cNvPr id="8" name="">
            <a:extLst xmlns:a="http://schemas.openxmlformats.org/drawingml/2006/main">
              <a:ext uri="{FF2B5EF4-FFF2-40B4-BE49-F238E27FC236}">
                <a16:creationId xmlns:a16="http://schemas.microsoft.com/office/drawing/2014/main" id="{95A127D2-450C-4E93-B89B-59FDD9EDBAE5}"/>
              </a:ext>
            </a:extLst>
          </p:cNvPr>
          <p:cNvSpPr>
            <a:spLocks xmlns:a="http://schemas.openxmlformats.org/drawingml/2006/main" noGrp="1"/>
          </p:cNvSpPr>
          <p:nvPr/>
        </p:nvSpPr>
        <p:spPr>
          <a:xfrm xmlns:a="http://schemas.openxmlformats.org/drawingml/2006/main">
            <a:off x="9639300" y="592455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r">
              <a:defRPr sz="1200" b="1">
                <a:solidFill>
                  <a:srgbClr val="FFFFFF"/>
                </a:solidFill>
                <a:latin typeface="Arial"/>
                <a:ea typeface="Arial"/>
                <a:cs typeface="Arial"/>
              </a:defRPr>
            </a:pPr>
            <a:r>
              <a:rPr sz="1200" b="1">
                <a:solidFill>
                  <a:srgbClr val="FFFFFF"/>
                </a:solidFill>
                <a:latin typeface="Arial"/>
                <a:ea typeface="Arial"/>
                <a:cs typeface="Arial"/>
              </a:rPr>
              <a:t>Tuyển dụng 4.0</a:t>
            </a:r>
          </a:p>
        </p:txBody>
      </p:sp>
    </p:spTree>
    <p:extLst>
      <p:ext uri="{BB962C8B-B14F-4D97-AF65-F5344CB8AC3E}">
        <p14:creationId xmlns:p14="http://schemas.microsoft.com/office/powerpoint/2010/main" val="19595233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2026-09-04T15:36:29.4910000Z</dcterms:created>
  <dcterms:modified xsi:type="dcterms:W3CDTF">2026-09-04T15:36:29.4910000Z</dcterms:modified>
</coreProperties>
</file>