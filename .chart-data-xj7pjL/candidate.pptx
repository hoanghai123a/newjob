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70183817ddd410e" /><Relationship Type="http://schemas.openxmlformats.org/officeDocument/2006/relationships/extended-properties" Target="/docProps/app.xml" Id="R17aef5ab60414b00" /><Relationship Type="http://schemas.openxmlformats.org/officeDocument/2006/relationships/officeDocument" Target="/ppt/presentation.xml" Id="R80fafaf6d76f4481" /></Relationships>
</file>

<file path=ppt/presentation.xml><?xml version="1.0" encoding="utf-8"?>
<p:presentation xmlns:p="http://schemas.openxmlformats.org/presentationml/2006/main">
  <p:sldMasterIdLst>
    <p:sldMasterId xmlns:r="http://schemas.openxmlformats.org/officeDocument/2006/relationships" id="2147483648" r:id="R886df4a5386d47f7"/>
  </p:sldMasterIdLst>
  <p:notesMasterIdLst>
    <p:notesMasterId xmlns:r="http://schemas.openxmlformats.org/officeDocument/2006/relationships" r:id="Rd9a4754478bc4af4"/>
  </p:notesMasterIdLst>
  <p:sldIdLst>
    <p:sldId xmlns:r="http://schemas.openxmlformats.org/officeDocument/2006/relationships" id="256" r:id="R6b96b625107c459b"/>
    <p:sldId xmlns:r="http://schemas.openxmlformats.org/officeDocument/2006/relationships" id="257" r:id="Ree50145c28b347a3"/>
    <p:sldId xmlns:r="http://schemas.openxmlformats.org/officeDocument/2006/relationships" id="258" r:id="Re224fc60eec64621"/>
    <p:sldId xmlns:r="http://schemas.openxmlformats.org/officeDocument/2006/relationships" id="259" r:id="Ra822c5abb0c74ff7"/>
    <p:sldId xmlns:r="http://schemas.openxmlformats.org/officeDocument/2006/relationships" id="260" r:id="Rea4d652ecac74dd5"/>
    <p:sldId xmlns:r="http://schemas.openxmlformats.org/officeDocument/2006/relationships" id="261" r:id="R1db9bf950a0544c2"/>
    <p:sldId xmlns:r="http://schemas.openxmlformats.org/officeDocument/2006/relationships" id="262" r:id="R38cc060d04e04a45"/>
    <p:sldId xmlns:r="http://schemas.openxmlformats.org/officeDocument/2006/relationships" id="263" r:id="R15db3185521d4cb2"/>
    <p:sldId xmlns:r="http://schemas.openxmlformats.org/officeDocument/2006/relationships" id="264" r:id="Rcf467e1e4d3e4d3e"/>
    <p:sldId xmlns:r="http://schemas.openxmlformats.org/officeDocument/2006/relationships" id="265" r:id="R7edbeb57517a43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6f85d4fa034150" /><Relationship Type="http://schemas.openxmlformats.org/officeDocument/2006/relationships/slideMaster" Target="/ppt/slideMasters/slideMaster1.xml" Id="R886df4a5386d47f7" /><Relationship Type="http://schemas.openxmlformats.org/officeDocument/2006/relationships/notesMaster" Target="/ppt/notesMasters/notesMaster1.xml" Id="Rd9a4754478bc4af4" /><Relationship Type="http://schemas.openxmlformats.org/officeDocument/2006/relationships/presProps" Target="/ppt/presProps.xml" Id="R62049edee1c045c2" /><Relationship Type="http://schemas.openxmlformats.org/officeDocument/2006/relationships/tableStyles" Target="/ppt/tableStyles.xml" Id="R12e01e5f57bd448b" /><Relationship Type="http://schemas.openxmlformats.org/officeDocument/2006/relationships/slide" Target="/ppt/slides/slide1.xml" Id="R6b96b625107c459b" /><Relationship Type="http://schemas.openxmlformats.org/officeDocument/2006/relationships/slide" Target="/ppt/slides/slide2.xml" Id="Ree50145c28b347a3" /><Relationship Type="http://schemas.openxmlformats.org/officeDocument/2006/relationships/slide" Target="/ppt/slides/slide3.xml" Id="Re224fc60eec64621" /><Relationship Type="http://schemas.openxmlformats.org/officeDocument/2006/relationships/slide" Target="/ppt/slides/slide4.xml" Id="Ra822c5abb0c74ff7" /><Relationship Type="http://schemas.openxmlformats.org/officeDocument/2006/relationships/slide" Target="/ppt/slides/slide5.xml" Id="Rea4d652ecac74dd5" /><Relationship Type="http://schemas.openxmlformats.org/officeDocument/2006/relationships/slide" Target="/ppt/slides/slide6.xml" Id="R1db9bf950a0544c2" /><Relationship Type="http://schemas.openxmlformats.org/officeDocument/2006/relationships/slide" Target="/ppt/slides/slide7.xml" Id="R38cc060d04e04a45" /><Relationship Type="http://schemas.openxmlformats.org/officeDocument/2006/relationships/slide" Target="/ppt/slides/slide8.xml" Id="R15db3185521d4cb2" /><Relationship Type="http://schemas.openxmlformats.org/officeDocument/2006/relationships/slide" Target="/ppt/slides/slide9.xml" Id="Rcf467e1e4d3e4d3e" /><Relationship Type="http://schemas.openxmlformats.org/officeDocument/2006/relationships/slide" Target="/ppt/slides/slide10.xml" Id="R7edbeb57517a43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1360afc83b45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b91df9adc3485d" /><Relationship Type="http://schemas.openxmlformats.org/officeDocument/2006/relationships/notesMaster" Target="/ppt/notesMasters/notesMaster1.xml" Id="R6c9ab7bd54ec47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49360eca6b4788" /><Relationship Type="http://schemas.openxmlformats.org/officeDocument/2006/relationships/notesMaster" Target="/ppt/notesMasters/notesMaster1.xml" Id="R61627861eef341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4187afc69f4056" /><Relationship Type="http://schemas.openxmlformats.org/officeDocument/2006/relationships/notesMaster" Target="/ppt/notesMasters/notesMaster1.xml" Id="R890bd4757b194b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19fe3c6e904a5c" /><Relationship Type="http://schemas.openxmlformats.org/officeDocument/2006/relationships/notesMaster" Target="/ppt/notesMasters/notesMaster1.xml" Id="R28a4b634c90442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88e9d9a3994b05" /><Relationship Type="http://schemas.openxmlformats.org/officeDocument/2006/relationships/notesMaster" Target="/ppt/notesMasters/notesMaster1.xml" Id="R39371e5693b74f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aab49868874407" /><Relationship Type="http://schemas.openxmlformats.org/officeDocument/2006/relationships/notesMaster" Target="/ppt/notesMasters/notesMaster1.xml" Id="Refe25ef047ee4f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8ab967d0ba4ed3" /><Relationship Type="http://schemas.openxmlformats.org/officeDocument/2006/relationships/notesMaster" Target="/ppt/notesMasters/notesMaster1.xml" Id="R6c592ad454b54a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7d30f3d76b4945" /><Relationship Type="http://schemas.openxmlformats.org/officeDocument/2006/relationships/notesMaster" Target="/ppt/notesMasters/notesMaster1.xml" Id="R0e04717744314a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f8c019a030433b" /><Relationship Type="http://schemas.openxmlformats.org/officeDocument/2006/relationships/notesMaster" Target="/ppt/notesMasters/notesMaster1.xml" Id="R796a647fd4884d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85b2cb1ea4454f" /><Relationship Type="http://schemas.openxmlformats.org/officeDocument/2006/relationships/notesMaster" Target="/ppt/notesMasters/notesMaster1.xml" Id="Re94e5f05890a4a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nhận diện ứng dụng từ public/icons/app-icon-512.png. Nội dung tính năng đối chiếu PROJECT_MAP.md và mã nguồn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hệ quả là tổng hợp vấn đề vận hành được mô tả trong yêu cầu thương mại hóa. Đây là framing bán hàng, không phải số liệu khảo sát thị trường.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src/lib/employment.ts, src/lib/recruiters.ts, src/lib/staff-log.ts, src/lib/salary.ts và PROJECT_MAP.md.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PROJECT_MAP.md; src/routes/_authenticated/admin/workforce.tsx; src/routes/_authenticated/admin/imports.tsx; src/lib/salary.ts; src/lib/uid-counter.ts; src/components/admin/AccountActivityStats.tsx.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tổng hợp lợi ích định tính từ các luồng tính năng hiện có. Không gắn số liệu năng suất chưa được đo tại khách hàng.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dashboard nhân lực và các component workforce / approval / hour-stats trong PROJECT_MAP.md.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đề xuất giá tham khảo theo yêu cầu người dùng, không phải bảng giá đã được phê duyệt. Hạn mức minh họa: lịch sử đi làm, tài khoản staff, đối tác và nhà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Biểu đồ không phải số liệu khách hàng. Giả định minh họa: 10 giờ đối soát giảm mỗi tháng x 120.000 đ/giờ = 1,2 triệu đ; các gói lớn dùng giả định thời gian tiết kiệm cao hơn để minh họa logic định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Lộ trình là đề xuất triển khai thương mại, không phải tính năng đã có sẵn trong ứng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CTA cho buổi bán hàng. Giá và pilot cần được phê duyệt trước khi công bố chính thức.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41cc88b59e40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996f8ce41640b9" /><Relationship Type="http://schemas.openxmlformats.org/officeDocument/2006/relationships/slideLayout" Target="/ppt/slideLayouts/slideLayout1.xml" Id="R6bd9884a098145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d9884a098145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4d5c888be14827" /><Relationship Type="http://schemas.openxmlformats.org/officeDocument/2006/relationships/image" Target="/ppt/media/image.png" Id="R5624e6bdb92a459f" /><Relationship Type="http://schemas.openxmlformats.org/officeDocument/2006/relationships/notesSlide" Target="/ppt/notesSlides/notesSlide1.xml" Id="Rf8859072d6fb4a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0cdf95ca40746ad" /><Relationship Type="http://schemas.openxmlformats.org/officeDocument/2006/relationships/notesSlide" Target="/ppt/notesSlides/notesSlide2.xml" Id="R1d9cdbf29ede42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72016233454a68" /><Relationship Type="http://schemas.openxmlformats.org/officeDocument/2006/relationships/notesSlide" Target="/ppt/notesSlides/notesSlide3.xml" Id="Rb7966f26dddf4b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638c521cbe4581" /><Relationship Type="http://schemas.openxmlformats.org/officeDocument/2006/relationships/notesSlide" Target="/ppt/notesSlides/notesSlide4.xml" Id="Ref0d8ad448774b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68387da2044c49" /><Relationship Type="http://schemas.openxmlformats.org/officeDocument/2006/relationships/notesSlide" Target="/ppt/notesSlides/notesSlide5.xml" Id="Rd43b7d43d96847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3e17c394a14263" /><Relationship Type="http://schemas.openxmlformats.org/officeDocument/2006/relationships/notesSlide" Target="/ppt/notesSlides/notesSlide6.xml" Id="Re1ef6e77316243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5560dcc46d4dcf" /><Relationship Type="http://schemas.openxmlformats.org/officeDocument/2006/relationships/notesSlide" Target="/ppt/notesSlides/notesSlide7.xml" Id="Rec5e54681b1248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43f9edae7b941a7" /><Relationship Type="http://schemas.openxmlformats.org/officeDocument/2006/relationships/chart" Target="/ppt/slides/charts/chart1.xml" Id="Rdf54efdb78ac4b87" /><Relationship Type="http://schemas.openxmlformats.org/officeDocument/2006/relationships/notesSlide" Target="/ppt/notesSlides/notesSlide8.xml" Id="Rf7cceb84d62445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6891944ebf44e98" /><Relationship Type="http://schemas.openxmlformats.org/officeDocument/2006/relationships/notesSlide" Target="/ppt/notesSlides/notesSlide9.xml" Id="R286fd9fb907046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450ecea422a4340" /><Relationship Type="http://schemas.openxmlformats.org/officeDocument/2006/relationships/notesSlide" Target="/ppt/notesSlides/notesSlide10.xml" Id="Rbcffa4ee66514c3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Giá gói (triệu đ)</c:v>
          </c:tx>
          <c:spPr>
            <a:solidFill xmlns:a="http://schemas.openxmlformats.org/drawingml/2006/main">
              <a:srgbClr val="0B2538"/>
            </a:solidFill>
          </c:spPr>
          <c:cat>
            <c:strRef>
              <c:f>'Chart Data'!$A$2:$A$5</c:f>
              <c:strCache>
                <c:ptCount val="4"/>
                <c:pt idx="0">
                  <c:v>Khởi động</c:v>
                </c:pt>
                <c:pt idx="1">
                  <c:v>Tăng trưởng</c:v>
                </c:pt>
                <c:pt idx="2">
                  <c:v>Chuyên nghiệp</c:v>
                </c:pt>
                <c:pt idx="3">
                  <c:v>Doanh nghiệp</c:v>
                </c:pt>
              </c:strCache>
            </c:strRef>
          </c:cat>
          <c:val>
            <c:numRef>
              <c:f>'Chart Data'!$B$2:$B$5</c:f>
              <c:numCache>
                <c:formatCode>0.0</c:formatCode>
                <c:ptCount val="4"/>
                <c:pt idx="0">
                  <c:v>0.5</c:v>
                </c:pt>
                <c:pt idx="1">
                  <c:v>1.5</c:v>
                </c:pt>
                <c:pt idx="2">
                  <c:v>3</c:v>
                </c:pt>
                <c:pt idx="3">
                  <c:v>5</c:v>
                </c:pt>
              </c:numCache>
            </c:numRef>
          </c:val>
        </c:ser>
        <c:ser>
          <c:idx val="1"/>
          <c:order val="1"/>
          <c:tx>
            <c:v>Giá trị thời gian (triệu đ)</c:v>
          </c:tx>
          <c:spPr>
            <a:solidFill xmlns:a="http://schemas.openxmlformats.org/drawingml/2006/main">
              <a:srgbClr val="0F8B8D"/>
            </a:solidFill>
          </c:spPr>
          <c:cat>
            <c:strRef>
              <c:f>'Chart Data'!$C$2:$C$5</c:f>
              <c:strCache>
                <c:ptCount val="4"/>
                <c:pt idx="0">
                  <c:v>Khởi động</c:v>
                </c:pt>
                <c:pt idx="1">
                  <c:v>Tăng trưởng</c:v>
                </c:pt>
                <c:pt idx="2">
                  <c:v>Chuyên nghiệp</c:v>
                </c:pt>
                <c:pt idx="3">
                  <c:v>Doanh nghiệp</c:v>
                </c:pt>
              </c:strCache>
            </c:strRef>
          </c:cat>
          <c:val>
            <c:numRef>
              <c:f>'Chart Data'!$D$2:$D$5</c:f>
              <c:numCache>
                <c:formatCode>0.0</c:formatCode>
                <c:ptCount val="4"/>
                <c:pt idx="0">
                  <c:v>1.2</c:v>
                </c:pt>
                <c:pt idx="1">
                  <c:v>3.2</c:v>
                </c:pt>
                <c:pt idx="2">
                  <c:v>5.8</c:v>
                </c:pt>
                <c:pt idx="3">
                  <c:v>9.5</c:v>
                </c:pt>
              </c:numCache>
            </c:numRef>
          </c:val>
        </c:ser>
        <c:dLbls>
          <c:txPr>
            <a:bodyPr xmlns:a="http://schemas.openxmlformats.org/drawingml/2006/main" anchorCtr="1"/>
            <a:lstStyle xmlns:a="http://schemas.openxmlformats.org/drawingml/2006/main"/>
            <a:p xmlns:a="http://schemas.openxmlformats.org/drawingml/2006/main">
              <a:pPr>
                <a:defRPr sz="900" b="1">
                  <a:solidFill>
                    <a:srgbClr val="12212B"/>
                  </a:solidFill>
                  <a:latin typeface="Arial"/>
                  <a:ea typeface="Arial"/>
                  <a:cs typeface="Aria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06D"/>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8E5E5"/>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Triệu đồng / tháng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06D"/>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52606D"/>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253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9858354-0D80-4A3A-9640-42455B0D9D3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F8B8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16DE56-0F92-40D1-BB78-3FA69681A3C9}"/>
              </a:ext>
            </a:extLst>
          </p:cNvPr>
          <p:cNvSpPr>
            <a:spLocks xmlns:a="http://schemas.openxmlformats.org/drawingml/2006/main" noGrp="1"/>
          </p:cNvSpPr>
          <p:nvPr/>
        </p:nvSpPr>
        <p:spPr>
          <a:xfrm xmlns:a="http://schemas.openxmlformats.org/drawingml/2006/main">
            <a:off x="8667750" y="0"/>
            <a:ext cx="3524250" cy="6858000"/>
          </a:xfrm>
          <a:prstGeom xmlns:a="http://schemas.openxmlformats.org/drawingml/2006/main" prst="rect">
            <a:avLst/>
          </a:prstGeom>
          <a:solidFill xmlns:a="http://schemas.openxmlformats.org/drawingml/2006/main">
            <a:srgbClr val="0F8B8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A555CE-FA54-4749-BEFE-D1B1B2727BE6}"/>
              </a:ext>
            </a:extLst>
          </p:cNvPr>
          <p:cNvSpPr>
            <a:spLocks xmlns:a="http://schemas.openxmlformats.org/drawingml/2006/main" noGrp="1"/>
          </p:cNvSpPr>
          <p:nvPr/>
        </p:nvSpPr>
        <p:spPr>
          <a:xfrm xmlns:a="http://schemas.openxmlformats.org/drawingml/2006/main">
            <a:off x="9182100" y="819150"/>
            <a:ext cx="2152650" cy="2152650"/>
          </a:xfrm>
          <a:prstGeom xmlns:a="http://schemas.openxmlformats.org/drawingml/2006/main" prst="roundRect">
            <a:avLst>
              <a:gd name="adj" fmla="val 15044"/>
            </a:avLst>
          </a:prstGeom>
          <a:solidFill xmlns:a="http://schemas.openxmlformats.org/drawingml/2006/main">
            <a:srgbClr val="FFFFFF"/>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624e6bdb92a459f"/>
          <a:stretch xmlns:a="http://schemas.openxmlformats.org/drawingml/2006/main"/>
        </p:blipFill>
        <p:spPr>
          <a:xfrm xmlns:a="http://schemas.openxmlformats.org/drawingml/2006/main">
            <a:off x="9525000" y="1162050"/>
            <a:ext cx="1466850" cy="1466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020D210-1722-418F-8E1E-4995FDF0C976}"/>
              </a:ext>
            </a:extLst>
          </p:cNvPr>
          <p:cNvSpPr>
            <a:spLocks xmlns:a="http://schemas.openxmlformats.org/drawingml/2006/main" noGrp="1"/>
          </p:cNvSpPr>
          <p:nvPr/>
        </p:nvSpPr>
        <p:spPr>
          <a:xfrm xmlns:a="http://schemas.openxmlformats.org/drawingml/2006/main">
            <a:off x="857250" y="1371600"/>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Tuyển dụng 4.0</a:t>
            </a:r>
          </a:p>
        </p:txBody>
      </p:sp>
      <p:sp>
        <p:nvSpPr>
          <p:cNvPr id="6" name="">
            <a:extLst xmlns:a="http://schemas.openxmlformats.org/drawingml/2006/main">
              <a:ext uri="{FF2B5EF4-FFF2-40B4-BE49-F238E27FC236}">
                <a16:creationId xmlns:a16="http://schemas.microsoft.com/office/drawing/2014/main" id="{06590FFB-1C72-4B25-BC15-0C7BBE40531D}"/>
              </a:ext>
            </a:extLst>
          </p:cNvPr>
          <p:cNvSpPr>
            <a:spLocks xmlns:a="http://schemas.openxmlformats.org/drawingml/2006/main" noGrp="1"/>
          </p:cNvSpPr>
          <p:nvPr/>
        </p:nvSpPr>
        <p:spPr>
          <a:xfrm xmlns:a="http://schemas.openxmlformats.org/drawingml/2006/main">
            <a:off x="876300" y="2324100"/>
            <a:ext cx="666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100" b="0">
                <a:solidFill>
                  <a:srgbClr val="D9F5F3"/>
                </a:solidFill>
                <a:latin typeface="Arial"/>
                <a:ea typeface="Arial"/>
                <a:cs typeface="Arial"/>
              </a:defRPr>
            </a:pPr>
            <a:r>
              <a:rPr sz="2100" b="0">
                <a:solidFill>
                  <a:srgbClr val="D9F5F3"/>
                </a:solidFill>
                <a:latin typeface="Arial"/>
                <a:ea typeface="Arial"/>
                <a:cs typeface="Arial"/>
              </a:rPr>
              <a:t>Từ file Excel rời rạc đến một nguồn dữ liệu điều hành thống nhất</a:t>
            </a:r>
          </a:p>
        </p:txBody>
      </p:sp>
      <p:sp>
        <p:nvSpPr>
          <p:cNvPr id="7" name="">
            <a:extLst xmlns:a="http://schemas.openxmlformats.org/drawingml/2006/main">
              <a:ext uri="{FF2B5EF4-FFF2-40B4-BE49-F238E27FC236}">
                <a16:creationId xmlns:a16="http://schemas.microsoft.com/office/drawing/2014/main" id="{99493F5E-5A52-4F25-A7D8-6980B4C2D696}"/>
              </a:ext>
            </a:extLst>
          </p:cNvPr>
          <p:cNvSpPr>
            <a:spLocks xmlns:a="http://schemas.openxmlformats.org/drawingml/2006/main" noGrp="1"/>
          </p:cNvSpPr>
          <p:nvPr/>
        </p:nvSpPr>
        <p:spPr>
          <a:xfrm xmlns:a="http://schemas.openxmlformats.org/drawingml/2006/main">
            <a:off x="876300" y="3600450"/>
            <a:ext cx="2476500" cy="4000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9C7FB25-C915-4C2C-A5B7-3B3B61E586A6}"/>
              </a:ext>
            </a:extLst>
          </p:cNvPr>
          <p:cNvSpPr>
            <a:spLocks xmlns:a="http://schemas.openxmlformats.org/drawingml/2006/main" noGrp="1"/>
          </p:cNvSpPr>
          <p:nvPr/>
        </p:nvSpPr>
        <p:spPr>
          <a:xfrm xmlns:a="http://schemas.openxmlformats.org/drawingml/2006/main">
            <a:off x="1066800" y="36957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050" b="1">
                <a:solidFill>
                  <a:srgbClr val="0B2538"/>
                </a:solidFill>
                <a:latin typeface="Arial"/>
                <a:ea typeface="Arial"/>
                <a:cs typeface="Arial"/>
              </a:defRPr>
            </a:pPr>
            <a:r>
              <a:rPr sz="1050" b="1">
                <a:solidFill>
                  <a:srgbClr val="0B2538"/>
                </a:solidFill>
                <a:latin typeface="Arial"/>
                <a:ea typeface="Arial"/>
                <a:cs typeface="Arial"/>
              </a:rPr>
              <a:t>ĐỀ XUẤT THƯƠNG MẠI HÓA</a:t>
            </a:r>
          </a:p>
        </p:txBody>
      </p:sp>
      <p:sp>
        <p:nvSpPr>
          <p:cNvPr id="9" name="">
            <a:extLst xmlns:a="http://schemas.openxmlformats.org/drawingml/2006/main">
              <a:ext uri="{FF2B5EF4-FFF2-40B4-BE49-F238E27FC236}">
                <a16:creationId xmlns:a16="http://schemas.microsoft.com/office/drawing/2014/main" id="{943D986E-FD80-43FD-8AE1-6F4C1A22A4E7}"/>
              </a:ext>
            </a:extLst>
          </p:cNvPr>
          <p:cNvSpPr>
            <a:spLocks xmlns:a="http://schemas.openxmlformats.org/drawingml/2006/main" noGrp="1"/>
          </p:cNvSpPr>
          <p:nvPr/>
        </p:nvSpPr>
        <p:spPr>
          <a:xfrm xmlns:a="http://schemas.openxmlformats.org/drawingml/2006/main">
            <a:off x="876300" y="5334000"/>
            <a:ext cx="704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B7D1D3"/>
                </a:solidFill>
                <a:latin typeface="Arial"/>
                <a:ea typeface="Arial"/>
                <a:cs typeface="Arial"/>
              </a:defRPr>
            </a:pPr>
            <a:r>
              <a:rPr sz="1350" b="0">
                <a:solidFill>
                  <a:srgbClr val="B7D1D3"/>
                </a:solidFill>
                <a:latin typeface="Arial"/>
                <a:ea typeface="Arial"/>
                <a:cs typeface="Arial"/>
              </a:rPr>
              <a:t>Dành cho giám đốc, quản trị nhân sự và đội ngũ vận hành nhà máy</a:t>
            </a:r>
          </a:p>
        </p:txBody>
      </p:sp>
      <p:sp>
        <p:nvSpPr>
          <p:cNvPr id="10" name="">
            <a:extLst xmlns:a="http://schemas.openxmlformats.org/drawingml/2006/main">
              <a:ext uri="{FF2B5EF4-FFF2-40B4-BE49-F238E27FC236}">
                <a16:creationId xmlns:a16="http://schemas.microsoft.com/office/drawing/2014/main" id="{C6A11239-DB62-4153-A9EC-0A9D839FDB55}"/>
              </a:ext>
            </a:extLst>
          </p:cNvPr>
          <p:cNvSpPr>
            <a:spLocks xmlns:a="http://schemas.openxmlformats.org/drawingml/2006/main" noGrp="1"/>
          </p:cNvSpPr>
          <p:nvPr/>
        </p:nvSpPr>
        <p:spPr>
          <a:xfrm xmlns:a="http://schemas.openxmlformats.org/drawingml/2006/main">
            <a:off x="876300" y="59626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0">
                <a:solidFill>
                  <a:srgbClr val="B7D1D3"/>
                </a:solidFill>
                <a:latin typeface="Arial"/>
                <a:ea typeface="Arial"/>
                <a:cs typeface="Arial"/>
              </a:defRPr>
            </a:pPr>
            <a:r>
              <a:rPr sz="1050" b="0">
                <a:solidFill>
                  <a:srgbClr val="B7D1D3"/>
                </a:solidFill>
                <a:latin typeface="Arial"/>
                <a:ea typeface="Arial"/>
                <a:cs typeface="Arial"/>
              </a:rPr>
              <a:t>04.09.2026</a:t>
            </a:r>
          </a:p>
        </p:txBody>
      </p:sp>
    </p:spTree>
    <p:extLst>
      <p:ext uri="{BB962C8B-B14F-4D97-AF65-F5344CB8AC3E}">
        <p14:creationId xmlns:p14="http://schemas.microsoft.com/office/powerpoint/2010/main" val="963339815"/>
      </p:ext>
    </p:extLst>
  </p:cSld>
</p:sld>
</file>

<file path=ppt/slides/slide2.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F56FF48D-587C-4CD0-BBD1-E8B5D521F769}"/>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BỐI CẢNH VẬN HÀNH</a:t>
            </a:r>
          </a:p>
        </p:txBody>
      </p:sp>
      <p:sp>
        <p:nvSpPr>
          <p:cNvPr id="2" name="">
            <a:extLst xmlns:a="http://schemas.openxmlformats.org/drawingml/2006/main">
              <a:ext uri="{FF2B5EF4-FFF2-40B4-BE49-F238E27FC236}">
                <a16:creationId xmlns:a16="http://schemas.microsoft.com/office/drawing/2014/main" id="{83B8902D-1F14-4926-9D73-A27E4EBE0096}"/>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Excel tạo ra khoảng trống thông tin</a:t>
            </a:r>
          </a:p>
        </p:txBody>
      </p:sp>
      <p:sp>
        <p:nvSpPr>
          <p:cNvPr id="3" name="">
            <a:extLst xmlns:a="http://schemas.openxmlformats.org/drawingml/2006/main">
              <a:ext uri="{FF2B5EF4-FFF2-40B4-BE49-F238E27FC236}">
                <a16:creationId xmlns:a16="http://schemas.microsoft.com/office/drawing/2014/main" id="{1D79C1EE-A46D-49CA-A085-AB39773072D2}"/>
              </a:ext>
            </a:extLst>
          </p:cNvPr>
          <p:cNvSpPr>
            <a:spLocks xmlns:a="http://schemas.openxmlformats.org/drawingml/2006/main" noGrp="1"/>
          </p:cNvSpPr>
          <p:nvPr/>
        </p:nvSpPr>
        <p:spPr>
          <a:xfrm xmlns:a="http://schemas.openxmlformats.org/drawingml/2006/main">
            <a:off x="685800" y="1295400"/>
            <a:ext cx="8096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0">
                <a:solidFill>
                  <a:srgbClr val="52606D"/>
                </a:solidFill>
                <a:latin typeface="Arial"/>
                <a:ea typeface="Arial"/>
                <a:cs typeface="Arial"/>
              </a:defRPr>
            </a:pPr>
            <a:r>
              <a:rPr sz="1725" b="0">
                <a:solidFill>
                  <a:srgbClr val="52606D"/>
                </a:solidFill>
                <a:latin typeface="Arial"/>
                <a:ea typeface="Arial"/>
                <a:cs typeface="Arial"/>
              </a:rPr>
              <a:t>Khi mỗi bộ phận giữ một file, người ra quyết định phải ghép dữ liệu bằng tay trước khi hiểu chuyện gì đang xảy ra.</a:t>
            </a:r>
          </a:p>
        </p:txBody>
      </p:sp>
      <p:sp>
        <p:nvSpPr>
          <p:cNvPr id="4" name="">
            <a:extLst xmlns:a="http://schemas.openxmlformats.org/drawingml/2006/main">
              <a:ext uri="{FF2B5EF4-FFF2-40B4-BE49-F238E27FC236}">
                <a16:creationId xmlns:a16="http://schemas.microsoft.com/office/drawing/2014/main" id="{94BA7178-F444-474C-8F07-F54CF5BD81FC}"/>
              </a:ext>
            </a:extLst>
          </p:cNvPr>
          <p:cNvSpPr>
            <a:spLocks xmlns:a="http://schemas.openxmlformats.org/drawingml/2006/main" noGrp="1"/>
          </p:cNvSpPr>
          <p:nvPr/>
        </p:nvSpPr>
        <p:spPr>
          <a:xfrm xmlns:a="http://schemas.openxmlformats.org/drawingml/2006/main">
            <a:off x="685800" y="2152650"/>
            <a:ext cx="4953000" cy="32385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D8E5E5"/>
            </a:solidFill>
          </a:ln>
        </p:spPr>
      </p:sp>
      <p:sp>
        <p:nvSpPr>
          <p:cNvPr id="5" name="">
            <a:extLst xmlns:a="http://schemas.openxmlformats.org/drawingml/2006/main">
              <a:ext uri="{FF2B5EF4-FFF2-40B4-BE49-F238E27FC236}">
                <a16:creationId xmlns:a16="http://schemas.microsoft.com/office/drawing/2014/main" id="{DF61A6E2-BAF3-4E0D-9435-4A7A264283EE}"/>
              </a:ext>
            </a:extLst>
          </p:cNvPr>
          <p:cNvSpPr>
            <a:spLocks xmlns:a="http://schemas.openxmlformats.org/drawingml/2006/main" noGrp="1"/>
          </p:cNvSpPr>
          <p:nvPr/>
        </p:nvSpPr>
        <p:spPr>
          <a:xfrm xmlns:a="http://schemas.openxmlformats.org/drawingml/2006/main">
            <a:off x="990600" y="24288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5 hệ quả thường gặp</a:t>
            </a:r>
          </a:p>
        </p:txBody>
      </p:sp>
      <p:sp>
        <p:nvSpPr>
          <p:cNvPr id="6" name="">
            <a:extLst xmlns:a="http://schemas.openxmlformats.org/drawingml/2006/main">
              <a:ext uri="{FF2B5EF4-FFF2-40B4-BE49-F238E27FC236}">
                <a16:creationId xmlns:a16="http://schemas.microsoft.com/office/drawing/2014/main" id="{20E1ABBA-2783-496D-9CA7-909E4017A26B}"/>
              </a:ext>
            </a:extLst>
          </p:cNvPr>
          <p:cNvSpPr>
            <a:spLocks xmlns:a="http://schemas.openxmlformats.org/drawingml/2006/main" noGrp="1"/>
          </p:cNvSpPr>
          <p:nvPr/>
        </p:nvSpPr>
        <p:spPr>
          <a:xfrm xmlns:a="http://schemas.openxmlformats.org/drawingml/2006/main">
            <a:off x="990600" y="297180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9F4FE87-FCA0-46D4-8A0A-0A1EC0DE6A49}"/>
              </a:ext>
            </a:extLst>
          </p:cNvPr>
          <p:cNvSpPr>
            <a:spLocks xmlns:a="http://schemas.openxmlformats.org/drawingml/2006/main" noGrp="1"/>
          </p:cNvSpPr>
          <p:nvPr/>
        </p:nvSpPr>
        <p:spPr>
          <a:xfrm xmlns:a="http://schemas.openxmlformats.org/drawingml/2006/main">
            <a:off x="1219200" y="2905125"/>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Sai khác tên, mã NV, nhà máy giữa các file</a:t>
            </a:r>
          </a:p>
        </p:txBody>
      </p:sp>
      <p:sp>
        <p:nvSpPr>
          <p:cNvPr id="8" name="">
            <a:extLst xmlns:a="http://schemas.openxmlformats.org/drawingml/2006/main">
              <a:ext uri="{FF2B5EF4-FFF2-40B4-BE49-F238E27FC236}">
                <a16:creationId xmlns:a16="http://schemas.microsoft.com/office/drawing/2014/main" id="{B9955D78-31A9-4545-9BD1-1CF46712A9E4}"/>
              </a:ext>
            </a:extLst>
          </p:cNvPr>
          <p:cNvSpPr>
            <a:spLocks xmlns:a="http://schemas.openxmlformats.org/drawingml/2006/main" noGrp="1"/>
          </p:cNvSpPr>
          <p:nvPr/>
        </p:nvSpPr>
        <p:spPr>
          <a:xfrm xmlns:a="http://schemas.openxmlformats.org/drawingml/2006/main">
            <a:off x="990600" y="34194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7E01D9E-CB65-48B7-B12F-D714CF1DB0C1}"/>
              </a:ext>
            </a:extLst>
          </p:cNvPr>
          <p:cNvSpPr>
            <a:spLocks xmlns:a="http://schemas.openxmlformats.org/drawingml/2006/main" noGrp="1"/>
          </p:cNvSpPr>
          <p:nvPr/>
        </p:nvSpPr>
        <p:spPr>
          <a:xfrm xmlns:a="http://schemas.openxmlformats.org/drawingml/2006/main">
            <a:off x="1219200" y="3352800"/>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Không biết bản ghi nào là mới nhất</a:t>
            </a:r>
          </a:p>
        </p:txBody>
      </p:sp>
      <p:sp>
        <p:nvSpPr>
          <p:cNvPr id="10" name="">
            <a:extLst xmlns:a="http://schemas.openxmlformats.org/drawingml/2006/main">
              <a:ext uri="{FF2B5EF4-FFF2-40B4-BE49-F238E27FC236}">
                <a16:creationId xmlns:a16="http://schemas.microsoft.com/office/drawing/2014/main" id="{667104E3-3A3F-4920-BA89-17B49A6DED0B}"/>
              </a:ext>
            </a:extLst>
          </p:cNvPr>
          <p:cNvSpPr>
            <a:spLocks xmlns:a="http://schemas.openxmlformats.org/drawingml/2006/main" noGrp="1"/>
          </p:cNvSpPr>
          <p:nvPr/>
        </p:nvSpPr>
        <p:spPr>
          <a:xfrm xmlns:a="http://schemas.openxmlformats.org/drawingml/2006/main">
            <a:off x="990600" y="386715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FFC95BD-28D6-4527-804A-9EF80F1B05F4}"/>
              </a:ext>
            </a:extLst>
          </p:cNvPr>
          <p:cNvSpPr>
            <a:spLocks xmlns:a="http://schemas.openxmlformats.org/drawingml/2006/main" noGrp="1"/>
          </p:cNvSpPr>
          <p:nvPr/>
        </p:nvSpPr>
        <p:spPr>
          <a:xfrm xmlns:a="http://schemas.openxmlformats.org/drawingml/2006/main">
            <a:off x="1219200" y="3800475"/>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Đối soát tuyển nội bộ và đối tác chậm</a:t>
            </a:r>
          </a:p>
        </p:txBody>
      </p:sp>
      <p:sp>
        <p:nvSpPr>
          <p:cNvPr id="12" name="">
            <a:extLst xmlns:a="http://schemas.openxmlformats.org/drawingml/2006/main">
              <a:ext uri="{FF2B5EF4-FFF2-40B4-BE49-F238E27FC236}">
                <a16:creationId xmlns:a16="http://schemas.microsoft.com/office/drawing/2014/main" id="{AEFFC148-8CFA-4F14-8336-1C54F07F33FA}"/>
              </a:ext>
            </a:extLst>
          </p:cNvPr>
          <p:cNvSpPr>
            <a:spLocks xmlns:a="http://schemas.openxmlformats.org/drawingml/2006/main" noGrp="1"/>
          </p:cNvSpPr>
          <p:nvPr/>
        </p:nvSpPr>
        <p:spPr>
          <a:xfrm xmlns:a="http://schemas.openxmlformats.org/drawingml/2006/main">
            <a:off x="990600" y="43148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2527D8A-0D38-462B-AA82-B31988662E32}"/>
              </a:ext>
            </a:extLst>
          </p:cNvPr>
          <p:cNvSpPr>
            <a:spLocks xmlns:a="http://schemas.openxmlformats.org/drawingml/2006/main" noGrp="1"/>
          </p:cNvSpPr>
          <p:nvPr/>
        </p:nvSpPr>
        <p:spPr>
          <a:xfrm xmlns:a="http://schemas.openxmlformats.org/drawingml/2006/main">
            <a:off x="1219200" y="4248150"/>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Phê duyệt và trách nhiệm xử lý bị đứt quãng</a:t>
            </a:r>
          </a:p>
        </p:txBody>
      </p:sp>
      <p:sp>
        <p:nvSpPr>
          <p:cNvPr id="14" name="">
            <a:extLst xmlns:a="http://schemas.openxmlformats.org/drawingml/2006/main">
              <a:ext uri="{FF2B5EF4-FFF2-40B4-BE49-F238E27FC236}">
                <a16:creationId xmlns:a16="http://schemas.microsoft.com/office/drawing/2014/main" id="{2570E6FF-2A77-4C34-9CA9-26A7B7556D29}"/>
              </a:ext>
            </a:extLst>
          </p:cNvPr>
          <p:cNvSpPr>
            <a:spLocks xmlns:a="http://schemas.openxmlformats.org/drawingml/2006/main" noGrp="1"/>
          </p:cNvSpPr>
          <p:nvPr/>
        </p:nvSpPr>
        <p:spPr>
          <a:xfrm xmlns:a="http://schemas.openxmlformats.org/drawingml/2006/main">
            <a:off x="990600" y="476250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ABBE3B2-9663-44D2-BFBD-8CF1524FA7F7}"/>
              </a:ext>
            </a:extLst>
          </p:cNvPr>
          <p:cNvSpPr>
            <a:spLocks xmlns:a="http://schemas.openxmlformats.org/drawingml/2006/main" noGrp="1"/>
          </p:cNvSpPr>
          <p:nvPr/>
        </p:nvSpPr>
        <p:spPr>
          <a:xfrm xmlns:a="http://schemas.openxmlformats.org/drawingml/2006/main">
            <a:off x="1219200" y="4695825"/>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Báo cáo lãnh đạo phụ thuộc một người tổng hợp</a:t>
            </a:r>
          </a:p>
        </p:txBody>
      </p:sp>
      <p:sp>
        <p:nvSpPr>
          <p:cNvPr id="16" name="">
            <a:extLst xmlns:a="http://schemas.openxmlformats.org/drawingml/2006/main">
              <a:ext uri="{FF2B5EF4-FFF2-40B4-BE49-F238E27FC236}">
                <a16:creationId xmlns:a16="http://schemas.microsoft.com/office/drawing/2014/main" id="{38BA23B5-9DA7-4C98-8D15-DC8884609259}"/>
              </a:ext>
            </a:extLst>
          </p:cNvPr>
          <p:cNvSpPr>
            <a:spLocks xmlns:a="http://schemas.openxmlformats.org/drawingml/2006/main" noGrp="1"/>
          </p:cNvSpPr>
          <p:nvPr/>
        </p:nvSpPr>
        <p:spPr>
          <a:xfrm xmlns:a="http://schemas.openxmlformats.org/drawingml/2006/main">
            <a:off x="6286500" y="2152650"/>
            <a:ext cx="5219700" cy="3238500"/>
          </a:xfrm>
          <a:prstGeom xmlns:a="http://schemas.openxmlformats.org/drawingml/2006/main" prst="roundRect">
            <a:avLst>
              <a:gd name="adj" fmla="val 5882"/>
            </a:avLst>
          </a:prstGeom>
          <a:solidFill xmlns:a="http://schemas.openxmlformats.org/drawingml/2006/main">
            <a:srgbClr val="0B253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D4AD2A9-03E1-422E-AA31-19D325A6B1AF}"/>
              </a:ext>
            </a:extLst>
          </p:cNvPr>
          <p:cNvSpPr>
            <a:spLocks xmlns:a="http://schemas.openxmlformats.org/drawingml/2006/main" noGrp="1"/>
          </p:cNvSpPr>
          <p:nvPr/>
        </p:nvSpPr>
        <p:spPr>
          <a:xfrm xmlns:a="http://schemas.openxmlformats.org/drawingml/2006/main">
            <a:off x="6667500" y="242887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Một vòng lặp thủ công</a:t>
            </a:r>
          </a:p>
        </p:txBody>
      </p:sp>
      <p:sp>
        <p:nvSpPr>
          <p:cNvPr id="18" name="">
            <a:extLst xmlns:a="http://schemas.openxmlformats.org/drawingml/2006/main">
              <a:ext uri="{FF2B5EF4-FFF2-40B4-BE49-F238E27FC236}">
                <a16:creationId xmlns:a16="http://schemas.microsoft.com/office/drawing/2014/main" id="{35A72002-D932-4235-ACE4-BA8BC71D2465}"/>
              </a:ext>
            </a:extLst>
          </p:cNvPr>
          <p:cNvSpPr>
            <a:spLocks xmlns:a="http://schemas.openxmlformats.org/drawingml/2006/main" noGrp="1"/>
          </p:cNvSpPr>
          <p:nvPr/>
        </p:nvSpPr>
        <p:spPr>
          <a:xfrm xmlns:a="http://schemas.openxmlformats.org/drawingml/2006/main">
            <a:off x="6667500" y="29718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19" name="">
            <a:extLst xmlns:a="http://schemas.openxmlformats.org/drawingml/2006/main">
              <a:ext uri="{FF2B5EF4-FFF2-40B4-BE49-F238E27FC236}">
                <a16:creationId xmlns:a16="http://schemas.microsoft.com/office/drawing/2014/main" id="{F76217AC-0D27-4FDF-9619-2E1107C0FC67}"/>
              </a:ext>
            </a:extLst>
          </p:cNvPr>
          <p:cNvSpPr>
            <a:spLocks xmlns:a="http://schemas.openxmlformats.org/drawingml/2006/main" noGrp="1"/>
          </p:cNvSpPr>
          <p:nvPr/>
        </p:nvSpPr>
        <p:spPr>
          <a:xfrm xmlns:a="http://schemas.openxmlformats.org/drawingml/2006/main">
            <a:off x="6762750" y="30765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tuyển dụng</a:t>
            </a:r>
          </a:p>
        </p:txBody>
      </p:sp>
      <p:sp>
        <p:nvSpPr>
          <p:cNvPr id="20" name="">
            <a:extLst xmlns:a="http://schemas.openxmlformats.org/drawingml/2006/main">
              <a:ext uri="{FF2B5EF4-FFF2-40B4-BE49-F238E27FC236}">
                <a16:creationId xmlns:a16="http://schemas.microsoft.com/office/drawing/2014/main" id="{0CEA3E2F-3F2E-4584-B925-112A78FA5594}"/>
              </a:ext>
            </a:extLst>
          </p:cNvPr>
          <p:cNvSpPr>
            <a:spLocks xmlns:a="http://schemas.openxmlformats.org/drawingml/2006/main" noGrp="1"/>
          </p:cNvSpPr>
          <p:nvPr/>
        </p:nvSpPr>
        <p:spPr>
          <a:xfrm xmlns:a="http://schemas.openxmlformats.org/drawingml/2006/main">
            <a:off x="8620125" y="3048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514D2B3F-77D7-4FE9-A7E1-2B943DC55080}"/>
              </a:ext>
            </a:extLst>
          </p:cNvPr>
          <p:cNvSpPr>
            <a:spLocks xmlns:a="http://schemas.openxmlformats.org/drawingml/2006/main" noGrp="1"/>
          </p:cNvSpPr>
          <p:nvPr/>
        </p:nvSpPr>
        <p:spPr>
          <a:xfrm xmlns:a="http://schemas.openxmlformats.org/drawingml/2006/main">
            <a:off x="8905875" y="29718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22" name="">
            <a:extLst xmlns:a="http://schemas.openxmlformats.org/drawingml/2006/main">
              <a:ext uri="{FF2B5EF4-FFF2-40B4-BE49-F238E27FC236}">
                <a16:creationId xmlns:a16="http://schemas.microsoft.com/office/drawing/2014/main" id="{AFFDA8AA-7446-4747-AEAF-6A07253A1F8F}"/>
              </a:ext>
            </a:extLst>
          </p:cNvPr>
          <p:cNvSpPr>
            <a:spLocks xmlns:a="http://schemas.openxmlformats.org/drawingml/2006/main" noGrp="1"/>
          </p:cNvSpPr>
          <p:nvPr/>
        </p:nvSpPr>
        <p:spPr>
          <a:xfrm xmlns:a="http://schemas.openxmlformats.org/drawingml/2006/main">
            <a:off x="9001125" y="30765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NLĐ</a:t>
            </a:r>
          </a:p>
        </p:txBody>
      </p:sp>
      <p:sp>
        <p:nvSpPr>
          <p:cNvPr id="23" name="">
            <a:extLst xmlns:a="http://schemas.openxmlformats.org/drawingml/2006/main">
              <a:ext uri="{FF2B5EF4-FFF2-40B4-BE49-F238E27FC236}">
                <a16:creationId xmlns:a16="http://schemas.microsoft.com/office/drawing/2014/main" id="{4E1D86EC-84BC-4E80-A2A8-AAAB90B8E286}"/>
              </a:ext>
            </a:extLst>
          </p:cNvPr>
          <p:cNvSpPr>
            <a:spLocks xmlns:a="http://schemas.openxmlformats.org/drawingml/2006/main" noGrp="1"/>
          </p:cNvSpPr>
          <p:nvPr/>
        </p:nvSpPr>
        <p:spPr>
          <a:xfrm xmlns:a="http://schemas.openxmlformats.org/drawingml/2006/main">
            <a:off x="10858500" y="3048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2E425730-DB65-4122-882A-74D37A98FD6A}"/>
              </a:ext>
            </a:extLst>
          </p:cNvPr>
          <p:cNvSpPr>
            <a:spLocks xmlns:a="http://schemas.openxmlformats.org/drawingml/2006/main" noGrp="1"/>
          </p:cNvSpPr>
          <p:nvPr/>
        </p:nvSpPr>
        <p:spPr>
          <a:xfrm xmlns:a="http://schemas.openxmlformats.org/drawingml/2006/main">
            <a:off x="6667500" y="36576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25" name="">
            <a:extLst xmlns:a="http://schemas.openxmlformats.org/drawingml/2006/main">
              <a:ext uri="{FF2B5EF4-FFF2-40B4-BE49-F238E27FC236}">
                <a16:creationId xmlns:a16="http://schemas.microsoft.com/office/drawing/2014/main" id="{3D20DFEF-1DF4-4B83-B42F-EB9739E6B013}"/>
              </a:ext>
            </a:extLst>
          </p:cNvPr>
          <p:cNvSpPr>
            <a:spLocks xmlns:a="http://schemas.openxmlformats.org/drawingml/2006/main" noGrp="1"/>
          </p:cNvSpPr>
          <p:nvPr/>
        </p:nvSpPr>
        <p:spPr>
          <a:xfrm xmlns:a="http://schemas.openxmlformats.org/drawingml/2006/main">
            <a:off x="6762750" y="37623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nhà máy</a:t>
            </a:r>
          </a:p>
        </p:txBody>
      </p:sp>
      <p:sp>
        <p:nvSpPr>
          <p:cNvPr id="26" name="">
            <a:extLst xmlns:a="http://schemas.openxmlformats.org/drawingml/2006/main">
              <a:ext uri="{FF2B5EF4-FFF2-40B4-BE49-F238E27FC236}">
                <a16:creationId xmlns:a16="http://schemas.microsoft.com/office/drawing/2014/main" id="{1D53D042-F888-40EC-927C-84C4F038C940}"/>
              </a:ext>
            </a:extLst>
          </p:cNvPr>
          <p:cNvSpPr>
            <a:spLocks xmlns:a="http://schemas.openxmlformats.org/drawingml/2006/main" noGrp="1"/>
          </p:cNvSpPr>
          <p:nvPr/>
        </p:nvSpPr>
        <p:spPr>
          <a:xfrm xmlns:a="http://schemas.openxmlformats.org/drawingml/2006/main">
            <a:off x="8620125" y="37338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AB032674-69AC-4A07-982C-92A58E3AB05C}"/>
              </a:ext>
            </a:extLst>
          </p:cNvPr>
          <p:cNvSpPr>
            <a:spLocks xmlns:a="http://schemas.openxmlformats.org/drawingml/2006/main" noGrp="1"/>
          </p:cNvSpPr>
          <p:nvPr/>
        </p:nvSpPr>
        <p:spPr>
          <a:xfrm xmlns:a="http://schemas.openxmlformats.org/drawingml/2006/main">
            <a:off x="8905875" y="36576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28" name="">
            <a:extLst xmlns:a="http://schemas.openxmlformats.org/drawingml/2006/main">
              <a:ext uri="{FF2B5EF4-FFF2-40B4-BE49-F238E27FC236}">
                <a16:creationId xmlns:a16="http://schemas.microsoft.com/office/drawing/2014/main" id="{CB8E9B70-4B2D-46EB-ACBC-D3FE74FF886E}"/>
              </a:ext>
            </a:extLst>
          </p:cNvPr>
          <p:cNvSpPr>
            <a:spLocks xmlns:a="http://schemas.openxmlformats.org/drawingml/2006/main" noGrp="1"/>
          </p:cNvSpPr>
          <p:nvPr/>
        </p:nvSpPr>
        <p:spPr>
          <a:xfrm xmlns:a="http://schemas.openxmlformats.org/drawingml/2006/main">
            <a:off x="9001125" y="37623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công/lương</a:t>
            </a:r>
          </a:p>
        </p:txBody>
      </p:sp>
      <p:sp>
        <p:nvSpPr>
          <p:cNvPr id="29" name="">
            <a:extLst xmlns:a="http://schemas.openxmlformats.org/drawingml/2006/main">
              <a:ext uri="{FF2B5EF4-FFF2-40B4-BE49-F238E27FC236}">
                <a16:creationId xmlns:a16="http://schemas.microsoft.com/office/drawing/2014/main" id="{C6D2301F-71E2-4170-8968-1194F9477855}"/>
              </a:ext>
            </a:extLst>
          </p:cNvPr>
          <p:cNvSpPr>
            <a:spLocks xmlns:a="http://schemas.openxmlformats.org/drawingml/2006/main" noGrp="1"/>
          </p:cNvSpPr>
          <p:nvPr/>
        </p:nvSpPr>
        <p:spPr>
          <a:xfrm xmlns:a="http://schemas.openxmlformats.org/drawingml/2006/main">
            <a:off x="10858500" y="37338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A2A75C47-FF4A-478A-81B9-69C33F6E4F53}"/>
              </a:ext>
            </a:extLst>
          </p:cNvPr>
          <p:cNvSpPr>
            <a:spLocks xmlns:a="http://schemas.openxmlformats.org/drawingml/2006/main" noGrp="1"/>
          </p:cNvSpPr>
          <p:nvPr/>
        </p:nvSpPr>
        <p:spPr>
          <a:xfrm xmlns:a="http://schemas.openxmlformats.org/drawingml/2006/main">
            <a:off x="6667500" y="4343400"/>
            <a:ext cx="1905000" cy="400050"/>
          </a:xfrm>
          <a:prstGeom xmlns:a="http://schemas.openxmlformats.org/drawingml/2006/main" prst="roundRect">
            <a:avLst>
              <a:gd name="adj" fmla="val 28571"/>
            </a:avLst>
          </a:prstGeom>
          <a:solidFill xmlns:a="http://schemas.openxmlformats.org/drawingml/2006/main">
            <a:srgbClr val="F59E0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D6F52A3-BF41-4559-A986-403C2D724531}"/>
              </a:ext>
            </a:extLst>
          </p:cNvPr>
          <p:cNvSpPr>
            <a:spLocks xmlns:a="http://schemas.openxmlformats.org/drawingml/2006/main" noGrp="1"/>
          </p:cNvSpPr>
          <p:nvPr/>
        </p:nvSpPr>
        <p:spPr>
          <a:xfrm xmlns:a="http://schemas.openxmlformats.org/drawingml/2006/main">
            <a:off x="6762750" y="44481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0B2538"/>
                </a:solidFill>
                <a:latin typeface="Arial"/>
                <a:ea typeface="Arial"/>
                <a:cs typeface="Arial"/>
              </a:defRPr>
            </a:pPr>
            <a:r>
              <a:rPr sz="1125" b="1">
                <a:solidFill>
                  <a:srgbClr val="0B2538"/>
                </a:solidFill>
                <a:latin typeface="Arial"/>
                <a:ea typeface="Arial"/>
                <a:cs typeface="Arial"/>
              </a:rPr>
              <a:t>Báo cáo tổng hợp</a:t>
            </a:r>
          </a:p>
        </p:txBody>
      </p:sp>
      <p:sp>
        <p:nvSpPr>
          <p:cNvPr id="32" name="">
            <a:extLst xmlns:a="http://schemas.openxmlformats.org/drawingml/2006/main">
              <a:ext uri="{FF2B5EF4-FFF2-40B4-BE49-F238E27FC236}">
                <a16:creationId xmlns:a16="http://schemas.microsoft.com/office/drawing/2014/main" id="{EEF9B364-9DF3-4009-984A-93553FC146CD}"/>
              </a:ext>
            </a:extLst>
          </p:cNvPr>
          <p:cNvSpPr>
            <a:spLocks xmlns:a="http://schemas.openxmlformats.org/drawingml/2006/main" noGrp="1"/>
          </p:cNvSpPr>
          <p:nvPr/>
        </p:nvSpPr>
        <p:spPr>
          <a:xfrm xmlns:a="http://schemas.openxmlformats.org/drawingml/2006/main">
            <a:off x="6667500" y="4762500"/>
            <a:ext cx="4095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D9F5F3"/>
                </a:solidFill>
                <a:latin typeface="Arial"/>
                <a:ea typeface="Arial"/>
                <a:cs typeface="Arial"/>
              </a:defRPr>
            </a:pPr>
            <a:r>
              <a:rPr sz="1425" b="0">
                <a:solidFill>
                  <a:srgbClr val="D9F5F3"/>
                </a:solidFill>
                <a:latin typeface="Arial"/>
                <a:ea typeface="Arial"/>
                <a:cs typeface="Arial"/>
              </a:rPr>
              <a:t>Mất thời gian không chỉ ở nhập liệu, mà ở việc xác định đâu là sự thật.</a:t>
            </a:r>
          </a:p>
        </p:txBody>
      </p:sp>
      <p:sp>
        <p:nvSpPr>
          <p:cNvPr id="33" name="">
            <a:extLst xmlns:a="http://schemas.openxmlformats.org/drawingml/2006/main">
              <a:ext uri="{FF2B5EF4-FFF2-40B4-BE49-F238E27FC236}">
                <a16:creationId xmlns:a16="http://schemas.microsoft.com/office/drawing/2014/main" id="{EDC10294-E852-44BF-9F2E-35F9E6A3BB17}"/>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4" name="">
            <a:extLst xmlns:a="http://schemas.openxmlformats.org/drawingml/2006/main">
              <a:ext uri="{FF2B5EF4-FFF2-40B4-BE49-F238E27FC236}">
                <a16:creationId xmlns:a16="http://schemas.microsoft.com/office/drawing/2014/main" id="{3F169C9E-27AB-43D7-9F00-B51A3FC0F301}"/>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02</a:t>
            </a:r>
          </a:p>
        </p:txBody>
      </p:sp>
    </p:spTree>
    <p:extLst>
      <p:ext uri="{BB962C8B-B14F-4D97-AF65-F5344CB8AC3E}">
        <p14:creationId xmlns:p14="http://schemas.microsoft.com/office/powerpoint/2010/main" val="14508890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A14D704-968F-41F2-A926-2CD2BF6FFF2A}"/>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GIẢI PHÁP CỐT LÕI</a:t>
            </a:r>
          </a:p>
        </p:txBody>
      </p:sp>
      <p:sp>
        <p:nvSpPr>
          <p:cNvPr id="2" name="">
            <a:extLst xmlns:a="http://schemas.openxmlformats.org/drawingml/2006/main">
              <a:ext uri="{FF2B5EF4-FFF2-40B4-BE49-F238E27FC236}">
                <a16:creationId xmlns:a16="http://schemas.microsoft.com/office/drawing/2014/main" id="{901C336F-BAF7-4D32-BF94-FD4DD592104B}"/>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Một hồ sơ, một nguồn dữ liệu</a:t>
            </a:r>
          </a:p>
        </p:txBody>
      </p:sp>
      <p:sp>
        <p:nvSpPr>
          <p:cNvPr id="3" name="">
            <a:extLst xmlns:a="http://schemas.openxmlformats.org/drawingml/2006/main">
              <a:ext uri="{FF2B5EF4-FFF2-40B4-BE49-F238E27FC236}">
                <a16:creationId xmlns:a16="http://schemas.microsoft.com/office/drawing/2014/main" id="{93158ECF-D1DB-471F-9B56-29423A84CA56}"/>
              </a:ext>
            </a:extLst>
          </p:cNvPr>
          <p:cNvSpPr>
            <a:spLocks xmlns:a="http://schemas.openxmlformats.org/drawingml/2006/main" noGrp="1"/>
          </p:cNvSpPr>
          <p:nvPr/>
        </p:nvSpPr>
        <p:spPr>
          <a:xfrm xmlns:a="http://schemas.openxmlformats.org/drawingml/2006/main">
            <a:off x="685800" y="129540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0">
                <a:solidFill>
                  <a:srgbClr val="52606D"/>
                </a:solidFill>
                <a:latin typeface="Arial"/>
                <a:ea typeface="Arial"/>
                <a:cs typeface="Arial"/>
              </a:defRPr>
            </a:pPr>
            <a:r>
              <a:rPr sz="1725" b="0">
                <a:solidFill>
                  <a:srgbClr val="52606D"/>
                </a:solidFill>
                <a:latin typeface="Arial"/>
                <a:ea typeface="Arial"/>
                <a:cs typeface="Arial"/>
              </a:rPr>
              <a:t>Ứng dụng nối liền vòng đời người lao động từ lúc tuyển đến khi tính công, ứng lương và lưu vết xử lý.</a:t>
            </a:r>
          </a:p>
        </p:txBody>
      </p:sp>
      <p:sp>
        <p:nvSpPr>
          <p:cNvPr id="4" name="">
            <a:extLst xmlns:a="http://schemas.openxmlformats.org/drawingml/2006/main">
              <a:ext uri="{FF2B5EF4-FFF2-40B4-BE49-F238E27FC236}">
                <a16:creationId xmlns:a16="http://schemas.microsoft.com/office/drawing/2014/main" id="{6612657A-56A9-4CB6-B2D1-FE30E8F287E3}"/>
              </a:ext>
            </a:extLst>
          </p:cNvPr>
          <p:cNvSpPr>
            <a:spLocks xmlns:a="http://schemas.openxmlformats.org/drawingml/2006/main" noGrp="1"/>
          </p:cNvSpPr>
          <p:nvPr/>
        </p:nvSpPr>
        <p:spPr>
          <a:xfrm xmlns:a="http://schemas.openxmlformats.org/drawingml/2006/main">
            <a:off x="685800" y="2571750"/>
            <a:ext cx="17526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0F8B8D"/>
            </a:solidFill>
          </a:ln>
        </p:spPr>
      </p:sp>
      <p:sp>
        <p:nvSpPr>
          <p:cNvPr id="5" name="">
            <a:extLst xmlns:a="http://schemas.openxmlformats.org/drawingml/2006/main">
              <a:ext uri="{FF2B5EF4-FFF2-40B4-BE49-F238E27FC236}">
                <a16:creationId xmlns:a16="http://schemas.microsoft.com/office/drawing/2014/main" id="{1A210ED4-8EB5-459E-8EFC-9FD0F6D2D0D2}"/>
              </a:ext>
            </a:extLst>
          </p:cNvPr>
          <p:cNvSpPr>
            <a:spLocks xmlns:a="http://schemas.openxmlformats.org/drawingml/2006/main" noGrp="1"/>
          </p:cNvSpPr>
          <p:nvPr/>
        </p:nvSpPr>
        <p:spPr>
          <a:xfrm xmlns:a="http://schemas.openxmlformats.org/drawingml/2006/main">
            <a:off x="685800" y="2571750"/>
            <a:ext cx="76200" cy="121920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8AF4BA7-B10B-4301-9D61-5B6D0ED52897}"/>
              </a:ext>
            </a:extLst>
          </p:cNvPr>
          <p:cNvSpPr>
            <a:spLocks xmlns:a="http://schemas.openxmlformats.org/drawingml/2006/main" noGrp="1"/>
          </p:cNvSpPr>
          <p:nvPr/>
        </p:nvSpPr>
        <p:spPr>
          <a:xfrm xmlns:a="http://schemas.openxmlformats.org/drawingml/2006/main">
            <a:off x="895350" y="2838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Hồ sơ NLĐ</a:t>
            </a:r>
          </a:p>
        </p:txBody>
      </p:sp>
      <p:sp>
        <p:nvSpPr>
          <p:cNvPr id="7" name="">
            <a:extLst xmlns:a="http://schemas.openxmlformats.org/drawingml/2006/main">
              <a:ext uri="{FF2B5EF4-FFF2-40B4-BE49-F238E27FC236}">
                <a16:creationId xmlns:a16="http://schemas.microsoft.com/office/drawing/2014/main" id="{CD374F3B-B403-4DE5-81AF-5C18C75F2EDC}"/>
              </a:ext>
            </a:extLst>
          </p:cNvPr>
          <p:cNvSpPr>
            <a:spLocks xmlns:a="http://schemas.openxmlformats.org/drawingml/2006/main" noGrp="1"/>
          </p:cNvSpPr>
          <p:nvPr/>
        </p:nvSpPr>
        <p:spPr>
          <a:xfrm xmlns:a="http://schemas.openxmlformats.org/drawingml/2006/main">
            <a:off x="895350" y="32575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UID · CCCD · tài khoản</a:t>
            </a:r>
          </a:p>
        </p:txBody>
      </p:sp>
      <p:sp>
        <p:nvSpPr>
          <p:cNvPr id="8" name="">
            <a:extLst xmlns:a="http://schemas.openxmlformats.org/drawingml/2006/main">
              <a:ext uri="{FF2B5EF4-FFF2-40B4-BE49-F238E27FC236}">
                <a16:creationId xmlns:a16="http://schemas.microsoft.com/office/drawing/2014/main" id="{6EC127A2-179E-480A-80F4-4B91C82967DB}"/>
              </a:ext>
            </a:extLst>
          </p:cNvPr>
          <p:cNvSpPr>
            <a:spLocks xmlns:a="http://schemas.openxmlformats.org/drawingml/2006/main" noGrp="1"/>
          </p:cNvSpPr>
          <p:nvPr/>
        </p:nvSpPr>
        <p:spPr>
          <a:xfrm xmlns:a="http://schemas.openxmlformats.org/drawingml/2006/main">
            <a:off x="25050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B8F4604-BA06-4627-A090-F7DC8631936A}"/>
              </a:ext>
            </a:extLst>
          </p:cNvPr>
          <p:cNvSpPr>
            <a:spLocks xmlns:a="http://schemas.openxmlformats.org/drawingml/2006/main" noGrp="1"/>
          </p:cNvSpPr>
          <p:nvPr/>
        </p:nvSpPr>
        <p:spPr>
          <a:xfrm xmlns:a="http://schemas.openxmlformats.org/drawingml/2006/main">
            <a:off x="2781300" y="2571750"/>
            <a:ext cx="19050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38BDF8"/>
            </a:solidFill>
          </a:ln>
        </p:spPr>
      </p:sp>
      <p:sp>
        <p:nvSpPr>
          <p:cNvPr id="10" name="">
            <a:extLst xmlns:a="http://schemas.openxmlformats.org/drawingml/2006/main">
              <a:ext uri="{FF2B5EF4-FFF2-40B4-BE49-F238E27FC236}">
                <a16:creationId xmlns:a16="http://schemas.microsoft.com/office/drawing/2014/main" id="{D21A8661-09B0-4873-BAC9-B7D69D2CB873}"/>
              </a:ext>
            </a:extLst>
          </p:cNvPr>
          <p:cNvSpPr>
            <a:spLocks xmlns:a="http://schemas.openxmlformats.org/drawingml/2006/main" noGrp="1"/>
          </p:cNvSpPr>
          <p:nvPr/>
        </p:nvSpPr>
        <p:spPr>
          <a:xfrm xmlns:a="http://schemas.openxmlformats.org/drawingml/2006/main">
            <a:off x="2781300" y="2571750"/>
            <a:ext cx="76200" cy="12192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D56B1E5-17AD-44D8-ACD4-5E69E3D1FF23}"/>
              </a:ext>
            </a:extLst>
          </p:cNvPr>
          <p:cNvSpPr>
            <a:spLocks xmlns:a="http://schemas.openxmlformats.org/drawingml/2006/main" noGrp="1"/>
          </p:cNvSpPr>
          <p:nvPr/>
        </p:nvSpPr>
        <p:spPr>
          <a:xfrm xmlns:a="http://schemas.openxmlformats.org/drawingml/2006/main">
            <a:off x="2990850" y="28384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Lịch sử đi làm</a:t>
            </a:r>
          </a:p>
        </p:txBody>
      </p:sp>
      <p:sp>
        <p:nvSpPr>
          <p:cNvPr id="12" name="">
            <a:extLst xmlns:a="http://schemas.openxmlformats.org/drawingml/2006/main">
              <a:ext uri="{FF2B5EF4-FFF2-40B4-BE49-F238E27FC236}">
                <a16:creationId xmlns:a16="http://schemas.microsoft.com/office/drawing/2014/main" id="{348912CA-349C-4900-BC00-5D176EF82D79}"/>
              </a:ext>
            </a:extLst>
          </p:cNvPr>
          <p:cNvSpPr>
            <a:spLocks xmlns:a="http://schemas.openxmlformats.org/drawingml/2006/main" noGrp="1"/>
          </p:cNvSpPr>
          <p:nvPr/>
        </p:nvSpPr>
        <p:spPr>
          <a:xfrm xmlns:a="http://schemas.openxmlformats.org/drawingml/2006/main">
            <a:off x="2990850" y="3257550"/>
            <a:ext cx="1581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mã NV · ngày vào/nghỉ</a:t>
            </a:r>
          </a:p>
        </p:txBody>
      </p:sp>
      <p:sp>
        <p:nvSpPr>
          <p:cNvPr id="13" name="">
            <a:extLst xmlns:a="http://schemas.openxmlformats.org/drawingml/2006/main">
              <a:ext uri="{FF2B5EF4-FFF2-40B4-BE49-F238E27FC236}">
                <a16:creationId xmlns:a16="http://schemas.microsoft.com/office/drawing/2014/main" id="{13378D55-C19B-41A2-9CDF-F3732958AA2F}"/>
              </a:ext>
            </a:extLst>
          </p:cNvPr>
          <p:cNvSpPr>
            <a:spLocks xmlns:a="http://schemas.openxmlformats.org/drawingml/2006/main" noGrp="1"/>
          </p:cNvSpPr>
          <p:nvPr/>
        </p:nvSpPr>
        <p:spPr>
          <a:xfrm xmlns:a="http://schemas.openxmlformats.org/drawingml/2006/main">
            <a:off x="47529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FD30FCEB-3191-498C-868A-9B0D9F76855C}"/>
              </a:ext>
            </a:extLst>
          </p:cNvPr>
          <p:cNvSpPr>
            <a:spLocks xmlns:a="http://schemas.openxmlformats.org/drawingml/2006/main" noGrp="1"/>
          </p:cNvSpPr>
          <p:nvPr/>
        </p:nvSpPr>
        <p:spPr>
          <a:xfrm xmlns:a="http://schemas.openxmlformats.org/drawingml/2006/main">
            <a:off x="5029200" y="2571750"/>
            <a:ext cx="17526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F59E0B"/>
            </a:solidFill>
          </a:ln>
        </p:spPr>
      </p:sp>
      <p:sp>
        <p:nvSpPr>
          <p:cNvPr id="15" name="">
            <a:extLst xmlns:a="http://schemas.openxmlformats.org/drawingml/2006/main">
              <a:ext uri="{FF2B5EF4-FFF2-40B4-BE49-F238E27FC236}">
                <a16:creationId xmlns:a16="http://schemas.microsoft.com/office/drawing/2014/main" id="{D9EE8A3A-72DB-4133-B51E-268DA7441909}"/>
              </a:ext>
            </a:extLst>
          </p:cNvPr>
          <p:cNvSpPr>
            <a:spLocks xmlns:a="http://schemas.openxmlformats.org/drawingml/2006/main" noGrp="1"/>
          </p:cNvSpPr>
          <p:nvPr/>
        </p:nvSpPr>
        <p:spPr>
          <a:xfrm xmlns:a="http://schemas.openxmlformats.org/drawingml/2006/main">
            <a:off x="5029200" y="2571750"/>
            <a:ext cx="76200" cy="1219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63CD73D-0FFB-45C5-BECB-74A9A2CCD234}"/>
              </a:ext>
            </a:extLst>
          </p:cNvPr>
          <p:cNvSpPr>
            <a:spLocks xmlns:a="http://schemas.openxmlformats.org/drawingml/2006/main" noGrp="1"/>
          </p:cNvSpPr>
          <p:nvPr/>
        </p:nvSpPr>
        <p:spPr>
          <a:xfrm xmlns:a="http://schemas.openxmlformats.org/drawingml/2006/main">
            <a:off x="5238750" y="2838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Nhà máy &amp; đối tác</a:t>
            </a:r>
          </a:p>
        </p:txBody>
      </p:sp>
      <p:sp>
        <p:nvSpPr>
          <p:cNvPr id="17" name="">
            <a:extLst xmlns:a="http://schemas.openxmlformats.org/drawingml/2006/main">
              <a:ext uri="{FF2B5EF4-FFF2-40B4-BE49-F238E27FC236}">
                <a16:creationId xmlns:a16="http://schemas.microsoft.com/office/drawing/2014/main" id="{8D3FD49A-FD7F-4C62-B707-623C50637642}"/>
              </a:ext>
            </a:extLst>
          </p:cNvPr>
          <p:cNvSpPr>
            <a:spLocks xmlns:a="http://schemas.openxmlformats.org/drawingml/2006/main" noGrp="1"/>
          </p:cNvSpPr>
          <p:nvPr/>
        </p:nvSpPr>
        <p:spPr>
          <a:xfrm xmlns:a="http://schemas.openxmlformats.org/drawingml/2006/main">
            <a:off x="5238750" y="32575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nguồn tuyển · phạm vi</a:t>
            </a:r>
          </a:p>
        </p:txBody>
      </p:sp>
      <p:sp>
        <p:nvSpPr>
          <p:cNvPr id="18" name="">
            <a:extLst xmlns:a="http://schemas.openxmlformats.org/drawingml/2006/main">
              <a:ext uri="{FF2B5EF4-FFF2-40B4-BE49-F238E27FC236}">
                <a16:creationId xmlns:a16="http://schemas.microsoft.com/office/drawing/2014/main" id="{BBCC1ECD-E9B9-4485-A911-2DA24946E66B}"/>
              </a:ext>
            </a:extLst>
          </p:cNvPr>
          <p:cNvSpPr>
            <a:spLocks xmlns:a="http://schemas.openxmlformats.org/drawingml/2006/main" noGrp="1"/>
          </p:cNvSpPr>
          <p:nvPr/>
        </p:nvSpPr>
        <p:spPr>
          <a:xfrm xmlns:a="http://schemas.openxmlformats.org/drawingml/2006/main">
            <a:off x="68484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EADE76C4-8FC1-4D8C-A4D1-B89257189481}"/>
              </a:ext>
            </a:extLst>
          </p:cNvPr>
          <p:cNvSpPr>
            <a:spLocks xmlns:a="http://schemas.openxmlformats.org/drawingml/2006/main" noGrp="1"/>
          </p:cNvSpPr>
          <p:nvPr/>
        </p:nvSpPr>
        <p:spPr>
          <a:xfrm xmlns:a="http://schemas.openxmlformats.org/drawingml/2006/main">
            <a:off x="7124700" y="2571750"/>
            <a:ext cx="17526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159A78"/>
            </a:solidFill>
          </a:ln>
        </p:spPr>
      </p:sp>
      <p:sp>
        <p:nvSpPr>
          <p:cNvPr id="20" name="">
            <a:extLst xmlns:a="http://schemas.openxmlformats.org/drawingml/2006/main">
              <a:ext uri="{FF2B5EF4-FFF2-40B4-BE49-F238E27FC236}">
                <a16:creationId xmlns:a16="http://schemas.microsoft.com/office/drawing/2014/main" id="{4D5BAF4C-4CF9-4DC1-9621-372C34F26993}"/>
              </a:ext>
            </a:extLst>
          </p:cNvPr>
          <p:cNvSpPr>
            <a:spLocks xmlns:a="http://schemas.openxmlformats.org/drawingml/2006/main" noGrp="1"/>
          </p:cNvSpPr>
          <p:nvPr/>
        </p:nvSpPr>
        <p:spPr>
          <a:xfrm xmlns:a="http://schemas.openxmlformats.org/drawingml/2006/main">
            <a:off x="7124700" y="2571750"/>
            <a:ext cx="76200" cy="1219200"/>
          </a:xfrm>
          <a:prstGeom xmlns:a="http://schemas.openxmlformats.org/drawingml/2006/main" prst="roundRect">
            <a:avLst>
              <a:gd name="adj" fmla="val 50000"/>
            </a:avLst>
          </a:prstGeom>
          <a:solidFill xmlns:a="http://schemas.openxmlformats.org/drawingml/2006/main">
            <a:srgbClr val="159A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47A4A13-6954-4E22-A92C-299C5E4B6708}"/>
              </a:ext>
            </a:extLst>
          </p:cNvPr>
          <p:cNvSpPr>
            <a:spLocks xmlns:a="http://schemas.openxmlformats.org/drawingml/2006/main" noGrp="1"/>
          </p:cNvSpPr>
          <p:nvPr/>
        </p:nvSpPr>
        <p:spPr>
          <a:xfrm xmlns:a="http://schemas.openxmlformats.org/drawingml/2006/main">
            <a:off x="7334250" y="2838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Công &amp; lương</a:t>
            </a:r>
          </a:p>
        </p:txBody>
      </p:sp>
      <p:sp>
        <p:nvSpPr>
          <p:cNvPr id="22" name="">
            <a:extLst xmlns:a="http://schemas.openxmlformats.org/drawingml/2006/main">
              <a:ext uri="{FF2B5EF4-FFF2-40B4-BE49-F238E27FC236}">
                <a16:creationId xmlns:a16="http://schemas.microsoft.com/office/drawing/2014/main" id="{07C791A0-3D27-4484-ABE6-45D9151225F5}"/>
              </a:ext>
            </a:extLst>
          </p:cNvPr>
          <p:cNvSpPr>
            <a:spLocks xmlns:a="http://schemas.openxmlformats.org/drawingml/2006/main" noGrp="1"/>
          </p:cNvSpPr>
          <p:nvPr/>
        </p:nvSpPr>
        <p:spPr>
          <a:xfrm xmlns:a="http://schemas.openxmlformats.org/drawingml/2006/main">
            <a:off x="7334250" y="32575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giờ · phụ cấp · khấu trừ</a:t>
            </a:r>
          </a:p>
        </p:txBody>
      </p:sp>
      <p:sp>
        <p:nvSpPr>
          <p:cNvPr id="23" name="">
            <a:extLst xmlns:a="http://schemas.openxmlformats.org/drawingml/2006/main">
              <a:ext uri="{FF2B5EF4-FFF2-40B4-BE49-F238E27FC236}">
                <a16:creationId xmlns:a16="http://schemas.microsoft.com/office/drawing/2014/main" id="{23209D56-BC51-403B-AFF8-8C8E10A7F81F}"/>
              </a:ext>
            </a:extLst>
          </p:cNvPr>
          <p:cNvSpPr>
            <a:spLocks xmlns:a="http://schemas.openxmlformats.org/drawingml/2006/main" noGrp="1"/>
          </p:cNvSpPr>
          <p:nvPr/>
        </p:nvSpPr>
        <p:spPr>
          <a:xfrm xmlns:a="http://schemas.openxmlformats.org/drawingml/2006/main">
            <a:off x="89439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F625A9A3-EA7B-42F5-A5B4-54BBD1AEFE4E}"/>
              </a:ext>
            </a:extLst>
          </p:cNvPr>
          <p:cNvSpPr>
            <a:spLocks xmlns:a="http://schemas.openxmlformats.org/drawingml/2006/main" noGrp="1"/>
          </p:cNvSpPr>
          <p:nvPr/>
        </p:nvSpPr>
        <p:spPr>
          <a:xfrm xmlns:a="http://schemas.openxmlformats.org/drawingml/2006/main">
            <a:off x="9220200" y="2571750"/>
            <a:ext cx="22860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D85C5C"/>
            </a:solidFill>
          </a:ln>
        </p:spPr>
      </p:sp>
      <p:sp>
        <p:nvSpPr>
          <p:cNvPr id="25" name="">
            <a:extLst xmlns:a="http://schemas.openxmlformats.org/drawingml/2006/main">
              <a:ext uri="{FF2B5EF4-FFF2-40B4-BE49-F238E27FC236}">
                <a16:creationId xmlns:a16="http://schemas.microsoft.com/office/drawing/2014/main" id="{9AFEE16A-2715-4847-B945-5C1FC9E3E4FB}"/>
              </a:ext>
            </a:extLst>
          </p:cNvPr>
          <p:cNvSpPr>
            <a:spLocks xmlns:a="http://schemas.openxmlformats.org/drawingml/2006/main" noGrp="1"/>
          </p:cNvSpPr>
          <p:nvPr/>
        </p:nvSpPr>
        <p:spPr>
          <a:xfrm xmlns:a="http://schemas.openxmlformats.org/drawingml/2006/main">
            <a:off x="9220200" y="2571750"/>
            <a:ext cx="76200" cy="1219200"/>
          </a:xfrm>
          <a:prstGeom xmlns:a="http://schemas.openxmlformats.org/drawingml/2006/main" prst="roundRect">
            <a:avLst>
              <a:gd name="adj" fmla="val 50000"/>
            </a:avLst>
          </a:prstGeom>
          <a:solidFill xmlns:a="http://schemas.openxmlformats.org/drawingml/2006/main">
            <a:srgbClr val="D85C5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F9AF6B1-8BC4-4D95-8B94-24A42763396D}"/>
              </a:ext>
            </a:extLst>
          </p:cNvPr>
          <p:cNvSpPr>
            <a:spLocks xmlns:a="http://schemas.openxmlformats.org/drawingml/2006/main" noGrp="1"/>
          </p:cNvSpPr>
          <p:nvPr/>
        </p:nvSpPr>
        <p:spPr>
          <a:xfrm xmlns:a="http://schemas.openxmlformats.org/drawingml/2006/main">
            <a:off x="9429750" y="2838450"/>
            <a:ext cx="1962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Phê duyệt &amp; nhật ký</a:t>
            </a:r>
          </a:p>
        </p:txBody>
      </p:sp>
      <p:sp>
        <p:nvSpPr>
          <p:cNvPr id="27" name="">
            <a:extLst xmlns:a="http://schemas.openxmlformats.org/drawingml/2006/main">
              <a:ext uri="{FF2B5EF4-FFF2-40B4-BE49-F238E27FC236}">
                <a16:creationId xmlns:a16="http://schemas.microsoft.com/office/drawing/2014/main" id="{B91D6D9F-7E4F-4526-A639-6176630E2BD5}"/>
              </a:ext>
            </a:extLst>
          </p:cNvPr>
          <p:cNvSpPr>
            <a:spLocks xmlns:a="http://schemas.openxmlformats.org/drawingml/2006/main" noGrp="1"/>
          </p:cNvSpPr>
          <p:nvPr/>
        </p:nvSpPr>
        <p:spPr>
          <a:xfrm xmlns:a="http://schemas.openxmlformats.org/drawingml/2006/main">
            <a:off x="9429750" y="3257550"/>
            <a:ext cx="1962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ai làm · lúc nào · thay đổi gì</a:t>
            </a:r>
          </a:p>
        </p:txBody>
      </p:sp>
      <p:sp>
        <p:nvSpPr>
          <p:cNvPr id="28" name="">
            <a:extLst xmlns:a="http://schemas.openxmlformats.org/drawingml/2006/main">
              <a:ext uri="{FF2B5EF4-FFF2-40B4-BE49-F238E27FC236}">
                <a16:creationId xmlns:a16="http://schemas.microsoft.com/office/drawing/2014/main" id="{6B7ADF9A-8258-4043-B488-EADFA51E6B10}"/>
              </a:ext>
            </a:extLst>
          </p:cNvPr>
          <p:cNvSpPr>
            <a:spLocks xmlns:a="http://schemas.openxmlformats.org/drawingml/2006/main" noGrp="1"/>
          </p:cNvSpPr>
          <p:nvPr/>
        </p:nvSpPr>
        <p:spPr>
          <a:xfrm xmlns:a="http://schemas.openxmlformats.org/drawingml/2006/main">
            <a:off x="685800" y="4495800"/>
            <a:ext cx="10820400" cy="895350"/>
          </a:xfrm>
          <a:prstGeom xmlns:a="http://schemas.openxmlformats.org/drawingml/2006/main" prst="roundRect">
            <a:avLst>
              <a:gd name="adj" fmla="val 19149"/>
            </a:avLst>
          </a:prstGeom>
          <a:solidFill xmlns:a="http://schemas.openxmlformats.org/drawingml/2006/main">
            <a:srgbClr val="0B253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2849A28-3BBF-4722-90E8-A5ED4C56B67A}"/>
              </a:ext>
            </a:extLst>
          </p:cNvPr>
          <p:cNvSpPr>
            <a:spLocks xmlns:a="http://schemas.openxmlformats.org/drawingml/2006/main" noGrp="1"/>
          </p:cNvSpPr>
          <p:nvPr/>
        </p:nvSpPr>
        <p:spPr>
          <a:xfrm xmlns:a="http://schemas.openxmlformats.org/drawingml/2006/main">
            <a:off x="1028700" y="4772025"/>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Khi một dữ liệu thay đổi, các vai trò liên quan nhìn thấy cùng một trạng thái đã được phân quyền.</a:t>
            </a:r>
          </a:p>
        </p:txBody>
      </p:sp>
      <p:sp>
        <p:nvSpPr>
          <p:cNvPr id="30" name="">
            <a:extLst xmlns:a="http://schemas.openxmlformats.org/drawingml/2006/main">
              <a:ext uri="{FF2B5EF4-FFF2-40B4-BE49-F238E27FC236}">
                <a16:creationId xmlns:a16="http://schemas.microsoft.com/office/drawing/2014/main" id="{96785167-B810-46EF-A751-3F05D6C14062}"/>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1" name="">
            <a:extLst xmlns:a="http://schemas.openxmlformats.org/drawingml/2006/main">
              <a:ext uri="{FF2B5EF4-FFF2-40B4-BE49-F238E27FC236}">
                <a16:creationId xmlns:a16="http://schemas.microsoft.com/office/drawing/2014/main" id="{B7931A20-24E8-45DA-AFFB-0DEB48860B47}"/>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03</a:t>
            </a:r>
          </a:p>
        </p:txBody>
      </p:sp>
    </p:spTree>
    <p:extLst>
      <p:ext uri="{BB962C8B-B14F-4D97-AF65-F5344CB8AC3E}">
        <p14:creationId xmlns:p14="http://schemas.microsoft.com/office/powerpoint/2010/main" val="672982669"/>
      </p:ext>
    </p:extLst>
  </p:cSld>
</p:sld>
</file>

<file path=ppt/slides/slide4.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4C588D3-04CF-486B-AED6-DAADEC5E9C60}"/>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NĂNG LỰC SẢN PHẨM</a:t>
            </a:r>
          </a:p>
        </p:txBody>
      </p:sp>
      <p:sp>
        <p:nvSpPr>
          <p:cNvPr id="2" name="">
            <a:extLst xmlns:a="http://schemas.openxmlformats.org/drawingml/2006/main">
              <a:ext uri="{FF2B5EF4-FFF2-40B4-BE49-F238E27FC236}">
                <a16:creationId xmlns:a16="http://schemas.microsoft.com/office/drawing/2014/main" id="{1453B147-3C88-4B95-97A4-D2838CBED17D}"/>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Những gì ứng dụng đã sẵn sàng</a:t>
            </a:r>
          </a:p>
        </p:txBody>
      </p:sp>
      <p:sp>
        <p:nvSpPr>
          <p:cNvPr id="3" name="">
            <a:extLst xmlns:a="http://schemas.openxmlformats.org/drawingml/2006/main">
              <a:ext uri="{FF2B5EF4-FFF2-40B4-BE49-F238E27FC236}">
                <a16:creationId xmlns:a16="http://schemas.microsoft.com/office/drawing/2014/main" id="{09A766EB-BA0B-4040-90B6-2F78424B9310}"/>
              </a:ext>
            </a:extLst>
          </p:cNvPr>
          <p:cNvSpPr>
            <a:spLocks xmlns:a="http://schemas.openxmlformats.org/drawingml/2006/main" noGrp="1"/>
          </p:cNvSpPr>
          <p:nvPr/>
        </p:nvSpPr>
        <p:spPr>
          <a:xfrm xmlns:a="http://schemas.openxmlformats.org/drawingml/2006/main">
            <a:off x="685800" y="1524000"/>
            <a:ext cx="24003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4" name="">
            <a:extLst xmlns:a="http://schemas.openxmlformats.org/drawingml/2006/main">
              <a:ext uri="{FF2B5EF4-FFF2-40B4-BE49-F238E27FC236}">
                <a16:creationId xmlns:a16="http://schemas.microsoft.com/office/drawing/2014/main" id="{3C353E83-39AF-4DD6-AC09-9E9528A83D6D}"/>
              </a:ext>
            </a:extLst>
          </p:cNvPr>
          <p:cNvSpPr>
            <a:spLocks xmlns:a="http://schemas.openxmlformats.org/drawingml/2006/main" noGrp="1"/>
          </p:cNvSpPr>
          <p:nvPr/>
        </p:nvSpPr>
        <p:spPr>
          <a:xfrm xmlns:a="http://schemas.openxmlformats.org/drawingml/2006/main">
            <a:off x="857250" y="1695450"/>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0F8B8D"/>
                </a:solidFill>
                <a:latin typeface="Arial"/>
                <a:ea typeface="Arial"/>
                <a:cs typeface="Arial"/>
              </a:defRPr>
            </a:pPr>
            <a:r>
              <a:rPr sz="2325" b="1">
                <a:solidFill>
                  <a:srgbClr val="0F8B8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2194801-B852-4B83-9D3A-D937FB77009C}"/>
              </a:ext>
            </a:extLst>
          </p:cNvPr>
          <p:cNvSpPr>
            <a:spLocks xmlns:a="http://schemas.openxmlformats.org/drawingml/2006/main" noGrp="1"/>
          </p:cNvSpPr>
          <p:nvPr/>
        </p:nvSpPr>
        <p:spPr>
          <a:xfrm xmlns:a="http://schemas.openxmlformats.org/drawingml/2006/main">
            <a:off x="857250" y="21240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Dashboard nhân lực cho admin</a:t>
            </a:r>
          </a:p>
        </p:txBody>
      </p:sp>
      <p:sp>
        <p:nvSpPr>
          <p:cNvPr id="6" name="">
            <a:extLst xmlns:a="http://schemas.openxmlformats.org/drawingml/2006/main">
              <a:ext uri="{FF2B5EF4-FFF2-40B4-BE49-F238E27FC236}">
                <a16:creationId xmlns:a16="http://schemas.microsoft.com/office/drawing/2014/main" id="{EB793755-EEC9-453B-8C8C-80962FBB9BF8}"/>
              </a:ext>
            </a:extLst>
          </p:cNvPr>
          <p:cNvSpPr>
            <a:spLocks xmlns:a="http://schemas.openxmlformats.org/drawingml/2006/main" noGrp="1"/>
          </p:cNvSpPr>
          <p:nvPr/>
        </p:nvSpPr>
        <p:spPr>
          <a:xfrm xmlns:a="http://schemas.openxmlformats.org/drawingml/2006/main">
            <a:off x="3276600" y="1524000"/>
            <a:ext cx="24003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7" name="">
            <a:extLst xmlns:a="http://schemas.openxmlformats.org/drawingml/2006/main">
              <a:ext uri="{FF2B5EF4-FFF2-40B4-BE49-F238E27FC236}">
                <a16:creationId xmlns:a16="http://schemas.microsoft.com/office/drawing/2014/main" id="{8B5F3EE8-E506-4450-A2BA-F5A13539DC71}"/>
              </a:ext>
            </a:extLst>
          </p:cNvPr>
          <p:cNvSpPr>
            <a:spLocks xmlns:a="http://schemas.openxmlformats.org/drawingml/2006/main" noGrp="1"/>
          </p:cNvSpPr>
          <p:nvPr/>
        </p:nvSpPr>
        <p:spPr>
          <a:xfrm xmlns:a="http://schemas.openxmlformats.org/drawingml/2006/main">
            <a:off x="3448050" y="1695450"/>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38BDF8"/>
                </a:solidFill>
                <a:latin typeface="Arial"/>
                <a:ea typeface="Arial"/>
                <a:cs typeface="Arial"/>
              </a:defRPr>
            </a:pPr>
            <a:r>
              <a:rPr sz="2325" b="1">
                <a:solidFill>
                  <a:srgbClr val="38BDF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E6DB441-0885-4D5E-BF91-7305399D9A37}"/>
              </a:ext>
            </a:extLst>
          </p:cNvPr>
          <p:cNvSpPr>
            <a:spLocks xmlns:a="http://schemas.openxmlformats.org/drawingml/2006/main" noGrp="1"/>
          </p:cNvSpPr>
          <p:nvPr/>
        </p:nvSpPr>
        <p:spPr>
          <a:xfrm xmlns:a="http://schemas.openxmlformats.org/drawingml/2006/main">
            <a:off x="3448050" y="21240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Nhóm vai trò: admin và staff</a:t>
            </a:r>
          </a:p>
        </p:txBody>
      </p:sp>
      <p:sp>
        <p:nvSpPr>
          <p:cNvPr id="9" name="">
            <a:extLst xmlns:a="http://schemas.openxmlformats.org/drawingml/2006/main">
              <a:ext uri="{FF2B5EF4-FFF2-40B4-BE49-F238E27FC236}">
                <a16:creationId xmlns:a16="http://schemas.microsoft.com/office/drawing/2014/main" id="{38B5310E-BE3C-4AA0-AA47-504682A73A18}"/>
              </a:ext>
            </a:extLst>
          </p:cNvPr>
          <p:cNvSpPr>
            <a:spLocks xmlns:a="http://schemas.openxmlformats.org/drawingml/2006/main" noGrp="1"/>
          </p:cNvSpPr>
          <p:nvPr/>
        </p:nvSpPr>
        <p:spPr>
          <a:xfrm xmlns:a="http://schemas.openxmlformats.org/drawingml/2006/main">
            <a:off x="5867400" y="1524000"/>
            <a:ext cx="24003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10" name="">
            <a:extLst xmlns:a="http://schemas.openxmlformats.org/drawingml/2006/main">
              <a:ext uri="{FF2B5EF4-FFF2-40B4-BE49-F238E27FC236}">
                <a16:creationId xmlns:a16="http://schemas.microsoft.com/office/drawing/2014/main" id="{380A28B6-9722-4F46-B6B5-EE88490B01A3}"/>
              </a:ext>
            </a:extLst>
          </p:cNvPr>
          <p:cNvSpPr>
            <a:spLocks xmlns:a="http://schemas.openxmlformats.org/drawingml/2006/main" noGrp="1"/>
          </p:cNvSpPr>
          <p:nvPr/>
        </p:nvSpPr>
        <p:spPr>
          <a:xfrm xmlns:a="http://schemas.openxmlformats.org/drawingml/2006/main">
            <a:off x="6038850" y="1695450"/>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F59E0B"/>
                </a:solidFill>
                <a:latin typeface="Arial"/>
                <a:ea typeface="Arial"/>
                <a:cs typeface="Arial"/>
              </a:defRPr>
            </a:pPr>
            <a:r>
              <a:rPr sz="2325" b="1">
                <a:solidFill>
                  <a:srgbClr val="F59E0B"/>
                </a:solidFill>
                <a:latin typeface="Arial"/>
                <a:ea typeface="Arial"/>
                <a:cs typeface="Arial"/>
              </a:rPr>
              <a:t>Nhiều</a:t>
            </a:r>
          </a:p>
        </p:txBody>
      </p:sp>
      <p:sp>
        <p:nvSpPr>
          <p:cNvPr id="11" name="">
            <a:extLst xmlns:a="http://schemas.openxmlformats.org/drawingml/2006/main">
              <a:ext uri="{FF2B5EF4-FFF2-40B4-BE49-F238E27FC236}">
                <a16:creationId xmlns:a16="http://schemas.microsoft.com/office/drawing/2014/main" id="{E23C272A-27D7-4F6D-8A1D-A8057BA7B5E9}"/>
              </a:ext>
            </a:extLst>
          </p:cNvPr>
          <p:cNvSpPr>
            <a:spLocks xmlns:a="http://schemas.openxmlformats.org/drawingml/2006/main" noGrp="1"/>
          </p:cNvSpPr>
          <p:nvPr/>
        </p:nvSpPr>
        <p:spPr>
          <a:xfrm xmlns:a="http://schemas.openxmlformats.org/drawingml/2006/main">
            <a:off x="6038850" y="21240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Nhà máy, nhà chính, đối tác</a:t>
            </a:r>
          </a:p>
        </p:txBody>
      </p:sp>
      <p:sp>
        <p:nvSpPr>
          <p:cNvPr id="12" name="">
            <a:extLst xmlns:a="http://schemas.openxmlformats.org/drawingml/2006/main">
              <a:ext uri="{FF2B5EF4-FFF2-40B4-BE49-F238E27FC236}">
                <a16:creationId xmlns:a16="http://schemas.microsoft.com/office/drawing/2014/main" id="{9FC21CAF-24A7-49A2-A2FC-AD1129DA2D2E}"/>
              </a:ext>
            </a:extLst>
          </p:cNvPr>
          <p:cNvSpPr>
            <a:spLocks xmlns:a="http://schemas.openxmlformats.org/drawingml/2006/main" noGrp="1"/>
          </p:cNvSpPr>
          <p:nvPr/>
        </p:nvSpPr>
        <p:spPr>
          <a:xfrm xmlns:a="http://schemas.openxmlformats.org/drawingml/2006/main">
            <a:off x="8458200" y="1524000"/>
            <a:ext cx="30480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13" name="">
            <a:extLst xmlns:a="http://schemas.openxmlformats.org/drawingml/2006/main">
              <a:ext uri="{FF2B5EF4-FFF2-40B4-BE49-F238E27FC236}">
                <a16:creationId xmlns:a16="http://schemas.microsoft.com/office/drawing/2014/main" id="{1B68E826-100B-4CAC-B23C-8EBC42BE3647}"/>
              </a:ext>
            </a:extLst>
          </p:cNvPr>
          <p:cNvSpPr>
            <a:spLocks xmlns:a="http://schemas.openxmlformats.org/drawingml/2006/main" noGrp="1"/>
          </p:cNvSpPr>
          <p:nvPr/>
        </p:nvSpPr>
        <p:spPr>
          <a:xfrm xmlns:a="http://schemas.openxmlformats.org/drawingml/2006/main">
            <a:off x="8629650" y="1695450"/>
            <a:ext cx="2705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159A78"/>
                </a:solidFill>
                <a:latin typeface="Arial"/>
                <a:ea typeface="Arial"/>
                <a:cs typeface="Arial"/>
              </a:defRPr>
            </a:pPr>
            <a:r>
              <a:rPr sz="2325" b="1">
                <a:solidFill>
                  <a:srgbClr val="159A78"/>
                </a:solidFill>
                <a:latin typeface="Arial"/>
                <a:ea typeface="Arial"/>
                <a:cs typeface="Arial"/>
              </a:rPr>
              <a:t>500+</a:t>
            </a:r>
          </a:p>
        </p:txBody>
      </p:sp>
      <p:sp>
        <p:nvSpPr>
          <p:cNvPr id="14" name="">
            <a:extLst xmlns:a="http://schemas.openxmlformats.org/drawingml/2006/main">
              <a:ext uri="{FF2B5EF4-FFF2-40B4-BE49-F238E27FC236}">
                <a16:creationId xmlns:a16="http://schemas.microsoft.com/office/drawing/2014/main" id="{2B91E72F-7D68-4B25-8BC8-E903C7CE6D64}"/>
              </a:ext>
            </a:extLst>
          </p:cNvPr>
          <p:cNvSpPr>
            <a:spLocks xmlns:a="http://schemas.openxmlformats.org/drawingml/2006/main" noGrp="1"/>
          </p:cNvSpPr>
          <p:nvPr/>
        </p:nvSpPr>
        <p:spPr>
          <a:xfrm xmlns:a="http://schemas.openxmlformats.org/drawingml/2006/main">
            <a:off x="8629650" y="2124075"/>
            <a:ext cx="270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Bản ghi mỗi lần tải dữ liệu</a:t>
            </a:r>
          </a:p>
        </p:txBody>
      </p:sp>
      <p:sp>
        <p:nvSpPr>
          <p:cNvPr id="15" name="">
            <a:extLst xmlns:a="http://schemas.openxmlformats.org/drawingml/2006/main">
              <a:ext uri="{FF2B5EF4-FFF2-40B4-BE49-F238E27FC236}">
                <a16:creationId xmlns:a16="http://schemas.microsoft.com/office/drawing/2014/main" id="{1BDE00EB-EE9D-4E66-945E-605AE5553F84}"/>
              </a:ext>
            </a:extLst>
          </p:cNvPr>
          <p:cNvSpPr>
            <a:spLocks xmlns:a="http://schemas.openxmlformats.org/drawingml/2006/main" noGrp="1"/>
          </p:cNvSpPr>
          <p:nvPr/>
        </p:nvSpPr>
        <p:spPr>
          <a:xfrm xmlns:a="http://schemas.openxmlformats.org/drawingml/2006/main">
            <a:off x="685800" y="2952750"/>
            <a:ext cx="10820400" cy="533400"/>
          </a:xfrm>
          <a:prstGeom xmlns:a="http://schemas.openxmlformats.org/drawingml/2006/main" prst="roundRect">
            <a:avLst>
              <a:gd name="adj" fmla="val 21429"/>
            </a:avLst>
          </a:prstGeom>
          <a:solidFill xmlns:a="http://schemas.openxmlformats.org/drawingml/2006/main">
            <a:srgbClr val="EAF4F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558B852-52AB-42F7-AE72-611721777EF9}"/>
              </a:ext>
            </a:extLst>
          </p:cNvPr>
          <p:cNvSpPr>
            <a:spLocks xmlns:a="http://schemas.openxmlformats.org/drawingml/2006/main" noGrp="1"/>
          </p:cNvSpPr>
          <p:nvPr/>
        </p:nvSpPr>
        <p:spPr>
          <a:xfrm xmlns:a="http://schemas.openxmlformats.org/drawingml/2006/main">
            <a:off x="914400" y="31051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Theo dõi nhân lực</a:t>
            </a:r>
          </a:p>
        </p:txBody>
      </p:sp>
      <p:sp>
        <p:nvSpPr>
          <p:cNvPr id="17" name="">
            <a:extLst xmlns:a="http://schemas.openxmlformats.org/drawingml/2006/main">
              <a:ext uri="{FF2B5EF4-FFF2-40B4-BE49-F238E27FC236}">
                <a16:creationId xmlns:a16="http://schemas.microsoft.com/office/drawing/2014/main" id="{B4561682-4E0C-4800-A344-C8A5905EA8FC}"/>
              </a:ext>
            </a:extLst>
          </p:cNvPr>
          <p:cNvSpPr>
            <a:spLocks xmlns:a="http://schemas.openxmlformats.org/drawingml/2006/main" noGrp="1"/>
          </p:cNvSpPr>
          <p:nvPr/>
        </p:nvSpPr>
        <p:spPr>
          <a:xfrm xmlns:a="http://schemas.openxmlformats.org/drawingml/2006/main">
            <a:off x="3429000" y="31051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Lọc theo nhà máy, người tuyển, đang làm/nghỉ; xem chi tiết từng NLĐ.</a:t>
            </a:r>
          </a:p>
        </p:txBody>
      </p:sp>
      <p:sp>
        <p:nvSpPr>
          <p:cNvPr id="18" name="">
            <a:extLst xmlns:a="http://schemas.openxmlformats.org/drawingml/2006/main">
              <a:ext uri="{FF2B5EF4-FFF2-40B4-BE49-F238E27FC236}">
                <a16:creationId xmlns:a16="http://schemas.microsoft.com/office/drawing/2014/main" id="{D3764484-8B54-4FD1-AC45-444C5D2EC1A0}"/>
              </a:ext>
            </a:extLst>
          </p:cNvPr>
          <p:cNvSpPr>
            <a:spLocks xmlns:a="http://schemas.openxmlformats.org/drawingml/2006/main" noGrp="1"/>
          </p:cNvSpPr>
          <p:nvPr/>
        </p:nvSpPr>
        <p:spPr>
          <a:xfrm xmlns:a="http://schemas.openxmlformats.org/drawingml/2006/main">
            <a:off x="685800" y="3638550"/>
            <a:ext cx="108204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7616F97-2C5C-4C80-B534-CF5A6270DA17}"/>
              </a:ext>
            </a:extLst>
          </p:cNvPr>
          <p:cNvSpPr>
            <a:spLocks xmlns:a="http://schemas.openxmlformats.org/drawingml/2006/main" noGrp="1"/>
          </p:cNvSpPr>
          <p:nvPr/>
        </p:nvSpPr>
        <p:spPr>
          <a:xfrm xmlns:a="http://schemas.openxmlformats.org/drawingml/2006/main">
            <a:off x="914400" y="37909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Nhập và xuất Excel</a:t>
            </a:r>
          </a:p>
        </p:txBody>
      </p:sp>
      <p:sp>
        <p:nvSpPr>
          <p:cNvPr id="20" name="">
            <a:extLst xmlns:a="http://schemas.openxmlformats.org/drawingml/2006/main">
              <a:ext uri="{FF2B5EF4-FFF2-40B4-BE49-F238E27FC236}">
                <a16:creationId xmlns:a16="http://schemas.microsoft.com/office/drawing/2014/main" id="{52D49742-4233-4719-B668-F298298FF560}"/>
              </a:ext>
            </a:extLst>
          </p:cNvPr>
          <p:cNvSpPr>
            <a:spLocks xmlns:a="http://schemas.openxmlformats.org/drawingml/2006/main" noGrp="1"/>
          </p:cNvSpPr>
          <p:nvPr/>
        </p:nvSpPr>
        <p:spPr>
          <a:xfrm xmlns:a="http://schemas.openxmlformats.org/drawingml/2006/main">
            <a:off x="3429000" y="37909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Nhập mới/cập nhật theo UID; dòng lỗi được tách để sửa, không làm dừng dòng hợp lệ.</a:t>
            </a:r>
          </a:p>
        </p:txBody>
      </p:sp>
      <p:sp>
        <p:nvSpPr>
          <p:cNvPr id="21" name="">
            <a:extLst xmlns:a="http://schemas.openxmlformats.org/drawingml/2006/main">
              <a:ext uri="{FF2B5EF4-FFF2-40B4-BE49-F238E27FC236}">
                <a16:creationId xmlns:a16="http://schemas.microsoft.com/office/drawing/2014/main" id="{49817FC3-C62D-479A-B4D2-5C9B73282E22}"/>
              </a:ext>
            </a:extLst>
          </p:cNvPr>
          <p:cNvSpPr>
            <a:spLocks xmlns:a="http://schemas.openxmlformats.org/drawingml/2006/main" noGrp="1"/>
          </p:cNvSpPr>
          <p:nvPr/>
        </p:nvSpPr>
        <p:spPr>
          <a:xfrm xmlns:a="http://schemas.openxmlformats.org/drawingml/2006/main">
            <a:off x="685800" y="4324350"/>
            <a:ext cx="10820400" cy="533400"/>
          </a:xfrm>
          <a:prstGeom xmlns:a="http://schemas.openxmlformats.org/drawingml/2006/main" prst="roundRect">
            <a:avLst>
              <a:gd name="adj" fmla="val 21429"/>
            </a:avLst>
          </a:prstGeom>
          <a:solidFill xmlns:a="http://schemas.openxmlformats.org/drawingml/2006/main">
            <a:srgbClr val="EAF4F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667E024-8280-4886-B35F-4992A19FE449}"/>
              </a:ext>
            </a:extLst>
          </p:cNvPr>
          <p:cNvSpPr>
            <a:spLocks xmlns:a="http://schemas.openxmlformats.org/drawingml/2006/main" noGrp="1"/>
          </p:cNvSpPr>
          <p:nvPr/>
        </p:nvSpPr>
        <p:spPr>
          <a:xfrm xmlns:a="http://schemas.openxmlformats.org/drawingml/2006/main">
            <a:off x="914400" y="44767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Tài chính vận hành</a:t>
            </a:r>
          </a:p>
        </p:txBody>
      </p:sp>
      <p:sp>
        <p:nvSpPr>
          <p:cNvPr id="23" name="">
            <a:extLst xmlns:a="http://schemas.openxmlformats.org/drawingml/2006/main">
              <a:ext uri="{FF2B5EF4-FFF2-40B4-BE49-F238E27FC236}">
                <a16:creationId xmlns:a16="http://schemas.microsoft.com/office/drawing/2014/main" id="{D48AE8BB-6A81-4B7B-B744-427559EAF289}"/>
              </a:ext>
            </a:extLst>
          </p:cNvPr>
          <p:cNvSpPr>
            <a:spLocks xmlns:a="http://schemas.openxmlformats.org/drawingml/2006/main" noGrp="1"/>
          </p:cNvSpPr>
          <p:nvPr/>
        </p:nvSpPr>
        <p:spPr>
          <a:xfrm xmlns:a="http://schemas.openxmlformats.org/drawingml/2006/main">
            <a:off x="3429000" y="44767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Bảng công, bảng lương, ứng lương, giữ lương và quy trình phê duyệt.</a:t>
            </a:r>
          </a:p>
        </p:txBody>
      </p:sp>
      <p:sp>
        <p:nvSpPr>
          <p:cNvPr id="24" name="">
            <a:extLst xmlns:a="http://schemas.openxmlformats.org/drawingml/2006/main">
              <a:ext uri="{FF2B5EF4-FFF2-40B4-BE49-F238E27FC236}">
                <a16:creationId xmlns:a16="http://schemas.microsoft.com/office/drawing/2014/main" id="{9A76CBC2-D929-4D9D-85D7-65B425B5D126}"/>
              </a:ext>
            </a:extLst>
          </p:cNvPr>
          <p:cNvSpPr>
            <a:spLocks xmlns:a="http://schemas.openxmlformats.org/drawingml/2006/main" noGrp="1"/>
          </p:cNvSpPr>
          <p:nvPr/>
        </p:nvSpPr>
        <p:spPr>
          <a:xfrm xmlns:a="http://schemas.openxmlformats.org/drawingml/2006/main">
            <a:off x="685800" y="5010150"/>
            <a:ext cx="108204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6739EFF-2E4E-4516-9EA2-E01F567EAA44}"/>
              </a:ext>
            </a:extLst>
          </p:cNvPr>
          <p:cNvSpPr>
            <a:spLocks xmlns:a="http://schemas.openxmlformats.org/drawingml/2006/main" noGrp="1"/>
          </p:cNvSpPr>
          <p:nvPr/>
        </p:nvSpPr>
        <p:spPr>
          <a:xfrm xmlns:a="http://schemas.openxmlformats.org/drawingml/2006/main">
            <a:off x="914400" y="51625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Kiểm soát dữ liệu</a:t>
            </a:r>
          </a:p>
        </p:txBody>
      </p:sp>
      <p:sp>
        <p:nvSpPr>
          <p:cNvPr id="26" name="">
            <a:extLst xmlns:a="http://schemas.openxmlformats.org/drawingml/2006/main">
              <a:ext uri="{FF2B5EF4-FFF2-40B4-BE49-F238E27FC236}">
                <a16:creationId xmlns:a16="http://schemas.microsoft.com/office/drawing/2014/main" id="{2681F75A-C4D4-43AE-A803-D5AB26A7C068}"/>
              </a:ext>
            </a:extLst>
          </p:cNvPr>
          <p:cNvSpPr>
            <a:spLocks xmlns:a="http://schemas.openxmlformats.org/drawingml/2006/main" noGrp="1"/>
          </p:cNvSpPr>
          <p:nvPr/>
        </p:nvSpPr>
        <p:spPr>
          <a:xfrm xmlns:a="http://schemas.openxmlformats.org/drawingml/2006/main">
            <a:off x="3429000" y="51625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Chặn lịch sử đang làm trùng, theo dõi CCCD phiên bản và lưu nhật ký thao tác.</a:t>
            </a:r>
          </a:p>
        </p:txBody>
      </p:sp>
      <p:sp>
        <p:nvSpPr>
          <p:cNvPr id="27" name="">
            <a:extLst xmlns:a="http://schemas.openxmlformats.org/drawingml/2006/main">
              <a:ext uri="{FF2B5EF4-FFF2-40B4-BE49-F238E27FC236}">
                <a16:creationId xmlns:a16="http://schemas.microsoft.com/office/drawing/2014/main" id="{E9D5A6C2-FDC3-4C69-B550-2A29A5060E13}"/>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28" name="">
            <a:extLst xmlns:a="http://schemas.openxmlformats.org/drawingml/2006/main">
              <a:ext uri="{FF2B5EF4-FFF2-40B4-BE49-F238E27FC236}">
                <a16:creationId xmlns:a16="http://schemas.microsoft.com/office/drawing/2014/main" id="{2FA781ED-EE3D-411A-B467-710F2DCEA2CF}"/>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04</a:t>
            </a:r>
          </a:p>
        </p:txBody>
      </p:sp>
    </p:spTree>
    <p:extLst>
      <p:ext uri="{BB962C8B-B14F-4D97-AF65-F5344CB8AC3E}">
        <p14:creationId xmlns:p14="http://schemas.microsoft.com/office/powerpoint/2010/main" val="18369661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6CF48C-3B95-4A86-A611-7FA197B32801}"/>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GIÁ TRỊ TRỰC TIẾP</a:t>
            </a:r>
          </a:p>
        </p:txBody>
      </p:sp>
      <p:sp>
        <p:nvSpPr>
          <p:cNvPr id="2" name="">
            <a:extLst xmlns:a="http://schemas.openxmlformats.org/drawingml/2006/main">
              <a:ext uri="{FF2B5EF4-FFF2-40B4-BE49-F238E27FC236}">
                <a16:creationId xmlns:a16="http://schemas.microsoft.com/office/drawing/2014/main" id="{6D8EEFBD-02B5-47A3-8801-C41F1D5500F5}"/>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5 điểm đau được khắc phục</a:t>
            </a:r>
          </a:p>
        </p:txBody>
      </p:sp>
      <p:graphicFrame>
        <p:nvGraphicFramePr>
          <p:cNvPr id="9" name=""/>
          <p:cNvGraphicFramePr/>
          <p:nvPr/>
        </p:nvGraphicFramePr>
        <p:xfrm>
          <a:off xmlns:a="http://schemas.openxmlformats.org/drawingml/2006/main" x="685800" y="1476375"/>
          <a:ext xmlns:a="http://schemas.openxmlformats.org/drawingml/2006/main" cx="10820400" cy="3952875"/>
        </p:xfrm>
        <a:graphic xmlns:a="http://schemas.openxmlformats.org/drawingml/2006/main">
          <a:graphicData uri="http://schemas.openxmlformats.org/drawingml/2006/table">
            <a:tbl>
              <a:tblPr firstRow="1" bandRow="1"/>
              <a:tblGrid>
                <a:gridCol w="2571750"/>
                <a:gridCol w="3905250"/>
                <a:gridCol w="4343400"/>
              </a:tblGrid>
              <a:tr h="658813">
                <a:tc>
                  <a:txBody>
                    <a:bodyPr/>
                    <a:lstStyle/>
                    <a:p>
                      <a:r>
                        <a:rPr sz="1200" b="1">
                          <a:solidFill>
                            <a:srgbClr val="FFFFFF"/>
                          </a:solidFill>
                          <a:latin typeface="Arial"/>
                          <a:ea typeface="Arial"/>
                          <a:cs typeface="Arial"/>
                        </a:rPr>
                        <a:t>Nỗi đau với Excel</a:t>
                      </a:r>
                    </a:p>
                  </a:txBody>
                  <a:tcPr marL="91440" marR="91440" marT="45720" marB="45720">
                    <a:solidFill>
                      <a:srgbClr val="0B2538"/>
                    </a:solidFill>
                  </a:tcPr>
                </a:tc>
                <a:tc>
                  <a:txBody>
                    <a:bodyPr/>
                    <a:lstStyle/>
                    <a:p>
                      <a:r>
                        <a:rPr sz="1200" b="1">
                          <a:solidFill>
                            <a:srgbClr val="FFFFFF"/>
                          </a:solidFill>
                          <a:latin typeface="Arial"/>
                          <a:ea typeface="Arial"/>
                          <a:cs typeface="Arial"/>
                        </a:rPr>
                        <a:t>Ảnh hưởng</a:t>
                      </a:r>
                    </a:p>
                  </a:txBody>
                  <a:tcPr marL="91440" marR="91440" marT="45720" marB="45720">
                    <a:solidFill>
                      <a:srgbClr val="0B2538"/>
                    </a:solidFill>
                  </a:tcPr>
                </a:tc>
                <a:tc>
                  <a:txBody>
                    <a:bodyPr/>
                    <a:lstStyle/>
                    <a:p>
                      <a:r>
                        <a:rPr sz="1200" b="1">
                          <a:solidFill>
                            <a:srgbClr val="FFFFFF"/>
                          </a:solidFill>
                          <a:latin typeface="Arial"/>
                          <a:ea typeface="Arial"/>
                          <a:cs typeface="Arial"/>
                        </a:rPr>
                        <a:t>Ứng dụng khắc phục bằng cách</a:t>
                      </a:r>
                    </a:p>
                  </a:txBody>
                  <a:tcPr marL="91440" marR="91440" marT="45720" marB="45720">
                    <a:solidFill>
                      <a:srgbClr val="0B2538"/>
                    </a:solidFill>
                  </a:tcPr>
                </a:tc>
              </a:tr>
              <a:tr h="658813">
                <a:tc>
                  <a:txBody>
                    <a:bodyPr/>
                    <a:lstStyle/>
                    <a:p>
                      <a:r>
                        <a:rPr sz="1125" b="1">
                          <a:solidFill>
                            <a:srgbClr val="12212B"/>
                          </a:solidFill>
                          <a:latin typeface="Arial"/>
                          <a:ea typeface="Arial"/>
                          <a:cs typeface="Arial"/>
                        </a:rPr>
                        <a:t>Dữ liệu phân tán</a:t>
                      </a:r>
                    </a:p>
                  </a:txBody>
                  <a:tcPr marL="91440" marR="91440" marT="45720" marB="45720">
                    <a:solidFill>
                      <a:srgbClr val="EEF7F7"/>
                    </a:solidFill>
                  </a:tcPr>
                </a:tc>
                <a:tc>
                  <a:txBody>
                    <a:bodyPr/>
                    <a:lstStyle/>
                    <a:p>
                      <a:r>
                        <a:rPr sz="1125" b="0">
                          <a:solidFill>
                            <a:srgbClr val="12212B"/>
                          </a:solidFill>
                          <a:latin typeface="Arial"/>
                          <a:ea typeface="Arial"/>
                          <a:cs typeface="Arial"/>
                        </a:rPr>
                        <a:t>Không xuyên suốt giữa tuyển dụng, nhà máy và lương</a:t>
                      </a:r>
                    </a:p>
                  </a:txBody>
                  <a:tcPr marL="91440" marR="91440" marT="45720" marB="45720"/>
                </a:tc>
                <a:tc>
                  <a:txBody>
                    <a:bodyPr/>
                    <a:lstStyle/>
                    <a:p>
                      <a:r>
                        <a:rPr sz="1125" b="0">
                          <a:solidFill>
                            <a:srgbClr val="12212B"/>
                          </a:solidFill>
                          <a:latin typeface="Arial"/>
                          <a:ea typeface="Arial"/>
                          <a:cs typeface="Arial"/>
                        </a:rPr>
                        <a:t>Gom hồ sơ, lịch sử và quan hệ vào một tenant công ty</a:t>
                      </a:r>
                    </a:p>
                  </a:txBody>
                  <a:tcPr marL="91440" marR="91440" marT="45720" marB="45720"/>
                </a:tc>
              </a:tr>
              <a:tr h="658813">
                <a:tc>
                  <a:txBody>
                    <a:bodyPr/>
                    <a:lstStyle/>
                    <a:p>
                      <a:r>
                        <a:rPr sz="1125" b="1">
                          <a:solidFill>
                            <a:srgbClr val="12212B"/>
                          </a:solidFill>
                          <a:latin typeface="Arial"/>
                          <a:ea typeface="Arial"/>
                          <a:cs typeface="Arial"/>
                        </a:rPr>
                        <a:t>Sai tên và mã</a:t>
                      </a:r>
                    </a:p>
                  </a:txBody>
                  <a:tcPr marL="91440" marR="91440" marT="45720" marB="45720">
                    <a:solidFill>
                      <a:srgbClr val="EEF7F7"/>
                    </a:solidFill>
                  </a:tcPr>
                </a:tc>
                <a:tc>
                  <a:txBody>
                    <a:bodyPr/>
                    <a:lstStyle/>
                    <a:p>
                      <a:r>
                        <a:rPr sz="1125" b="0">
                          <a:solidFill>
                            <a:srgbClr val="12212B"/>
                          </a:solidFill>
                          <a:latin typeface="Arial"/>
                          <a:ea typeface="Arial"/>
                          <a:cs typeface="Arial"/>
                        </a:rPr>
                        <a:t>Trùng hoặc nhầm người, khó truy ngược</a:t>
                      </a:r>
                    </a:p>
                  </a:txBody>
                  <a:tcPr marL="91440" marR="91440" marT="45720" marB="45720"/>
                </a:tc>
                <a:tc>
                  <a:txBody>
                    <a:bodyPr/>
                    <a:lstStyle/>
                    <a:p>
                      <a:r>
                        <a:rPr sz="1125" b="0">
                          <a:solidFill>
                            <a:srgbClr val="12212B"/>
                          </a:solidFill>
                          <a:latin typeface="Arial"/>
                          <a:ea typeface="Arial"/>
                          <a:cs typeface="Arial"/>
                        </a:rPr>
                        <a:t>UID, snapshot tại nhà máy và kiểm tra trùng lịch sử</a:t>
                      </a:r>
                    </a:p>
                  </a:txBody>
                  <a:tcPr marL="91440" marR="91440" marT="45720" marB="45720"/>
                </a:tc>
              </a:tr>
              <a:tr h="658813">
                <a:tc>
                  <a:txBody>
                    <a:bodyPr/>
                    <a:lstStyle/>
                    <a:p>
                      <a:r>
                        <a:rPr sz="1125" b="1">
                          <a:solidFill>
                            <a:srgbClr val="12212B"/>
                          </a:solidFill>
                          <a:latin typeface="Arial"/>
                          <a:ea typeface="Arial"/>
                          <a:cs typeface="Arial"/>
                        </a:rPr>
                        <a:t>Báo cáo chậm</a:t>
                      </a:r>
                    </a:p>
                  </a:txBody>
                  <a:tcPr marL="91440" marR="91440" marT="45720" marB="45720">
                    <a:solidFill>
                      <a:srgbClr val="EEF7F7"/>
                    </a:solidFill>
                  </a:tcPr>
                </a:tc>
                <a:tc>
                  <a:txBody>
                    <a:bodyPr/>
                    <a:lstStyle/>
                    <a:p>
                      <a:r>
                        <a:rPr sz="1125" b="0">
                          <a:solidFill>
                            <a:srgbClr val="12212B"/>
                          </a:solidFill>
                          <a:latin typeface="Arial"/>
                          <a:ea typeface="Arial"/>
                          <a:cs typeface="Arial"/>
                        </a:rPr>
                        <a:t>Giám đốc ra quyết định sau khi sự việc đã xảy ra</a:t>
                      </a:r>
                    </a:p>
                  </a:txBody>
                  <a:tcPr marL="91440" marR="91440" marT="45720" marB="45720"/>
                </a:tc>
                <a:tc>
                  <a:txBody>
                    <a:bodyPr/>
                    <a:lstStyle/>
                    <a:p>
                      <a:r>
                        <a:rPr sz="1125" b="0">
                          <a:solidFill>
                            <a:srgbClr val="12212B"/>
                          </a:solidFill>
                          <a:latin typeface="Arial"/>
                          <a:ea typeface="Arial"/>
                          <a:cs typeface="Arial"/>
                        </a:rPr>
                        <a:t>Dashboard lọc theo kỳ, nhà máy và người tuyển</a:t>
                      </a:r>
                    </a:p>
                  </a:txBody>
                  <a:tcPr marL="91440" marR="91440" marT="45720" marB="45720"/>
                </a:tc>
              </a:tr>
              <a:tr h="658813">
                <a:tc>
                  <a:txBody>
                    <a:bodyPr/>
                    <a:lstStyle/>
                    <a:p>
                      <a:r>
                        <a:rPr sz="1125" b="1">
                          <a:solidFill>
                            <a:srgbClr val="12212B"/>
                          </a:solidFill>
                          <a:latin typeface="Arial"/>
                          <a:ea typeface="Arial"/>
                          <a:cs typeface="Arial"/>
                        </a:rPr>
                        <a:t>Phê duyệt mơ hồ</a:t>
                      </a:r>
                    </a:p>
                  </a:txBody>
                  <a:tcPr marL="91440" marR="91440" marT="45720" marB="45720">
                    <a:solidFill>
                      <a:srgbClr val="EEF7F7"/>
                    </a:solidFill>
                  </a:tcPr>
                </a:tc>
                <a:tc>
                  <a:txBody>
                    <a:bodyPr/>
                    <a:lstStyle/>
                    <a:p>
                      <a:r>
                        <a:rPr sz="1125" b="0">
                          <a:solidFill>
                            <a:srgbClr val="12212B"/>
                          </a:solidFill>
                          <a:latin typeface="Arial"/>
                          <a:ea typeface="Arial"/>
                          <a:cs typeface="Arial"/>
                        </a:rPr>
                        <a:t>Không rõ ai chịu trách nhiệm</a:t>
                      </a:r>
                    </a:p>
                  </a:txBody>
                  <a:tcPr marL="91440" marR="91440" marT="45720" marB="45720"/>
                </a:tc>
                <a:tc>
                  <a:txBody>
                    <a:bodyPr/>
                    <a:lstStyle/>
                    <a:p>
                      <a:r>
                        <a:rPr sz="1125" b="0">
                          <a:solidFill>
                            <a:srgbClr val="12212B"/>
                          </a:solidFill>
                          <a:latin typeface="Arial"/>
                          <a:ea typeface="Arial"/>
                          <a:cs typeface="Arial"/>
                        </a:rPr>
                        <a:t>Trạng thái phê duyệt và nhật ký actor / thời điểm</a:t>
                      </a:r>
                    </a:p>
                  </a:txBody>
                  <a:tcPr marL="91440" marR="91440" marT="45720" marB="45720"/>
                </a:tc>
              </a:tr>
              <a:tr h="658813">
                <a:tc>
                  <a:txBody>
                    <a:bodyPr/>
                    <a:lstStyle/>
                    <a:p>
                      <a:r>
                        <a:rPr sz="1125" b="1">
                          <a:solidFill>
                            <a:srgbClr val="12212B"/>
                          </a:solidFill>
                          <a:latin typeface="Arial"/>
                          <a:ea typeface="Arial"/>
                          <a:cs typeface="Arial"/>
                        </a:rPr>
                        <a:t>Đối soát thủ công</a:t>
                      </a:r>
                    </a:p>
                  </a:txBody>
                  <a:tcPr marL="91440" marR="91440" marT="45720" marB="45720">
                    <a:solidFill>
                      <a:srgbClr val="EEF7F7"/>
                    </a:solidFill>
                  </a:tcPr>
                </a:tc>
                <a:tc>
                  <a:txBody>
                    <a:bodyPr/>
                    <a:lstStyle/>
                    <a:p>
                      <a:r>
                        <a:rPr sz="1125" b="0">
                          <a:solidFill>
                            <a:srgbClr val="12212B"/>
                          </a:solidFill>
                          <a:latin typeface="Arial"/>
                          <a:ea typeface="Arial"/>
                          <a:cs typeface="Arial"/>
                        </a:rPr>
                        <a:t>Tốn giờ tổng hợp, dễ bỏ sót</a:t>
                      </a:r>
                    </a:p>
                  </a:txBody>
                  <a:tcPr marL="91440" marR="91440" marT="45720" marB="45720"/>
                </a:tc>
                <a:tc>
                  <a:txBody>
                    <a:bodyPr/>
                    <a:lstStyle/>
                    <a:p>
                      <a:r>
                        <a:rPr sz="1125" b="0">
                          <a:solidFill>
                            <a:srgbClr val="12212B"/>
                          </a:solidFill>
                          <a:latin typeface="Arial"/>
                          <a:ea typeface="Arial"/>
                          <a:cs typeface="Arial"/>
                        </a:rPr>
                        <a:t>Nhập Excel có template, báo lỗi theo từng dòng, xuất lại file lỗi</a:t>
                      </a:r>
                    </a:p>
                  </a:txBody>
                  <a:tcPr marL="91440" marR="91440" marT="45720" marB="45720"/>
                </a:tc>
              </a:tr>
            </a:tbl>
          </a:graphicData>
        </a:graphic>
      </p:graphicFrame>
      <p:sp>
        <p:nvSpPr>
          <p:cNvPr id="4" name="">
            <a:extLst xmlns:a="http://schemas.openxmlformats.org/drawingml/2006/main">
              <a:ext uri="{FF2B5EF4-FFF2-40B4-BE49-F238E27FC236}">
                <a16:creationId xmlns:a16="http://schemas.microsoft.com/office/drawing/2014/main" id="{D23E4118-EA97-43D7-9089-733053AE6871}"/>
              </a:ext>
            </a:extLst>
          </p:cNvPr>
          <p:cNvSpPr>
            <a:spLocks xmlns:a="http://schemas.openxmlformats.org/drawingml/2006/main" noGrp="1"/>
          </p:cNvSpPr>
          <p:nvPr/>
        </p:nvSpPr>
        <p:spPr>
          <a:xfrm xmlns:a="http://schemas.openxmlformats.org/drawingml/2006/main">
            <a:off x="685800" y="57435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75" b="1">
                <a:solidFill>
                  <a:srgbClr val="0F8B8D"/>
                </a:solidFill>
                <a:latin typeface="Arial"/>
                <a:ea typeface="Arial"/>
                <a:cs typeface="Arial"/>
              </a:defRPr>
            </a:pPr>
            <a:r>
              <a:rPr sz="1575" b="1">
                <a:solidFill>
                  <a:srgbClr val="0F8B8D"/>
                </a:solidFill>
                <a:latin typeface="Arial"/>
                <a:ea typeface="Arial"/>
                <a:cs typeface="Arial"/>
              </a:rPr>
              <a:t>Mục tiêu thương mại hóa: biến dữ liệu vận hành thành tài sản dùng chung, không phải file của riêng một người.</a:t>
            </a:r>
          </a:p>
        </p:txBody>
      </p:sp>
      <p:sp>
        <p:nvSpPr>
          <p:cNvPr id="5" name="">
            <a:extLst xmlns:a="http://schemas.openxmlformats.org/drawingml/2006/main">
              <a:ext uri="{FF2B5EF4-FFF2-40B4-BE49-F238E27FC236}">
                <a16:creationId xmlns:a16="http://schemas.microsoft.com/office/drawing/2014/main" id="{0899335C-E8AE-4DCF-8798-A13E86DCEE25}"/>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6" name="">
            <a:extLst xmlns:a="http://schemas.openxmlformats.org/drawingml/2006/main">
              <a:ext uri="{FF2B5EF4-FFF2-40B4-BE49-F238E27FC236}">
                <a16:creationId xmlns:a16="http://schemas.microsoft.com/office/drawing/2014/main" id="{8C233A67-C8A5-484E-BD61-E2A5CB590317}"/>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05</a:t>
            </a:r>
          </a:p>
        </p:txBody>
      </p:sp>
    </p:spTree>
    <p:extLst>
      <p:ext uri="{BB962C8B-B14F-4D97-AF65-F5344CB8AC3E}">
        <p14:creationId xmlns:p14="http://schemas.microsoft.com/office/powerpoint/2010/main" val="2144450164"/>
      </p:ext>
    </p:extLst>
  </p:cSld>
</p:sld>
</file>

<file path=ppt/slides/slide6.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F0E0C9E-B6B8-484D-8178-1C49F8033471}"/>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GÓC NHÌN ĐIỀU HÀNH</a:t>
            </a:r>
          </a:p>
        </p:txBody>
      </p:sp>
      <p:sp>
        <p:nvSpPr>
          <p:cNvPr id="2" name="">
            <a:extLst xmlns:a="http://schemas.openxmlformats.org/drawingml/2006/main">
              <a:ext uri="{FF2B5EF4-FFF2-40B4-BE49-F238E27FC236}">
                <a16:creationId xmlns:a16="http://schemas.microsoft.com/office/drawing/2014/main" id="{585F54F7-A810-41F8-8D94-E439EA5AB41F}"/>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Giám đốc thấy gì trong 5 phút?</a:t>
            </a:r>
          </a:p>
        </p:txBody>
      </p:sp>
      <p:sp>
        <p:nvSpPr>
          <p:cNvPr id="3" name="">
            <a:extLst xmlns:a="http://schemas.openxmlformats.org/drawingml/2006/main">
              <a:ext uri="{FF2B5EF4-FFF2-40B4-BE49-F238E27FC236}">
                <a16:creationId xmlns:a16="http://schemas.microsoft.com/office/drawing/2014/main" id="{C8E0E988-E8F2-415F-8652-1B5FA913E541}"/>
              </a:ext>
            </a:extLst>
          </p:cNvPr>
          <p:cNvSpPr>
            <a:spLocks xmlns:a="http://schemas.openxmlformats.org/drawingml/2006/main" noGrp="1"/>
          </p:cNvSpPr>
          <p:nvPr/>
        </p:nvSpPr>
        <p:spPr>
          <a:xfrm xmlns:a="http://schemas.openxmlformats.org/drawingml/2006/main">
            <a:off x="685800" y="129540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0">
                <a:solidFill>
                  <a:srgbClr val="52606D"/>
                </a:solidFill>
                <a:latin typeface="Arial"/>
                <a:ea typeface="Arial"/>
                <a:cs typeface="Arial"/>
              </a:defRPr>
            </a:pPr>
            <a:r>
              <a:rPr sz="1725" b="0">
                <a:solidFill>
                  <a:srgbClr val="52606D"/>
                </a:solidFill>
                <a:latin typeface="Arial"/>
                <a:ea typeface="Arial"/>
                <a:cs typeface="Arial"/>
              </a:rPr>
              <a:t>Một màn hình tốt phải trả lời được câu hỏi tiếp theo, không chỉ hiển thị thêm dữ liệu.</a:t>
            </a:r>
          </a:p>
        </p:txBody>
      </p:sp>
      <p:sp>
        <p:nvSpPr>
          <p:cNvPr id="4" name="">
            <a:extLst xmlns:a="http://schemas.openxmlformats.org/drawingml/2006/main">
              <a:ext uri="{FF2B5EF4-FFF2-40B4-BE49-F238E27FC236}">
                <a16:creationId xmlns:a16="http://schemas.microsoft.com/office/drawing/2014/main" id="{C1C2BBCC-DCE5-4B02-B5D6-B4B43BF125E1}"/>
              </a:ext>
            </a:extLst>
          </p:cNvPr>
          <p:cNvSpPr>
            <a:spLocks xmlns:a="http://schemas.openxmlformats.org/drawingml/2006/main" noGrp="1"/>
          </p:cNvSpPr>
          <p:nvPr/>
        </p:nvSpPr>
        <p:spPr>
          <a:xfrm xmlns:a="http://schemas.openxmlformats.org/drawingml/2006/main">
            <a:off x="685800" y="2000250"/>
            <a:ext cx="4762500" cy="3429000"/>
          </a:xfrm>
          <a:prstGeom xmlns:a="http://schemas.openxmlformats.org/drawingml/2006/main" prst="roundRect">
            <a:avLst>
              <a:gd name="adj" fmla="val 5556"/>
            </a:avLst>
          </a:prstGeom>
          <a:solidFill xmlns:a="http://schemas.openxmlformats.org/drawingml/2006/main">
            <a:srgbClr val="0B253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D1C99E-3173-4A8F-904F-5E084D2B4564}"/>
              </a:ext>
            </a:extLst>
          </p:cNvPr>
          <p:cNvSpPr>
            <a:spLocks xmlns:a="http://schemas.openxmlformats.org/drawingml/2006/main" noGrp="1"/>
          </p:cNvSpPr>
          <p:nvPr/>
        </p:nvSpPr>
        <p:spPr>
          <a:xfrm xmlns:a="http://schemas.openxmlformats.org/drawingml/2006/main">
            <a:off x="1028700" y="232410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Câu hỏi điều hành</a:t>
            </a:r>
          </a:p>
        </p:txBody>
      </p:sp>
      <p:sp>
        <p:nvSpPr>
          <p:cNvPr id="6" name="">
            <a:extLst xmlns:a="http://schemas.openxmlformats.org/drawingml/2006/main">
              <a:ext uri="{FF2B5EF4-FFF2-40B4-BE49-F238E27FC236}">
                <a16:creationId xmlns:a16="http://schemas.microsoft.com/office/drawing/2014/main" id="{F5D7AE26-FF86-4CF4-A71D-B6E5CFD05372}"/>
              </a:ext>
            </a:extLst>
          </p:cNvPr>
          <p:cNvSpPr>
            <a:spLocks xmlns:a="http://schemas.openxmlformats.org/drawingml/2006/main" noGrp="1"/>
          </p:cNvSpPr>
          <p:nvPr/>
        </p:nvSpPr>
        <p:spPr>
          <a:xfrm xmlns:a="http://schemas.openxmlformats.org/drawingml/2006/main">
            <a:off x="1028700" y="29051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BF8B916-7DF3-4CC0-83E4-1B3F147C63BC}"/>
              </a:ext>
            </a:extLst>
          </p:cNvPr>
          <p:cNvSpPr>
            <a:spLocks xmlns:a="http://schemas.openxmlformats.org/drawingml/2006/main" noGrp="1"/>
          </p:cNvSpPr>
          <p:nvPr/>
        </p:nvSpPr>
        <p:spPr>
          <a:xfrm xmlns:a="http://schemas.openxmlformats.org/drawingml/2006/main">
            <a:off x="1257300" y="283845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Hôm nay có bao nhiêu NLĐ đang làm?</a:t>
            </a:r>
          </a:p>
        </p:txBody>
      </p:sp>
      <p:sp>
        <p:nvSpPr>
          <p:cNvPr id="8" name="">
            <a:extLst xmlns:a="http://schemas.openxmlformats.org/drawingml/2006/main">
              <a:ext uri="{FF2B5EF4-FFF2-40B4-BE49-F238E27FC236}">
                <a16:creationId xmlns:a16="http://schemas.microsoft.com/office/drawing/2014/main" id="{4A4873A0-2B54-4376-9ADB-DC1E58684822}"/>
              </a:ext>
            </a:extLst>
          </p:cNvPr>
          <p:cNvSpPr>
            <a:spLocks xmlns:a="http://schemas.openxmlformats.org/drawingml/2006/main" noGrp="1"/>
          </p:cNvSpPr>
          <p:nvPr/>
        </p:nvSpPr>
        <p:spPr>
          <a:xfrm xmlns:a="http://schemas.openxmlformats.org/drawingml/2006/main">
            <a:off x="1028700" y="34575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6D8EBF6-0226-4683-9CBB-016E2BDAC0C2}"/>
              </a:ext>
            </a:extLst>
          </p:cNvPr>
          <p:cNvSpPr>
            <a:spLocks xmlns:a="http://schemas.openxmlformats.org/drawingml/2006/main" noGrp="1"/>
          </p:cNvSpPr>
          <p:nvPr/>
        </p:nvSpPr>
        <p:spPr>
          <a:xfrm xmlns:a="http://schemas.openxmlformats.org/drawingml/2006/main">
            <a:off x="1257300" y="339090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Nhà máy nào tuyển mới hoặc rời việc nhiều?</a:t>
            </a:r>
          </a:p>
        </p:txBody>
      </p:sp>
      <p:sp>
        <p:nvSpPr>
          <p:cNvPr id="10" name="">
            <a:extLst xmlns:a="http://schemas.openxmlformats.org/drawingml/2006/main">
              <a:ext uri="{FF2B5EF4-FFF2-40B4-BE49-F238E27FC236}">
                <a16:creationId xmlns:a16="http://schemas.microsoft.com/office/drawing/2014/main" id="{3517882F-0B26-474F-BA83-A530398F57EF}"/>
              </a:ext>
            </a:extLst>
          </p:cNvPr>
          <p:cNvSpPr>
            <a:spLocks xmlns:a="http://schemas.openxmlformats.org/drawingml/2006/main" noGrp="1"/>
          </p:cNvSpPr>
          <p:nvPr/>
        </p:nvSpPr>
        <p:spPr>
          <a:xfrm xmlns:a="http://schemas.openxmlformats.org/drawingml/2006/main">
            <a:off x="1028700" y="40100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65BEFD9-5E64-4927-9C72-C9D837BFA023}"/>
              </a:ext>
            </a:extLst>
          </p:cNvPr>
          <p:cNvSpPr>
            <a:spLocks xmlns:a="http://schemas.openxmlformats.org/drawingml/2006/main" noGrp="1"/>
          </p:cNvSpPr>
          <p:nvPr/>
        </p:nvSpPr>
        <p:spPr>
          <a:xfrm xmlns:a="http://schemas.openxmlformats.org/drawingml/2006/main">
            <a:off x="1257300" y="394335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Nguồn tuyển nội bộ hay đối tác hiệu quả hơn?</a:t>
            </a:r>
          </a:p>
        </p:txBody>
      </p:sp>
      <p:sp>
        <p:nvSpPr>
          <p:cNvPr id="12" name="">
            <a:extLst xmlns:a="http://schemas.openxmlformats.org/drawingml/2006/main">
              <a:ext uri="{FF2B5EF4-FFF2-40B4-BE49-F238E27FC236}">
                <a16:creationId xmlns:a16="http://schemas.microsoft.com/office/drawing/2014/main" id="{7AE1D27D-18EE-4032-BA2C-087E3A13254E}"/>
              </a:ext>
            </a:extLst>
          </p:cNvPr>
          <p:cNvSpPr>
            <a:spLocks xmlns:a="http://schemas.openxmlformats.org/drawingml/2006/main" noGrp="1"/>
          </p:cNvSpPr>
          <p:nvPr/>
        </p:nvSpPr>
        <p:spPr>
          <a:xfrm xmlns:a="http://schemas.openxmlformats.org/drawingml/2006/main">
            <a:off x="1028700" y="45624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34E11F4-9199-4E7E-9799-1FC69B0BF883}"/>
              </a:ext>
            </a:extLst>
          </p:cNvPr>
          <p:cNvSpPr>
            <a:spLocks xmlns:a="http://schemas.openxmlformats.org/drawingml/2006/main" noGrp="1"/>
          </p:cNvSpPr>
          <p:nvPr/>
        </p:nvSpPr>
        <p:spPr>
          <a:xfrm xmlns:a="http://schemas.openxmlformats.org/drawingml/2006/main">
            <a:off x="1257300" y="449580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Có yêu cầu nào đang chờ phê duyệt?</a:t>
            </a:r>
          </a:p>
        </p:txBody>
      </p:sp>
      <p:sp>
        <p:nvSpPr>
          <p:cNvPr id="14" name="">
            <a:extLst xmlns:a="http://schemas.openxmlformats.org/drawingml/2006/main">
              <a:ext uri="{FF2B5EF4-FFF2-40B4-BE49-F238E27FC236}">
                <a16:creationId xmlns:a16="http://schemas.microsoft.com/office/drawing/2014/main" id="{8F440E35-A62A-4296-A432-5A44A06AD574}"/>
              </a:ext>
            </a:extLst>
          </p:cNvPr>
          <p:cNvSpPr>
            <a:spLocks xmlns:a="http://schemas.openxmlformats.org/drawingml/2006/main" noGrp="1"/>
          </p:cNvSpPr>
          <p:nvPr/>
        </p:nvSpPr>
        <p:spPr>
          <a:xfrm xmlns:a="http://schemas.openxmlformats.org/drawingml/2006/main">
            <a:off x="5905500" y="2000250"/>
            <a:ext cx="5600700" cy="34290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8E5E5"/>
            </a:solidFill>
          </a:ln>
        </p:spPr>
      </p:sp>
      <p:sp>
        <p:nvSpPr>
          <p:cNvPr id="15" name="">
            <a:extLst xmlns:a="http://schemas.openxmlformats.org/drawingml/2006/main">
              <a:ext uri="{FF2B5EF4-FFF2-40B4-BE49-F238E27FC236}">
                <a16:creationId xmlns:a16="http://schemas.microsoft.com/office/drawing/2014/main" id="{34698FC9-D7F2-4494-8E65-0A90DCE0A067}"/>
              </a:ext>
            </a:extLst>
          </p:cNvPr>
          <p:cNvSpPr>
            <a:spLocks xmlns:a="http://schemas.openxmlformats.org/drawingml/2006/main" noGrp="1"/>
          </p:cNvSpPr>
          <p:nvPr/>
        </p:nvSpPr>
        <p:spPr>
          <a:xfrm xmlns:a="http://schemas.openxmlformats.org/drawingml/2006/main">
            <a:off x="6248400" y="2324100"/>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Câu trả lời từ hệ thống</a:t>
            </a:r>
          </a:p>
        </p:txBody>
      </p:sp>
      <p:sp>
        <p:nvSpPr>
          <p:cNvPr id="16" name="">
            <a:extLst xmlns:a="http://schemas.openxmlformats.org/drawingml/2006/main">
              <a:ext uri="{FF2B5EF4-FFF2-40B4-BE49-F238E27FC236}">
                <a16:creationId xmlns:a16="http://schemas.microsoft.com/office/drawing/2014/main" id="{7B69F4C4-4943-4A28-BA0C-CE6CF5EFC407}"/>
              </a:ext>
            </a:extLst>
          </p:cNvPr>
          <p:cNvSpPr>
            <a:spLocks xmlns:a="http://schemas.openxmlformats.org/drawingml/2006/main" noGrp="1"/>
          </p:cNvSpPr>
          <p:nvPr/>
        </p:nvSpPr>
        <p:spPr>
          <a:xfrm xmlns:a="http://schemas.openxmlformats.org/drawingml/2006/main">
            <a:off x="6248400" y="2867025"/>
            <a:ext cx="95250" cy="3238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2255754-BEB1-40A2-B5CE-3F0D1A1F61AC}"/>
              </a:ext>
            </a:extLst>
          </p:cNvPr>
          <p:cNvSpPr>
            <a:spLocks xmlns:a="http://schemas.openxmlformats.org/drawingml/2006/main" noGrp="1"/>
          </p:cNvSpPr>
          <p:nvPr/>
        </p:nvSpPr>
        <p:spPr>
          <a:xfrm xmlns:a="http://schemas.openxmlformats.org/drawingml/2006/main">
            <a:off x="6477000" y="2838450"/>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Trạng thái làm việc</a:t>
            </a:r>
          </a:p>
        </p:txBody>
      </p:sp>
      <p:sp>
        <p:nvSpPr>
          <p:cNvPr id="18" name="">
            <a:extLst xmlns:a="http://schemas.openxmlformats.org/drawingml/2006/main">
              <a:ext uri="{FF2B5EF4-FFF2-40B4-BE49-F238E27FC236}">
                <a16:creationId xmlns:a16="http://schemas.microsoft.com/office/drawing/2014/main" id="{5A0E9E06-4712-4998-8D27-CF124B14D1AD}"/>
              </a:ext>
            </a:extLst>
          </p:cNvPr>
          <p:cNvSpPr>
            <a:spLocks xmlns:a="http://schemas.openxmlformats.org/drawingml/2006/main" noGrp="1"/>
          </p:cNvSpPr>
          <p:nvPr/>
        </p:nvSpPr>
        <p:spPr>
          <a:xfrm xmlns:a="http://schemas.openxmlformats.org/drawingml/2006/main">
            <a:off x="8343900" y="28384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Đang làm / đã nghỉ / theo kỳ</a:t>
            </a:r>
          </a:p>
        </p:txBody>
      </p:sp>
      <p:sp>
        <p:nvSpPr>
          <p:cNvPr id="19" name="">
            <a:extLst xmlns:a="http://schemas.openxmlformats.org/drawingml/2006/main">
              <a:ext uri="{FF2B5EF4-FFF2-40B4-BE49-F238E27FC236}">
                <a16:creationId xmlns:a16="http://schemas.microsoft.com/office/drawing/2014/main" id="{6ED8DAA2-CBA0-44F1-9F9E-70DA983DBFBF}"/>
              </a:ext>
            </a:extLst>
          </p:cNvPr>
          <p:cNvSpPr>
            <a:spLocks xmlns:a="http://schemas.openxmlformats.org/drawingml/2006/main" noGrp="1"/>
          </p:cNvSpPr>
          <p:nvPr/>
        </p:nvSpPr>
        <p:spPr>
          <a:xfrm xmlns:a="http://schemas.openxmlformats.org/drawingml/2006/main">
            <a:off x="6248400" y="3390900"/>
            <a:ext cx="95250" cy="3238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BC3F47D-9E48-4F54-8470-B750C582E060}"/>
              </a:ext>
            </a:extLst>
          </p:cNvPr>
          <p:cNvSpPr>
            <a:spLocks xmlns:a="http://schemas.openxmlformats.org/drawingml/2006/main" noGrp="1"/>
          </p:cNvSpPr>
          <p:nvPr/>
        </p:nvSpPr>
        <p:spPr>
          <a:xfrm xmlns:a="http://schemas.openxmlformats.org/drawingml/2006/main">
            <a:off x="6477000" y="3362325"/>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Hiệu quả tuyển</a:t>
            </a:r>
          </a:p>
        </p:txBody>
      </p:sp>
      <p:sp>
        <p:nvSpPr>
          <p:cNvPr id="21" name="">
            <a:extLst xmlns:a="http://schemas.openxmlformats.org/drawingml/2006/main">
              <a:ext uri="{FF2B5EF4-FFF2-40B4-BE49-F238E27FC236}">
                <a16:creationId xmlns:a16="http://schemas.microsoft.com/office/drawing/2014/main" id="{3922F031-CB75-4280-BF1E-EE7EE0559926}"/>
              </a:ext>
            </a:extLst>
          </p:cNvPr>
          <p:cNvSpPr>
            <a:spLocks xmlns:a="http://schemas.openxmlformats.org/drawingml/2006/main" noGrp="1"/>
          </p:cNvSpPr>
          <p:nvPr/>
        </p:nvSpPr>
        <p:spPr>
          <a:xfrm xmlns:a="http://schemas.openxmlformats.org/drawingml/2006/main">
            <a:off x="8343900" y="3362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Theo nhà máy và người tuyển</a:t>
            </a:r>
          </a:p>
        </p:txBody>
      </p:sp>
      <p:sp>
        <p:nvSpPr>
          <p:cNvPr id="22" name="">
            <a:extLst xmlns:a="http://schemas.openxmlformats.org/drawingml/2006/main">
              <a:ext uri="{FF2B5EF4-FFF2-40B4-BE49-F238E27FC236}">
                <a16:creationId xmlns:a16="http://schemas.microsoft.com/office/drawing/2014/main" id="{F15884E9-00F9-485A-828D-FA25A76F590D}"/>
              </a:ext>
            </a:extLst>
          </p:cNvPr>
          <p:cNvSpPr>
            <a:spLocks xmlns:a="http://schemas.openxmlformats.org/drawingml/2006/main" noGrp="1"/>
          </p:cNvSpPr>
          <p:nvPr/>
        </p:nvSpPr>
        <p:spPr>
          <a:xfrm xmlns:a="http://schemas.openxmlformats.org/drawingml/2006/main">
            <a:off x="6248400" y="3914775"/>
            <a:ext cx="95250" cy="323850"/>
          </a:xfrm>
          <a:prstGeom xmlns:a="http://schemas.openxmlformats.org/drawingml/2006/main" prst="roundRect">
            <a:avLst>
              <a:gd name="adj" fmla="val 50000"/>
            </a:avLst>
          </a:prstGeom>
          <a:solidFill xmlns:a="http://schemas.openxmlformats.org/drawingml/2006/main">
            <a:srgbClr val="159A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8669616-E14F-4ECE-883C-5F9051CCA270}"/>
              </a:ext>
            </a:extLst>
          </p:cNvPr>
          <p:cNvSpPr>
            <a:spLocks xmlns:a="http://schemas.openxmlformats.org/drawingml/2006/main" noGrp="1"/>
          </p:cNvSpPr>
          <p:nvPr/>
        </p:nvSpPr>
        <p:spPr>
          <a:xfrm xmlns:a="http://schemas.openxmlformats.org/drawingml/2006/main">
            <a:off x="6477000" y="3886200"/>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Công lương</a:t>
            </a:r>
          </a:p>
        </p:txBody>
      </p:sp>
      <p:sp>
        <p:nvSpPr>
          <p:cNvPr id="24" name="">
            <a:extLst xmlns:a="http://schemas.openxmlformats.org/drawingml/2006/main">
              <a:ext uri="{FF2B5EF4-FFF2-40B4-BE49-F238E27FC236}">
                <a16:creationId xmlns:a16="http://schemas.microsoft.com/office/drawing/2014/main" id="{DB0DE609-05C1-455F-96A3-B4DF7D2EADBB}"/>
              </a:ext>
            </a:extLst>
          </p:cNvPr>
          <p:cNvSpPr>
            <a:spLocks xmlns:a="http://schemas.openxmlformats.org/drawingml/2006/main" noGrp="1"/>
          </p:cNvSpPr>
          <p:nvPr/>
        </p:nvSpPr>
        <p:spPr>
          <a:xfrm xmlns:a="http://schemas.openxmlformats.org/drawingml/2006/main">
            <a:off x="8343900" y="38862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Bảng công, lương, số giờ</a:t>
            </a:r>
          </a:p>
        </p:txBody>
      </p:sp>
      <p:sp>
        <p:nvSpPr>
          <p:cNvPr id="25" name="">
            <a:extLst xmlns:a="http://schemas.openxmlformats.org/drawingml/2006/main">
              <a:ext uri="{FF2B5EF4-FFF2-40B4-BE49-F238E27FC236}">
                <a16:creationId xmlns:a16="http://schemas.microsoft.com/office/drawing/2014/main" id="{C9F109CB-5976-44B5-A437-25986FD638D0}"/>
              </a:ext>
            </a:extLst>
          </p:cNvPr>
          <p:cNvSpPr>
            <a:spLocks xmlns:a="http://schemas.openxmlformats.org/drawingml/2006/main" noGrp="1"/>
          </p:cNvSpPr>
          <p:nvPr/>
        </p:nvSpPr>
        <p:spPr>
          <a:xfrm xmlns:a="http://schemas.openxmlformats.org/drawingml/2006/main">
            <a:off x="6248400" y="4438650"/>
            <a:ext cx="95250" cy="323850"/>
          </a:xfrm>
          <a:prstGeom xmlns:a="http://schemas.openxmlformats.org/drawingml/2006/main" prst="roundRect">
            <a:avLst>
              <a:gd name="adj" fmla="val 50000"/>
            </a:avLst>
          </a:prstGeom>
          <a:solidFill xmlns:a="http://schemas.openxmlformats.org/drawingml/2006/main">
            <a:srgbClr val="D85C5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CD4E5C8-4CF6-43CB-9894-0EBB354E0B66}"/>
              </a:ext>
            </a:extLst>
          </p:cNvPr>
          <p:cNvSpPr>
            <a:spLocks xmlns:a="http://schemas.openxmlformats.org/drawingml/2006/main" noGrp="1"/>
          </p:cNvSpPr>
          <p:nvPr/>
        </p:nvSpPr>
        <p:spPr>
          <a:xfrm xmlns:a="http://schemas.openxmlformats.org/drawingml/2006/main">
            <a:off x="6477000" y="4410075"/>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Kiểm soát</a:t>
            </a:r>
          </a:p>
        </p:txBody>
      </p:sp>
      <p:sp>
        <p:nvSpPr>
          <p:cNvPr id="27" name="">
            <a:extLst xmlns:a="http://schemas.openxmlformats.org/drawingml/2006/main">
              <a:ext uri="{FF2B5EF4-FFF2-40B4-BE49-F238E27FC236}">
                <a16:creationId xmlns:a16="http://schemas.microsoft.com/office/drawing/2014/main" id="{4C529563-393A-4F9B-8B03-150725D19D5F}"/>
              </a:ext>
            </a:extLst>
          </p:cNvPr>
          <p:cNvSpPr>
            <a:spLocks xmlns:a="http://schemas.openxmlformats.org/drawingml/2006/main" noGrp="1"/>
          </p:cNvSpPr>
          <p:nvPr/>
        </p:nvSpPr>
        <p:spPr>
          <a:xfrm xmlns:a="http://schemas.openxmlformats.org/drawingml/2006/main">
            <a:off x="8343900" y="441007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Phê duyệt, log, cảnh báo trùng</a:t>
            </a:r>
          </a:p>
        </p:txBody>
      </p:sp>
      <p:sp>
        <p:nvSpPr>
          <p:cNvPr id="28" name="">
            <a:extLst xmlns:a="http://schemas.openxmlformats.org/drawingml/2006/main">
              <a:ext uri="{FF2B5EF4-FFF2-40B4-BE49-F238E27FC236}">
                <a16:creationId xmlns:a16="http://schemas.microsoft.com/office/drawing/2014/main" id="{CB1EE851-B4BB-4B0B-945B-A3D2BBD9291B}"/>
              </a:ext>
            </a:extLst>
          </p:cNvPr>
          <p:cNvSpPr>
            <a:spLocks xmlns:a="http://schemas.openxmlformats.org/drawingml/2006/main" noGrp="1"/>
          </p:cNvSpPr>
          <p:nvPr/>
        </p:nvSpPr>
        <p:spPr>
          <a:xfrm xmlns:a="http://schemas.openxmlformats.org/drawingml/2006/main">
            <a:off x="685800" y="58293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0F8B8D"/>
                </a:solidFill>
                <a:latin typeface="Arial"/>
                <a:ea typeface="Arial"/>
                <a:cs typeface="Arial"/>
              </a:defRPr>
            </a:pPr>
            <a:r>
              <a:rPr sz="1500" b="1">
                <a:solidFill>
                  <a:srgbClr val="0F8B8D"/>
                </a:solidFill>
                <a:latin typeface="Arial"/>
                <a:ea typeface="Arial"/>
                <a:cs typeface="Arial"/>
              </a:rPr>
              <a:t>Kết quả: cuộc họp bắt đầu từ quyết định, không bắt đầu từ việc hỏi “file nào mới nhất?”.</a:t>
            </a:r>
          </a:p>
        </p:txBody>
      </p:sp>
      <p:sp>
        <p:nvSpPr>
          <p:cNvPr id="29" name="">
            <a:extLst xmlns:a="http://schemas.openxmlformats.org/drawingml/2006/main">
              <a:ext uri="{FF2B5EF4-FFF2-40B4-BE49-F238E27FC236}">
                <a16:creationId xmlns:a16="http://schemas.microsoft.com/office/drawing/2014/main" id="{5DC25D51-6894-4F0E-B092-E212B949B432}"/>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0" name="">
            <a:extLst xmlns:a="http://schemas.openxmlformats.org/drawingml/2006/main">
              <a:ext uri="{FF2B5EF4-FFF2-40B4-BE49-F238E27FC236}">
                <a16:creationId xmlns:a16="http://schemas.microsoft.com/office/drawing/2014/main" id="{0A2E5C6E-4B33-4B4E-B46C-E03B7CA62922}"/>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06</a:t>
            </a:r>
          </a:p>
        </p:txBody>
      </p:sp>
    </p:spTree>
    <p:extLst>
      <p:ext uri="{BB962C8B-B14F-4D97-AF65-F5344CB8AC3E}">
        <p14:creationId xmlns:p14="http://schemas.microsoft.com/office/powerpoint/2010/main" val="18849901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62223D-999C-4A41-BB35-D7BF8326B4AD}"/>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ĐỀ XUẤT GIÁ NIÊM YẾT</a:t>
            </a:r>
          </a:p>
        </p:txBody>
      </p:sp>
      <p:sp>
        <p:nvSpPr>
          <p:cNvPr id="2" name="">
            <a:extLst xmlns:a="http://schemas.openxmlformats.org/drawingml/2006/main">
              <a:ext uri="{FF2B5EF4-FFF2-40B4-BE49-F238E27FC236}">
                <a16:creationId xmlns:a16="http://schemas.microsoft.com/office/drawing/2014/main" id="{785AC0BC-526D-4153-8B87-BCA774B2CA7F}"/>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Gói giá theo quy mô vận hành</a:t>
            </a:r>
          </a:p>
        </p:txBody>
      </p:sp>
      <p:sp>
        <p:nvSpPr>
          <p:cNvPr id="3" name="">
            <a:extLst xmlns:a="http://schemas.openxmlformats.org/drawingml/2006/main">
              <a:ext uri="{FF2B5EF4-FFF2-40B4-BE49-F238E27FC236}">
                <a16:creationId xmlns:a16="http://schemas.microsoft.com/office/drawing/2014/main" id="{02063114-495A-4EDC-8820-84C0896CF5F1}"/>
              </a:ext>
            </a:extLst>
          </p:cNvPr>
          <p:cNvSpPr>
            <a:spLocks xmlns:a="http://schemas.openxmlformats.org/drawingml/2006/main" noGrp="1"/>
          </p:cNvSpPr>
          <p:nvPr/>
        </p:nvSpPr>
        <p:spPr>
          <a:xfrm xmlns:a="http://schemas.openxmlformats.org/drawingml/2006/main">
            <a:off x="685800" y="12954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0">
                <a:solidFill>
                  <a:srgbClr val="52606D"/>
                </a:solidFill>
                <a:latin typeface="Arial"/>
                <a:ea typeface="Arial"/>
                <a:cs typeface="Arial"/>
              </a:defRPr>
            </a:pPr>
            <a:r>
              <a:rPr sz="1575" b="0">
                <a:solidFill>
                  <a:srgbClr val="52606D"/>
                </a:solidFill>
                <a:latin typeface="Arial"/>
                <a:ea typeface="Arial"/>
                <a:cs typeface="Arial"/>
              </a:rPr>
              <a:t>Đơn vị tính theo dữ liệu cần quản lý. Mỗi gói gồm một công ty, hỗ trợ onboarding từ xa và cập nhật tính năng nền tảng.</a:t>
            </a:r>
          </a:p>
        </p:txBody>
      </p:sp>
      <p:graphicFrame>
        <p:nvGraphicFramePr>
          <p:cNvPr id="12" name=""/>
          <p:cNvGraphicFramePr/>
          <p:nvPr/>
        </p:nvGraphicFramePr>
        <p:xfrm>
          <a:off xmlns:a="http://schemas.openxmlformats.org/drawingml/2006/main" x="685800" y="1943100"/>
          <a:ext xmlns:a="http://schemas.openxmlformats.org/drawingml/2006/main" cx="10820400" cy="3048000"/>
        </p:xfrm>
        <a:graphic xmlns:a="http://schemas.openxmlformats.org/drawingml/2006/main">
          <a:graphicData uri="http://schemas.openxmlformats.org/drawingml/2006/table">
            <a:tbl>
              <a:tblPr firstRow="1" bandRow="1"/>
              <a:tblGrid>
                <a:gridCol w="2266950"/>
                <a:gridCol w="1714500"/>
                <a:gridCol w="2266950"/>
                <a:gridCol w="2266950"/>
                <a:gridCol w="2305050"/>
              </a:tblGrid>
              <a:tr h="609600">
                <a:tc>
                  <a:txBody>
                    <a:bodyPr/>
                    <a:lstStyle/>
                    <a:p>
                      <a:pPr algn="l"/>
                      <a:r>
                        <a:rPr sz="1125" b="1">
                          <a:solidFill>
                            <a:srgbClr val="FFFFFF"/>
                          </a:solidFill>
                          <a:latin typeface="Arial"/>
                          <a:ea typeface="Arial"/>
                          <a:cs typeface="Arial"/>
                        </a:rPr>
                        <a:t>Gói</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Giá / tháng</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Lịch sử đi làm</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Tài khoản staff</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Đối tác / Nhà máy</a:t>
                      </a:r>
                    </a:p>
                  </a:txBody>
                  <a:tcPr marL="91440" marR="91440" marT="45720" marB="45720">
                    <a:solidFill>
                      <a:srgbClr val="0B2538"/>
                    </a:solidFill>
                  </a:tcPr>
                </a:tc>
              </a:tr>
              <a:tr h="609600">
                <a:tc>
                  <a:txBody>
                    <a:bodyPr/>
                    <a:lstStyle/>
                    <a:p>
                      <a:pPr algn="l"/>
                      <a:r>
                        <a:rPr sz="1350" b="1">
                          <a:solidFill>
                            <a:srgbClr val="12212B"/>
                          </a:solidFill>
                          <a:latin typeface="Arial"/>
                          <a:ea typeface="Arial"/>
                          <a:cs typeface="Arial"/>
                        </a:rPr>
                        <a:t>Khởi động</a:t>
                      </a:r>
                    </a:p>
                  </a:txBody>
                  <a:tcPr marL="91440" marR="91440" marT="45720" marB="45720"/>
                </a:tc>
                <a:tc>
                  <a:txBody>
                    <a:bodyPr/>
                    <a:lstStyle/>
                    <a:p>
                      <a:pPr algn="ctr"/>
                      <a:r>
                        <a:rPr sz="1350" b="1">
                          <a:solidFill>
                            <a:srgbClr val="12212B"/>
                          </a:solidFill>
                          <a:latin typeface="Arial"/>
                          <a:ea typeface="Arial"/>
                          <a:cs typeface="Arial"/>
                        </a:rPr>
                        <a:t>500.000 đ</a:t>
                      </a:r>
                    </a:p>
                  </a:txBody>
                  <a:tcPr marL="91440" marR="91440" marT="45720" marB="45720">
                    <a:solidFill>
                      <a:srgbClr val="FFF5DF"/>
                    </a:solidFill>
                  </a:tcPr>
                </a:tc>
                <a:tc>
                  <a:txBody>
                    <a:bodyPr/>
                    <a:lstStyle/>
                    <a:p>
                      <a:pPr algn="ctr"/>
                      <a:r>
                        <a:rPr sz="1350" b="0">
                          <a:solidFill>
                            <a:srgbClr val="12212B"/>
                          </a:solidFill>
                          <a:latin typeface="Arial"/>
                          <a:ea typeface="Arial"/>
                          <a:cs typeface="Arial"/>
                        </a:rPr>
                        <a:t>500</a:t>
                      </a:r>
                    </a:p>
                  </a:txBody>
                  <a:tcPr marL="91440" marR="91440" marT="45720" marB="45720"/>
                </a:tc>
                <a:tc>
                  <a:txBody>
                    <a:bodyPr/>
                    <a:lstStyle/>
                    <a:p>
                      <a:pPr algn="ctr"/>
                      <a:r>
                        <a:rPr sz="1350" b="0">
                          <a:solidFill>
                            <a:srgbClr val="12212B"/>
                          </a:solidFill>
                          <a:latin typeface="Arial"/>
                          <a:ea typeface="Arial"/>
                          <a:cs typeface="Arial"/>
                        </a:rPr>
                        <a:t>5</a:t>
                      </a:r>
                    </a:p>
                  </a:txBody>
                  <a:tcPr marL="91440" marR="91440" marT="45720" marB="45720"/>
                </a:tc>
                <a:tc>
                  <a:txBody>
                    <a:bodyPr/>
                    <a:lstStyle/>
                    <a:p>
                      <a:pPr algn="ctr"/>
                      <a:r>
                        <a:rPr sz="1350" b="0">
                          <a:solidFill>
                            <a:srgbClr val="12212B"/>
                          </a:solidFill>
                          <a:latin typeface="Arial"/>
                          <a:ea typeface="Arial"/>
                          <a:cs typeface="Arial"/>
                        </a:rPr>
                        <a:t>5 / 5</a:t>
                      </a:r>
                    </a:p>
                  </a:txBody>
                  <a:tcPr marL="91440" marR="91440" marT="45720" marB="45720"/>
                </a:tc>
              </a:tr>
              <a:tr h="609600">
                <a:tc>
                  <a:txBody>
                    <a:bodyPr/>
                    <a:lstStyle/>
                    <a:p>
                      <a:pPr algn="l"/>
                      <a:r>
                        <a:rPr sz="1350" b="1">
                          <a:solidFill>
                            <a:srgbClr val="12212B"/>
                          </a:solidFill>
                          <a:latin typeface="Arial"/>
                          <a:ea typeface="Arial"/>
                          <a:cs typeface="Arial"/>
                        </a:rPr>
                        <a:t>Tăng trưởng</a:t>
                      </a:r>
                    </a:p>
                  </a:txBody>
                  <a:tcPr marL="91440" marR="91440" marT="45720" marB="45720"/>
                </a:tc>
                <a:tc>
                  <a:txBody>
                    <a:bodyPr/>
                    <a:lstStyle/>
                    <a:p>
                      <a:pPr algn="ctr"/>
                      <a:r>
                        <a:rPr sz="1350" b="1">
                          <a:solidFill>
                            <a:srgbClr val="12212B"/>
                          </a:solidFill>
                          <a:latin typeface="Arial"/>
                          <a:ea typeface="Arial"/>
                          <a:cs typeface="Arial"/>
                        </a:rPr>
                        <a:t>1.500.000 đ</a:t>
                      </a:r>
                    </a:p>
                  </a:txBody>
                  <a:tcPr marL="91440" marR="91440" marT="45720" marB="45720"/>
                </a:tc>
                <a:tc>
                  <a:txBody>
                    <a:bodyPr/>
                    <a:lstStyle/>
                    <a:p>
                      <a:pPr algn="ctr"/>
                      <a:r>
                        <a:rPr sz="1350" b="0">
                          <a:solidFill>
                            <a:srgbClr val="12212B"/>
                          </a:solidFill>
                          <a:latin typeface="Arial"/>
                          <a:ea typeface="Arial"/>
                          <a:cs typeface="Arial"/>
                        </a:rPr>
                        <a:t>2.000</a:t>
                      </a:r>
                    </a:p>
                  </a:txBody>
                  <a:tcPr marL="91440" marR="91440" marT="45720" marB="45720"/>
                </a:tc>
                <a:tc>
                  <a:txBody>
                    <a:bodyPr/>
                    <a:lstStyle/>
                    <a:p>
                      <a:pPr algn="ctr"/>
                      <a:r>
                        <a:rPr sz="1350" b="0">
                          <a:solidFill>
                            <a:srgbClr val="12212B"/>
                          </a:solidFill>
                          <a:latin typeface="Arial"/>
                          <a:ea typeface="Arial"/>
                          <a:cs typeface="Arial"/>
                        </a:rPr>
                        <a:t>15</a:t>
                      </a:r>
                    </a:p>
                  </a:txBody>
                  <a:tcPr marL="91440" marR="91440" marT="45720" marB="45720"/>
                </a:tc>
                <a:tc>
                  <a:txBody>
                    <a:bodyPr/>
                    <a:lstStyle/>
                    <a:p>
                      <a:pPr algn="ctr"/>
                      <a:r>
                        <a:rPr sz="1350" b="0">
                          <a:solidFill>
                            <a:srgbClr val="12212B"/>
                          </a:solidFill>
                          <a:latin typeface="Arial"/>
                          <a:ea typeface="Arial"/>
                          <a:cs typeface="Arial"/>
                        </a:rPr>
                        <a:t>15 / 15</a:t>
                      </a:r>
                    </a:p>
                  </a:txBody>
                  <a:tcPr marL="91440" marR="91440" marT="45720" marB="45720"/>
                </a:tc>
              </a:tr>
              <a:tr h="609600">
                <a:tc>
                  <a:txBody>
                    <a:bodyPr/>
                    <a:lstStyle/>
                    <a:p>
                      <a:pPr algn="l"/>
                      <a:r>
                        <a:rPr sz="1350" b="1">
                          <a:solidFill>
                            <a:srgbClr val="12212B"/>
                          </a:solidFill>
                          <a:latin typeface="Arial"/>
                          <a:ea typeface="Arial"/>
                          <a:cs typeface="Arial"/>
                        </a:rPr>
                        <a:t>Chuyên nghiệp</a:t>
                      </a:r>
                    </a:p>
                  </a:txBody>
                  <a:tcPr marL="91440" marR="91440" marT="45720" marB="45720"/>
                </a:tc>
                <a:tc>
                  <a:txBody>
                    <a:bodyPr/>
                    <a:lstStyle/>
                    <a:p>
                      <a:pPr algn="ctr"/>
                      <a:r>
                        <a:rPr sz="1350" b="1">
                          <a:solidFill>
                            <a:srgbClr val="12212B"/>
                          </a:solidFill>
                          <a:latin typeface="Arial"/>
                          <a:ea typeface="Arial"/>
                          <a:cs typeface="Arial"/>
                        </a:rPr>
                        <a:t>3.000.000 đ</a:t>
                      </a:r>
                    </a:p>
                  </a:txBody>
                  <a:tcPr marL="91440" marR="91440" marT="45720" marB="45720">
                    <a:solidFill>
                      <a:srgbClr val="EAF8F3"/>
                    </a:solidFill>
                  </a:tcPr>
                </a:tc>
                <a:tc>
                  <a:txBody>
                    <a:bodyPr/>
                    <a:lstStyle/>
                    <a:p>
                      <a:pPr algn="ctr"/>
                      <a:r>
                        <a:rPr sz="1350" b="0">
                          <a:solidFill>
                            <a:srgbClr val="12212B"/>
                          </a:solidFill>
                          <a:latin typeface="Arial"/>
                          <a:ea typeface="Arial"/>
                          <a:cs typeface="Arial"/>
                        </a:rPr>
                        <a:t>5.000</a:t>
                      </a:r>
                    </a:p>
                  </a:txBody>
                  <a:tcPr marL="91440" marR="91440" marT="45720" marB="45720"/>
                </a:tc>
                <a:tc>
                  <a:txBody>
                    <a:bodyPr/>
                    <a:lstStyle/>
                    <a:p>
                      <a:pPr algn="ctr"/>
                      <a:r>
                        <a:rPr sz="1350" b="0">
                          <a:solidFill>
                            <a:srgbClr val="12212B"/>
                          </a:solidFill>
                          <a:latin typeface="Arial"/>
                          <a:ea typeface="Arial"/>
                          <a:cs typeface="Arial"/>
                        </a:rPr>
                        <a:t>30</a:t>
                      </a:r>
                    </a:p>
                  </a:txBody>
                  <a:tcPr marL="91440" marR="91440" marT="45720" marB="45720"/>
                </a:tc>
                <a:tc>
                  <a:txBody>
                    <a:bodyPr/>
                    <a:lstStyle/>
                    <a:p>
                      <a:pPr algn="ctr"/>
                      <a:r>
                        <a:rPr sz="1350" b="0">
                          <a:solidFill>
                            <a:srgbClr val="12212B"/>
                          </a:solidFill>
                          <a:latin typeface="Arial"/>
                          <a:ea typeface="Arial"/>
                          <a:cs typeface="Arial"/>
                        </a:rPr>
                        <a:t>30 / 30</a:t>
                      </a:r>
                    </a:p>
                  </a:txBody>
                  <a:tcPr marL="91440" marR="91440" marT="45720" marB="45720"/>
                </a:tc>
              </a:tr>
              <a:tr h="609600">
                <a:tc>
                  <a:txBody>
                    <a:bodyPr/>
                    <a:lstStyle/>
                    <a:p>
                      <a:pPr algn="l"/>
                      <a:r>
                        <a:rPr sz="1350" b="1">
                          <a:solidFill>
                            <a:srgbClr val="12212B"/>
                          </a:solidFill>
                          <a:latin typeface="Arial"/>
                          <a:ea typeface="Arial"/>
                          <a:cs typeface="Arial"/>
                        </a:rPr>
                        <a:t>Doanh nghiệp</a:t>
                      </a:r>
                    </a:p>
                  </a:txBody>
                  <a:tcPr marL="91440" marR="91440" marT="45720" marB="45720"/>
                </a:tc>
                <a:tc>
                  <a:txBody>
                    <a:bodyPr/>
                    <a:lstStyle/>
                    <a:p>
                      <a:pPr algn="ctr"/>
                      <a:r>
                        <a:rPr sz="1350" b="1">
                          <a:solidFill>
                            <a:srgbClr val="12212B"/>
                          </a:solidFill>
                          <a:latin typeface="Arial"/>
                          <a:ea typeface="Arial"/>
                          <a:cs typeface="Arial"/>
                        </a:rPr>
                        <a:t>5.000.000 đ</a:t>
                      </a:r>
                    </a:p>
                  </a:txBody>
                  <a:tcPr marL="91440" marR="91440" marT="45720" marB="45720"/>
                </a:tc>
                <a:tc>
                  <a:txBody>
                    <a:bodyPr/>
                    <a:lstStyle/>
                    <a:p>
                      <a:pPr algn="ctr"/>
                      <a:r>
                        <a:rPr sz="1350" b="0">
                          <a:solidFill>
                            <a:srgbClr val="12212B"/>
                          </a:solidFill>
                          <a:latin typeface="Arial"/>
                          <a:ea typeface="Arial"/>
                          <a:cs typeface="Arial"/>
                        </a:rPr>
                        <a:t>15.000</a:t>
                      </a:r>
                    </a:p>
                  </a:txBody>
                  <a:tcPr marL="91440" marR="91440" marT="45720" marB="45720"/>
                </a:tc>
                <a:tc>
                  <a:txBody>
                    <a:bodyPr/>
                    <a:lstStyle/>
                    <a:p>
                      <a:pPr algn="ctr"/>
                      <a:r>
                        <a:rPr sz="1350" b="0">
                          <a:solidFill>
                            <a:srgbClr val="12212B"/>
                          </a:solidFill>
                          <a:latin typeface="Arial"/>
                          <a:ea typeface="Arial"/>
                          <a:cs typeface="Arial"/>
                        </a:rPr>
                        <a:t>100</a:t>
                      </a:r>
                    </a:p>
                  </a:txBody>
                  <a:tcPr marL="91440" marR="91440" marT="45720" marB="45720"/>
                </a:tc>
                <a:tc>
                  <a:txBody>
                    <a:bodyPr/>
                    <a:lstStyle/>
                    <a:p>
                      <a:pPr algn="ctr"/>
                      <a:r>
                        <a:rPr sz="1350" b="0">
                          <a:solidFill>
                            <a:srgbClr val="12212B"/>
                          </a:solidFill>
                          <a:latin typeface="Arial"/>
                          <a:ea typeface="Arial"/>
                          <a:cs typeface="Arial"/>
                        </a:rPr>
                        <a:t>100 / 100</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51D88A46-7ABC-4A2B-931D-D7942AC7C4A4}"/>
              </a:ext>
            </a:extLst>
          </p:cNvPr>
          <p:cNvSpPr>
            <a:spLocks xmlns:a="http://schemas.openxmlformats.org/drawingml/2006/main" noGrp="1"/>
          </p:cNvSpPr>
          <p:nvPr/>
        </p:nvSpPr>
        <p:spPr>
          <a:xfrm xmlns:a="http://schemas.openxmlformats.org/drawingml/2006/main">
            <a:off x="685800" y="5314950"/>
            <a:ext cx="10820400" cy="552450"/>
          </a:xfrm>
          <a:prstGeom xmlns:a="http://schemas.openxmlformats.org/drawingml/2006/main" prst="roundRect">
            <a:avLst>
              <a:gd name="adj" fmla="val 24138"/>
            </a:avLst>
          </a:prstGeom>
          <a:solidFill xmlns:a="http://schemas.openxmlformats.org/drawingml/2006/main">
            <a:srgbClr val="FFF5D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BC40FAA-73B3-48AA-B821-4E11C25E839F}"/>
              </a:ext>
            </a:extLst>
          </p:cNvPr>
          <p:cNvSpPr>
            <a:spLocks xmlns:a="http://schemas.openxmlformats.org/drawingml/2006/main" noGrp="1"/>
          </p:cNvSpPr>
          <p:nvPr/>
        </p:nvSpPr>
        <p:spPr>
          <a:xfrm xmlns:a="http://schemas.openxmlformats.org/drawingml/2006/main">
            <a:off x="895350" y="5476875"/>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350" b="1">
                <a:solidFill>
                  <a:srgbClr val="805A00"/>
                </a:solidFill>
                <a:latin typeface="Arial"/>
                <a:ea typeface="Arial"/>
                <a:cs typeface="Arial"/>
              </a:defRPr>
            </a:pPr>
            <a:r>
              <a:rPr sz="1350" b="1">
                <a:solidFill>
                  <a:srgbClr val="805A00"/>
                </a:solidFill>
                <a:latin typeface="Arial"/>
                <a:ea typeface="Arial"/>
                <a:cs typeface="Arial"/>
              </a:rPr>
              <a:t>Nguyên tắc mở rộng: nâng gói khi chạm 80% hạn mức; không cần thay đổi quy trình hay di chuyển dữ liệu.</a:t>
            </a:r>
          </a:p>
        </p:txBody>
      </p:sp>
      <p:sp>
        <p:nvSpPr>
          <p:cNvPr id="7" name="">
            <a:extLst xmlns:a="http://schemas.openxmlformats.org/drawingml/2006/main">
              <a:ext uri="{FF2B5EF4-FFF2-40B4-BE49-F238E27FC236}">
                <a16:creationId xmlns:a16="http://schemas.microsoft.com/office/drawing/2014/main" id="{6013F46A-71BE-4840-A8F5-F5735446D614}"/>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giá tham khảo | Có thể điều chỉnh theo số công ty, SLA và nhu cầu tích hợp</a:t>
            </a:r>
          </a:p>
        </p:txBody>
      </p:sp>
      <p:sp>
        <p:nvSpPr>
          <p:cNvPr id="8" name="">
            <a:extLst xmlns:a="http://schemas.openxmlformats.org/drawingml/2006/main">
              <a:ext uri="{FF2B5EF4-FFF2-40B4-BE49-F238E27FC236}">
                <a16:creationId xmlns:a16="http://schemas.microsoft.com/office/drawing/2014/main" id="{F21BD16E-0EC7-4FDF-B47A-CC162BE75C16}"/>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07</a:t>
            </a:r>
          </a:p>
        </p:txBody>
      </p:sp>
    </p:spTree>
    <p:extLst>
      <p:ext uri="{BB962C8B-B14F-4D97-AF65-F5344CB8AC3E}">
        <p14:creationId xmlns:p14="http://schemas.microsoft.com/office/powerpoint/2010/main" val="1632949212"/>
      </p:ext>
    </p:extLst>
  </p:cSld>
</p:sld>
</file>

<file path=ppt/slides/slide8.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672343C-036C-4670-988B-392B3B010048}"/>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LẬP LUẬN GIÁ TRỊ</a:t>
            </a:r>
          </a:p>
        </p:txBody>
      </p:sp>
      <p:sp>
        <p:nvSpPr>
          <p:cNvPr id="2" name="">
            <a:extLst xmlns:a="http://schemas.openxmlformats.org/drawingml/2006/main">
              <a:ext uri="{FF2B5EF4-FFF2-40B4-BE49-F238E27FC236}">
                <a16:creationId xmlns:a16="http://schemas.microsoft.com/office/drawing/2014/main" id="{2EE1D43D-C302-4CBD-8AB4-9A6DD896BBEE}"/>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Chi phí nhỏ hơn một lỗi vận hành</a:t>
            </a:r>
          </a:p>
        </p:txBody>
      </p:sp>
      <p:sp>
        <p:nvSpPr>
          <p:cNvPr id="3" name="">
            <a:extLst xmlns:a="http://schemas.openxmlformats.org/drawingml/2006/main">
              <a:ext uri="{FF2B5EF4-FFF2-40B4-BE49-F238E27FC236}">
                <a16:creationId xmlns:a16="http://schemas.microsoft.com/office/drawing/2014/main" id="{8AAE8A18-4D0E-47F6-87B4-13FA3CAB2335}"/>
              </a:ext>
            </a:extLst>
          </p:cNvPr>
          <p:cNvSpPr>
            <a:spLocks xmlns:a="http://schemas.openxmlformats.org/drawingml/2006/main" noGrp="1"/>
          </p:cNvSpPr>
          <p:nvPr/>
        </p:nvSpPr>
        <p:spPr>
          <a:xfrm xmlns:a="http://schemas.openxmlformats.org/drawingml/2006/main">
            <a:off x="685800" y="12954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0">
                <a:solidFill>
                  <a:srgbClr val="52606D"/>
                </a:solidFill>
                <a:latin typeface="Arial"/>
                <a:ea typeface="Arial"/>
                <a:cs typeface="Arial"/>
              </a:defRPr>
            </a:pPr>
            <a:r>
              <a:rPr sz="1650" b="0">
                <a:solidFill>
                  <a:srgbClr val="52606D"/>
                </a:solidFill>
                <a:latin typeface="Arial"/>
                <a:ea typeface="Arial"/>
                <a:cs typeface="Arial"/>
              </a:rPr>
              <a:t>Mô hình minh họa: chỉ cần giảm một phần thời gian đối soát mỗi tháng, gói phần mềm đã có thể tự hoàn vốn.</a:t>
            </a:r>
          </a:p>
        </p:txBody>
      </p:sp>
      <p:graphicFrame>
        <p:nvGraphicFramePr>
          <p:cNvPr id="22" name="Chart"/>
          <p:cNvGraphicFramePr/>
          <p:nvPr/>
        </p:nvGraphicFramePr>
        <p:xfrm>
          <a:off xmlns:a="http://schemas.openxmlformats.org/drawingml/2006/main" x="685800" y="2076450"/>
          <a:ext xmlns:a="http://schemas.openxmlformats.org/drawingml/2006/main" cx="7334250" cy="3333750"/>
        </p:xfrm>
        <a:graphic xmlns:a="http://schemas.openxmlformats.org/drawingml/2006/main">
          <a:graphicData uri="http://schemas.openxmlformats.org/drawingml/2006/chart">
            <c:chart xmlns:r="http://schemas.openxmlformats.org/officeDocument/2006/relationships" xmlns:c="http://schemas.openxmlformats.org/drawingml/2006/chart" r:id="Rdf54efdb78ac4b87"/>
          </a:graphicData>
        </a:graphic>
      </p:graphicFrame>
      <p:sp>
        <p:nvSpPr>
          <p:cNvPr id="5" name="">
            <a:extLst xmlns:a="http://schemas.openxmlformats.org/drawingml/2006/main">
              <a:ext uri="{FF2B5EF4-FFF2-40B4-BE49-F238E27FC236}">
                <a16:creationId xmlns:a16="http://schemas.microsoft.com/office/drawing/2014/main" id="{820DE77B-B09D-4646-97B4-7F2B3D04E173}"/>
              </a:ext>
            </a:extLst>
          </p:cNvPr>
          <p:cNvSpPr>
            <a:spLocks xmlns:a="http://schemas.openxmlformats.org/drawingml/2006/main" noGrp="1"/>
          </p:cNvSpPr>
          <p:nvPr/>
        </p:nvSpPr>
        <p:spPr>
          <a:xfrm xmlns:a="http://schemas.openxmlformats.org/drawingml/2006/main">
            <a:off x="8572500" y="2076450"/>
            <a:ext cx="2933700" cy="3333750"/>
          </a:xfrm>
          <a:prstGeom xmlns:a="http://schemas.openxmlformats.org/drawingml/2006/main" prst="roundRect">
            <a:avLst>
              <a:gd name="adj" fmla="val 5844"/>
            </a:avLst>
          </a:prstGeom>
          <a:solidFill xmlns:a="http://schemas.openxmlformats.org/drawingml/2006/main">
            <a:srgbClr val="FFFFFF"/>
          </a:solidFill>
          <a:ln xmlns:a="http://schemas.openxmlformats.org/drawingml/2006/main" w="9525">
            <a:solidFill>
              <a:srgbClr val="D8E5E5"/>
            </a:solidFill>
          </a:ln>
        </p:spPr>
      </p:sp>
      <p:sp>
        <p:nvSpPr>
          <p:cNvPr id="6" name="">
            <a:extLst xmlns:a="http://schemas.openxmlformats.org/drawingml/2006/main">
              <a:ext uri="{FF2B5EF4-FFF2-40B4-BE49-F238E27FC236}">
                <a16:creationId xmlns:a16="http://schemas.microsoft.com/office/drawing/2014/main" id="{3765B5F1-560F-48DF-A560-88D6BC16199F}"/>
              </a:ext>
            </a:extLst>
          </p:cNvPr>
          <p:cNvSpPr>
            <a:spLocks xmlns:a="http://schemas.openxmlformats.org/drawingml/2006/main" noGrp="1"/>
          </p:cNvSpPr>
          <p:nvPr/>
        </p:nvSpPr>
        <p:spPr>
          <a:xfrm xmlns:a="http://schemas.openxmlformats.org/drawingml/2006/main">
            <a:off x="8877300" y="2381250"/>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1">
                <a:solidFill>
                  <a:srgbClr val="0B2538"/>
                </a:solidFill>
                <a:latin typeface="Arial"/>
                <a:ea typeface="Arial"/>
                <a:cs typeface="Arial"/>
              </a:defRPr>
            </a:pPr>
            <a:r>
              <a:rPr sz="1650" b="1">
                <a:solidFill>
                  <a:srgbClr val="0B2538"/>
                </a:solidFill>
                <a:latin typeface="Arial"/>
                <a:ea typeface="Arial"/>
                <a:cs typeface="Arial"/>
              </a:rPr>
              <a:t>Giả định minh họa</a:t>
            </a:r>
          </a:p>
        </p:txBody>
      </p:sp>
      <p:sp>
        <p:nvSpPr>
          <p:cNvPr id="7" name="">
            <a:extLst xmlns:a="http://schemas.openxmlformats.org/drawingml/2006/main">
              <a:ext uri="{FF2B5EF4-FFF2-40B4-BE49-F238E27FC236}">
                <a16:creationId xmlns:a16="http://schemas.microsoft.com/office/drawing/2014/main" id="{66320202-D895-42E9-B4FA-E4F1D3B2755C}"/>
              </a:ext>
            </a:extLst>
          </p:cNvPr>
          <p:cNvSpPr>
            <a:spLocks xmlns:a="http://schemas.openxmlformats.org/drawingml/2006/main" noGrp="1"/>
          </p:cNvSpPr>
          <p:nvPr/>
        </p:nvSpPr>
        <p:spPr>
          <a:xfrm xmlns:a="http://schemas.openxmlformats.org/drawingml/2006/main">
            <a:off x="8877300" y="297180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5A2FF4C-2DF8-4832-8C40-760C08F34CE3}"/>
              </a:ext>
            </a:extLst>
          </p:cNvPr>
          <p:cNvSpPr>
            <a:spLocks xmlns:a="http://schemas.openxmlformats.org/drawingml/2006/main" noGrp="1"/>
          </p:cNvSpPr>
          <p:nvPr/>
        </p:nvSpPr>
        <p:spPr>
          <a:xfrm xmlns:a="http://schemas.openxmlformats.org/drawingml/2006/main">
            <a:off x="9105900" y="2905125"/>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10 giờ đối soát giảm mỗi tháng</a:t>
            </a:r>
          </a:p>
        </p:txBody>
      </p:sp>
      <p:sp>
        <p:nvSpPr>
          <p:cNvPr id="9" name="">
            <a:extLst xmlns:a="http://schemas.openxmlformats.org/drawingml/2006/main">
              <a:ext uri="{FF2B5EF4-FFF2-40B4-BE49-F238E27FC236}">
                <a16:creationId xmlns:a16="http://schemas.microsoft.com/office/drawing/2014/main" id="{7C786996-76B3-4EE8-950C-B5B378F43E4A}"/>
              </a:ext>
            </a:extLst>
          </p:cNvPr>
          <p:cNvSpPr>
            <a:spLocks xmlns:a="http://schemas.openxmlformats.org/drawingml/2006/main" noGrp="1"/>
          </p:cNvSpPr>
          <p:nvPr/>
        </p:nvSpPr>
        <p:spPr>
          <a:xfrm xmlns:a="http://schemas.openxmlformats.org/drawingml/2006/main">
            <a:off x="8877300" y="34956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F5A0FE7-B07B-49ED-A916-B5577EFF3831}"/>
              </a:ext>
            </a:extLst>
          </p:cNvPr>
          <p:cNvSpPr>
            <a:spLocks xmlns:a="http://schemas.openxmlformats.org/drawingml/2006/main" noGrp="1"/>
          </p:cNvSpPr>
          <p:nvPr/>
        </p:nvSpPr>
        <p:spPr>
          <a:xfrm xmlns:a="http://schemas.openxmlformats.org/drawingml/2006/main">
            <a:off x="9105900" y="3429000"/>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120.000 đ / giờ chi phí thời gian</a:t>
            </a:r>
          </a:p>
        </p:txBody>
      </p:sp>
      <p:sp>
        <p:nvSpPr>
          <p:cNvPr id="11" name="">
            <a:extLst xmlns:a="http://schemas.openxmlformats.org/drawingml/2006/main">
              <a:ext uri="{FF2B5EF4-FFF2-40B4-BE49-F238E27FC236}">
                <a16:creationId xmlns:a16="http://schemas.microsoft.com/office/drawing/2014/main" id="{DA22C09B-EEA0-44C5-9854-D21969FC50EE}"/>
              </a:ext>
            </a:extLst>
          </p:cNvPr>
          <p:cNvSpPr>
            <a:spLocks xmlns:a="http://schemas.openxmlformats.org/drawingml/2006/main" noGrp="1"/>
          </p:cNvSpPr>
          <p:nvPr/>
        </p:nvSpPr>
        <p:spPr>
          <a:xfrm xmlns:a="http://schemas.openxmlformats.org/drawingml/2006/main">
            <a:off x="8877300" y="401955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ED2E1AD-6526-42AD-8F34-B943DDEDE4A4}"/>
              </a:ext>
            </a:extLst>
          </p:cNvPr>
          <p:cNvSpPr>
            <a:spLocks xmlns:a="http://schemas.openxmlformats.org/drawingml/2006/main" noGrp="1"/>
          </p:cNvSpPr>
          <p:nvPr/>
        </p:nvSpPr>
        <p:spPr>
          <a:xfrm xmlns:a="http://schemas.openxmlformats.org/drawingml/2006/main">
            <a:off x="9105900" y="3952875"/>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Giá trị trực tiếp: 1,2 triệu đ</a:t>
            </a:r>
          </a:p>
        </p:txBody>
      </p:sp>
      <p:sp>
        <p:nvSpPr>
          <p:cNvPr id="13" name="">
            <a:extLst xmlns:a="http://schemas.openxmlformats.org/drawingml/2006/main">
              <a:ext uri="{FF2B5EF4-FFF2-40B4-BE49-F238E27FC236}">
                <a16:creationId xmlns:a16="http://schemas.microsoft.com/office/drawing/2014/main" id="{7C4DEE8B-752E-402C-8EDA-327E102C47B5}"/>
              </a:ext>
            </a:extLst>
          </p:cNvPr>
          <p:cNvSpPr>
            <a:spLocks xmlns:a="http://schemas.openxmlformats.org/drawingml/2006/main" noGrp="1"/>
          </p:cNvSpPr>
          <p:nvPr/>
        </p:nvSpPr>
        <p:spPr>
          <a:xfrm xmlns:a="http://schemas.openxmlformats.org/drawingml/2006/main">
            <a:off x="8877300" y="45434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D8399C8-A609-44ED-9BDC-32B3970E9FF8}"/>
              </a:ext>
            </a:extLst>
          </p:cNvPr>
          <p:cNvSpPr>
            <a:spLocks xmlns:a="http://schemas.openxmlformats.org/drawingml/2006/main" noGrp="1"/>
          </p:cNvSpPr>
          <p:nvPr/>
        </p:nvSpPr>
        <p:spPr>
          <a:xfrm xmlns:a="http://schemas.openxmlformats.org/drawingml/2006/main">
            <a:off x="9105900" y="4476750"/>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Chưa tính lỗi dữ liệu và quyết định chậm</a:t>
            </a:r>
          </a:p>
        </p:txBody>
      </p:sp>
      <p:sp>
        <p:nvSpPr>
          <p:cNvPr id="15" name="">
            <a:extLst xmlns:a="http://schemas.openxmlformats.org/drawingml/2006/main">
              <a:ext uri="{FF2B5EF4-FFF2-40B4-BE49-F238E27FC236}">
                <a16:creationId xmlns:a16="http://schemas.microsoft.com/office/drawing/2014/main" id="{3602A7ED-379D-41D8-B911-F469ABFF99C7}"/>
              </a:ext>
            </a:extLst>
          </p:cNvPr>
          <p:cNvSpPr>
            <a:spLocks xmlns:a="http://schemas.openxmlformats.org/drawingml/2006/main" noGrp="1"/>
          </p:cNvSpPr>
          <p:nvPr/>
        </p:nvSpPr>
        <p:spPr>
          <a:xfrm xmlns:a="http://schemas.openxmlformats.org/drawingml/2006/main">
            <a:off x="8877300" y="5010150"/>
            <a:ext cx="2324100" cy="304800"/>
          </a:xfrm>
          <a:prstGeom xmlns:a="http://schemas.openxmlformats.org/drawingml/2006/main" prst="roundRect">
            <a:avLst>
              <a:gd name="adj" fmla="val 37500"/>
            </a:avLst>
          </a:prstGeom>
          <a:solidFill xmlns:a="http://schemas.openxmlformats.org/drawingml/2006/main">
            <a:srgbClr val="EAF8F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6741E30-9FF1-4D63-9058-2B1A88DDDF3B}"/>
              </a:ext>
            </a:extLst>
          </p:cNvPr>
          <p:cNvSpPr>
            <a:spLocks xmlns:a="http://schemas.openxmlformats.org/drawingml/2006/main" noGrp="1"/>
          </p:cNvSpPr>
          <p:nvPr/>
        </p:nvSpPr>
        <p:spPr>
          <a:xfrm xmlns:a="http://schemas.openxmlformats.org/drawingml/2006/main">
            <a:off x="8991600" y="50863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050" b="1">
                <a:solidFill>
                  <a:srgbClr val="159A78"/>
                </a:solidFill>
                <a:latin typeface="Arial"/>
                <a:ea typeface="Arial"/>
                <a:cs typeface="Arial"/>
              </a:defRPr>
            </a:pPr>
            <a:r>
              <a:rPr sz="1050" b="1">
                <a:solidFill>
                  <a:srgbClr val="159A78"/>
                </a:solidFill>
                <a:latin typeface="Arial"/>
                <a:ea typeface="Arial"/>
                <a:cs typeface="Arial"/>
              </a:rPr>
              <a:t>Khởi động: 2,4× giá trị / chi phí</a:t>
            </a:r>
          </a:p>
        </p:txBody>
      </p:sp>
      <p:sp>
        <p:nvSpPr>
          <p:cNvPr id="17" name="">
            <a:extLst xmlns:a="http://schemas.openxmlformats.org/drawingml/2006/main">
              <a:ext uri="{FF2B5EF4-FFF2-40B4-BE49-F238E27FC236}">
                <a16:creationId xmlns:a16="http://schemas.microsoft.com/office/drawing/2014/main" id="{5CC0DB0B-457E-4DF1-ABF1-E4B5AFEF1F6E}"/>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Giả định minh họa, cần đo lại trong pilot 30 ngày</a:t>
            </a:r>
          </a:p>
        </p:txBody>
      </p:sp>
      <p:sp>
        <p:nvSpPr>
          <p:cNvPr id="18" name="">
            <a:extLst xmlns:a="http://schemas.openxmlformats.org/drawingml/2006/main">
              <a:ext uri="{FF2B5EF4-FFF2-40B4-BE49-F238E27FC236}">
                <a16:creationId xmlns:a16="http://schemas.microsoft.com/office/drawing/2014/main" id="{00307951-94AE-4262-B281-499B5BF42CD9}"/>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08</a:t>
            </a:r>
          </a:p>
        </p:txBody>
      </p:sp>
    </p:spTree>
    <p:extLst>
      <p:ext uri="{BB962C8B-B14F-4D97-AF65-F5344CB8AC3E}">
        <p14:creationId xmlns:p14="http://schemas.microsoft.com/office/powerpoint/2010/main" val="10296827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5E93367-08A1-43A1-B6EE-D7311EED46F7}"/>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CÁCH BÁN VÀ TRIỂN KHAI</a:t>
            </a:r>
          </a:p>
        </p:txBody>
      </p:sp>
      <p:sp>
        <p:nvSpPr>
          <p:cNvPr id="2" name="">
            <a:extLst xmlns:a="http://schemas.openxmlformats.org/drawingml/2006/main">
              <a:ext uri="{FF2B5EF4-FFF2-40B4-BE49-F238E27FC236}">
                <a16:creationId xmlns:a16="http://schemas.microsoft.com/office/drawing/2014/main" id="{AF938A0A-CDE9-4879-8D77-35026057A004}"/>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Lộ trình thí điểm 30 ngày</a:t>
            </a:r>
          </a:p>
        </p:txBody>
      </p:sp>
      <p:sp>
        <p:nvSpPr>
          <p:cNvPr id="3" name="">
            <a:extLst xmlns:a="http://schemas.openxmlformats.org/drawingml/2006/main">
              <a:ext uri="{FF2B5EF4-FFF2-40B4-BE49-F238E27FC236}">
                <a16:creationId xmlns:a16="http://schemas.microsoft.com/office/drawing/2014/main" id="{6915051A-1FB0-4465-B9BD-34E4A6E53988}"/>
              </a:ext>
            </a:extLst>
          </p:cNvPr>
          <p:cNvSpPr>
            <a:spLocks xmlns:a="http://schemas.openxmlformats.org/drawingml/2006/main" noGrp="1"/>
          </p:cNvSpPr>
          <p:nvPr/>
        </p:nvSpPr>
        <p:spPr>
          <a:xfrm xmlns:a="http://schemas.openxmlformats.org/drawingml/2006/main">
            <a:off x="685800" y="1295400"/>
            <a:ext cx="876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0">
                <a:solidFill>
                  <a:srgbClr val="52606D"/>
                </a:solidFill>
                <a:latin typeface="Arial"/>
                <a:ea typeface="Arial"/>
                <a:cs typeface="Arial"/>
              </a:defRPr>
            </a:pPr>
            <a:r>
              <a:rPr sz="1650" b="0">
                <a:solidFill>
                  <a:srgbClr val="52606D"/>
                </a:solidFill>
                <a:latin typeface="Arial"/>
                <a:ea typeface="Arial"/>
                <a:cs typeface="Arial"/>
              </a:rPr>
              <a:t>Bắt đầu nhỏ, đo được, và chỉ mở rộng khi người dùng đã nhìn thấy dữ liệu của chính họ.</a:t>
            </a:r>
          </a:p>
        </p:txBody>
      </p:sp>
      <p:sp>
        <p:nvSpPr>
          <p:cNvPr id="4" name="">
            <a:extLst xmlns:a="http://schemas.openxmlformats.org/drawingml/2006/main">
              <a:ext uri="{FF2B5EF4-FFF2-40B4-BE49-F238E27FC236}">
                <a16:creationId xmlns:a16="http://schemas.microsoft.com/office/drawing/2014/main" id="{DED6E741-036D-4AB2-BCDA-E7FAE973BDB4}"/>
              </a:ext>
            </a:extLst>
          </p:cNvPr>
          <p:cNvSpPr>
            <a:spLocks xmlns:a="http://schemas.openxmlformats.org/drawingml/2006/main" noGrp="1"/>
          </p:cNvSpPr>
          <p:nvPr/>
        </p:nvSpPr>
        <p:spPr>
          <a:xfrm xmlns:a="http://schemas.openxmlformats.org/drawingml/2006/main">
            <a:off x="6858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0F8B8D"/>
            </a:solidFill>
          </a:ln>
        </p:spPr>
      </p:sp>
      <p:sp>
        <p:nvSpPr>
          <p:cNvPr id="5" name="">
            <a:extLst xmlns:a="http://schemas.openxmlformats.org/drawingml/2006/main">
              <a:ext uri="{FF2B5EF4-FFF2-40B4-BE49-F238E27FC236}">
                <a16:creationId xmlns:a16="http://schemas.microsoft.com/office/drawing/2014/main" id="{180663B3-68AF-4D69-A6FD-5BB249116D5E}"/>
              </a:ext>
            </a:extLst>
          </p:cNvPr>
          <p:cNvSpPr>
            <a:spLocks xmlns:a="http://schemas.openxmlformats.org/drawingml/2006/main" noGrp="1"/>
          </p:cNvSpPr>
          <p:nvPr/>
        </p:nvSpPr>
        <p:spPr>
          <a:xfrm xmlns:a="http://schemas.openxmlformats.org/drawingml/2006/main">
            <a:off x="685800" y="2286000"/>
            <a:ext cx="2362200" cy="11430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89FD209-5F87-404F-8751-062245D27303}"/>
              </a:ext>
            </a:extLst>
          </p:cNvPr>
          <p:cNvSpPr>
            <a:spLocks xmlns:a="http://schemas.openxmlformats.org/drawingml/2006/main" noGrp="1"/>
          </p:cNvSpPr>
          <p:nvPr/>
        </p:nvSpPr>
        <p:spPr>
          <a:xfrm xmlns:a="http://schemas.openxmlformats.org/drawingml/2006/main">
            <a:off x="9144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0F8B8D"/>
                </a:solidFill>
                <a:latin typeface="Arial"/>
                <a:ea typeface="Arial"/>
                <a:cs typeface="Arial"/>
              </a:defRPr>
            </a:pPr>
            <a:r>
              <a:rPr sz="1125" b="1">
                <a:solidFill>
                  <a:srgbClr val="0F8B8D"/>
                </a:solidFill>
                <a:latin typeface="Arial"/>
                <a:ea typeface="Arial"/>
                <a:cs typeface="Arial"/>
              </a:rPr>
              <a:t>Tuần 1</a:t>
            </a:r>
          </a:p>
        </p:txBody>
      </p:sp>
      <p:sp>
        <p:nvSpPr>
          <p:cNvPr id="7" name="">
            <a:extLst xmlns:a="http://schemas.openxmlformats.org/drawingml/2006/main">
              <a:ext uri="{FF2B5EF4-FFF2-40B4-BE49-F238E27FC236}">
                <a16:creationId xmlns:a16="http://schemas.microsoft.com/office/drawing/2014/main" id="{93A25BA5-DE67-434D-A215-0370CB59F672}"/>
              </a:ext>
            </a:extLst>
          </p:cNvPr>
          <p:cNvSpPr>
            <a:spLocks xmlns:a="http://schemas.openxmlformats.org/drawingml/2006/main" noGrp="1"/>
          </p:cNvSpPr>
          <p:nvPr/>
        </p:nvSpPr>
        <p:spPr>
          <a:xfrm xmlns:a="http://schemas.openxmlformats.org/drawingml/2006/main">
            <a:off x="9144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Thiết lập</a:t>
            </a:r>
          </a:p>
        </p:txBody>
      </p:sp>
      <p:sp>
        <p:nvSpPr>
          <p:cNvPr id="8" name="">
            <a:extLst xmlns:a="http://schemas.openxmlformats.org/drawingml/2006/main">
              <a:ext uri="{FF2B5EF4-FFF2-40B4-BE49-F238E27FC236}">
                <a16:creationId xmlns:a16="http://schemas.microsoft.com/office/drawing/2014/main" id="{DD289CDE-1313-49DE-9EF3-A4BB168D8B90}"/>
              </a:ext>
            </a:extLst>
          </p:cNvPr>
          <p:cNvSpPr>
            <a:spLocks xmlns:a="http://schemas.openxmlformats.org/drawingml/2006/main" noGrp="1"/>
          </p:cNvSpPr>
          <p:nvPr/>
        </p:nvSpPr>
        <p:spPr>
          <a:xfrm xmlns:a="http://schemas.openxmlformats.org/drawingml/2006/main">
            <a:off x="9144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Chốt công ty, nhà máy, staff, đối tác và quyền truy cập.</a:t>
            </a:r>
          </a:p>
        </p:txBody>
      </p:sp>
      <p:sp>
        <p:nvSpPr>
          <p:cNvPr id="9" name="">
            <a:extLst xmlns:a="http://schemas.openxmlformats.org/drawingml/2006/main">
              <a:ext uri="{FF2B5EF4-FFF2-40B4-BE49-F238E27FC236}">
                <a16:creationId xmlns:a16="http://schemas.microsoft.com/office/drawing/2014/main" id="{3C226C4E-664F-431B-94EC-D0F194C3E5FB}"/>
              </a:ext>
            </a:extLst>
          </p:cNvPr>
          <p:cNvSpPr>
            <a:spLocks xmlns:a="http://schemas.openxmlformats.org/drawingml/2006/main" noGrp="1"/>
          </p:cNvSpPr>
          <p:nvPr/>
        </p:nvSpPr>
        <p:spPr>
          <a:xfrm xmlns:a="http://schemas.openxmlformats.org/drawingml/2006/main">
            <a:off x="3086100" y="33337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0F8B8D"/>
                </a:solidFill>
                <a:latin typeface="Arial"/>
                <a:ea typeface="Arial"/>
                <a:cs typeface="Arial"/>
              </a:defRPr>
            </a:pPr>
            <a:r>
              <a:rPr sz="1800" b="1">
                <a:solidFill>
                  <a:srgbClr val="0F8B8D"/>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5E6D2789-A7E4-4B56-A685-825808FB28E5}"/>
              </a:ext>
            </a:extLst>
          </p:cNvPr>
          <p:cNvSpPr>
            <a:spLocks xmlns:a="http://schemas.openxmlformats.org/drawingml/2006/main" noGrp="1"/>
          </p:cNvSpPr>
          <p:nvPr/>
        </p:nvSpPr>
        <p:spPr>
          <a:xfrm xmlns:a="http://schemas.openxmlformats.org/drawingml/2006/main">
            <a:off x="33909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38BDF8"/>
            </a:solidFill>
          </a:ln>
        </p:spPr>
      </p:sp>
      <p:sp>
        <p:nvSpPr>
          <p:cNvPr id="11" name="">
            <a:extLst xmlns:a="http://schemas.openxmlformats.org/drawingml/2006/main">
              <a:ext uri="{FF2B5EF4-FFF2-40B4-BE49-F238E27FC236}">
                <a16:creationId xmlns:a16="http://schemas.microsoft.com/office/drawing/2014/main" id="{9FE9A7B1-19EB-40B9-A94E-E82A5631631F}"/>
              </a:ext>
            </a:extLst>
          </p:cNvPr>
          <p:cNvSpPr>
            <a:spLocks xmlns:a="http://schemas.openxmlformats.org/drawingml/2006/main" noGrp="1"/>
          </p:cNvSpPr>
          <p:nvPr/>
        </p:nvSpPr>
        <p:spPr>
          <a:xfrm xmlns:a="http://schemas.openxmlformats.org/drawingml/2006/main">
            <a:off x="3390900" y="2286000"/>
            <a:ext cx="2362200" cy="1143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ECEE8BE-C0F1-4148-A886-6DF04172FBD0}"/>
              </a:ext>
            </a:extLst>
          </p:cNvPr>
          <p:cNvSpPr>
            <a:spLocks xmlns:a="http://schemas.openxmlformats.org/drawingml/2006/main" noGrp="1"/>
          </p:cNvSpPr>
          <p:nvPr/>
        </p:nvSpPr>
        <p:spPr>
          <a:xfrm xmlns:a="http://schemas.openxmlformats.org/drawingml/2006/main">
            <a:off x="36195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38BDF8"/>
                </a:solidFill>
                <a:latin typeface="Arial"/>
                <a:ea typeface="Arial"/>
                <a:cs typeface="Arial"/>
              </a:defRPr>
            </a:pPr>
            <a:r>
              <a:rPr sz="1125" b="1">
                <a:solidFill>
                  <a:srgbClr val="38BDF8"/>
                </a:solidFill>
                <a:latin typeface="Arial"/>
                <a:ea typeface="Arial"/>
                <a:cs typeface="Arial"/>
              </a:rPr>
              <a:t>Tuần 2</a:t>
            </a:r>
          </a:p>
        </p:txBody>
      </p:sp>
      <p:sp>
        <p:nvSpPr>
          <p:cNvPr id="13" name="">
            <a:extLst xmlns:a="http://schemas.openxmlformats.org/drawingml/2006/main">
              <a:ext uri="{FF2B5EF4-FFF2-40B4-BE49-F238E27FC236}">
                <a16:creationId xmlns:a16="http://schemas.microsoft.com/office/drawing/2014/main" id="{3CD51EA6-6D27-482F-87F8-76FC819E9BA3}"/>
              </a:ext>
            </a:extLst>
          </p:cNvPr>
          <p:cNvSpPr>
            <a:spLocks xmlns:a="http://schemas.openxmlformats.org/drawingml/2006/main" noGrp="1"/>
          </p:cNvSpPr>
          <p:nvPr/>
        </p:nvSpPr>
        <p:spPr>
          <a:xfrm xmlns:a="http://schemas.openxmlformats.org/drawingml/2006/main">
            <a:off x="36195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Di chuyển dữ liệu</a:t>
            </a:r>
          </a:p>
        </p:txBody>
      </p:sp>
      <p:sp>
        <p:nvSpPr>
          <p:cNvPr id="14" name="">
            <a:extLst xmlns:a="http://schemas.openxmlformats.org/drawingml/2006/main">
              <a:ext uri="{FF2B5EF4-FFF2-40B4-BE49-F238E27FC236}">
                <a16:creationId xmlns:a16="http://schemas.microsoft.com/office/drawing/2014/main" id="{84DD8417-4172-4FD2-84B5-ADAD9A24BF63}"/>
              </a:ext>
            </a:extLst>
          </p:cNvPr>
          <p:cNvSpPr>
            <a:spLocks xmlns:a="http://schemas.openxmlformats.org/drawingml/2006/main" noGrp="1"/>
          </p:cNvSpPr>
          <p:nvPr/>
        </p:nvSpPr>
        <p:spPr>
          <a:xfrm xmlns:a="http://schemas.openxmlformats.org/drawingml/2006/main">
            <a:off x="36195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Nhập Excel theo template; xử lý các dòng lỗi còn lại.</a:t>
            </a:r>
          </a:p>
        </p:txBody>
      </p:sp>
      <p:sp>
        <p:nvSpPr>
          <p:cNvPr id="15" name="">
            <a:extLst xmlns:a="http://schemas.openxmlformats.org/drawingml/2006/main">
              <a:ext uri="{FF2B5EF4-FFF2-40B4-BE49-F238E27FC236}">
                <a16:creationId xmlns:a16="http://schemas.microsoft.com/office/drawing/2014/main" id="{79C1D198-7F0F-46A1-83D8-B75809F1536B}"/>
              </a:ext>
            </a:extLst>
          </p:cNvPr>
          <p:cNvSpPr>
            <a:spLocks xmlns:a="http://schemas.openxmlformats.org/drawingml/2006/main" noGrp="1"/>
          </p:cNvSpPr>
          <p:nvPr/>
        </p:nvSpPr>
        <p:spPr>
          <a:xfrm xmlns:a="http://schemas.openxmlformats.org/drawingml/2006/main">
            <a:off x="5791200" y="33337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0F8B8D"/>
                </a:solidFill>
                <a:latin typeface="Arial"/>
                <a:ea typeface="Arial"/>
                <a:cs typeface="Arial"/>
              </a:defRPr>
            </a:pPr>
            <a:r>
              <a:rPr sz="1800" b="1">
                <a:solidFill>
                  <a:srgbClr val="0F8B8D"/>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3A23348A-85DC-4164-848F-4718AE4B5BE4}"/>
              </a:ext>
            </a:extLst>
          </p:cNvPr>
          <p:cNvSpPr>
            <a:spLocks xmlns:a="http://schemas.openxmlformats.org/drawingml/2006/main" noGrp="1"/>
          </p:cNvSpPr>
          <p:nvPr/>
        </p:nvSpPr>
        <p:spPr>
          <a:xfrm xmlns:a="http://schemas.openxmlformats.org/drawingml/2006/main">
            <a:off x="60960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F59E0B"/>
            </a:solidFill>
          </a:ln>
        </p:spPr>
      </p:sp>
      <p:sp>
        <p:nvSpPr>
          <p:cNvPr id="17" name="">
            <a:extLst xmlns:a="http://schemas.openxmlformats.org/drawingml/2006/main">
              <a:ext uri="{FF2B5EF4-FFF2-40B4-BE49-F238E27FC236}">
                <a16:creationId xmlns:a16="http://schemas.microsoft.com/office/drawing/2014/main" id="{45385D87-19A6-46F6-A46F-622BAD75C498}"/>
              </a:ext>
            </a:extLst>
          </p:cNvPr>
          <p:cNvSpPr>
            <a:spLocks xmlns:a="http://schemas.openxmlformats.org/drawingml/2006/main" noGrp="1"/>
          </p:cNvSpPr>
          <p:nvPr/>
        </p:nvSpPr>
        <p:spPr>
          <a:xfrm xmlns:a="http://schemas.openxmlformats.org/drawingml/2006/main">
            <a:off x="6096000" y="2286000"/>
            <a:ext cx="2362200" cy="1143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E7D18FC-DD75-4851-8FBF-8774EC5A612D}"/>
              </a:ext>
            </a:extLst>
          </p:cNvPr>
          <p:cNvSpPr>
            <a:spLocks xmlns:a="http://schemas.openxmlformats.org/drawingml/2006/main" noGrp="1"/>
          </p:cNvSpPr>
          <p:nvPr/>
        </p:nvSpPr>
        <p:spPr>
          <a:xfrm xmlns:a="http://schemas.openxmlformats.org/drawingml/2006/main">
            <a:off x="63246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F59E0B"/>
                </a:solidFill>
                <a:latin typeface="Arial"/>
                <a:ea typeface="Arial"/>
                <a:cs typeface="Arial"/>
              </a:defRPr>
            </a:pPr>
            <a:r>
              <a:rPr sz="1125" b="1">
                <a:solidFill>
                  <a:srgbClr val="F59E0B"/>
                </a:solidFill>
                <a:latin typeface="Arial"/>
                <a:ea typeface="Arial"/>
                <a:cs typeface="Arial"/>
              </a:rPr>
              <a:t>Tuần 3</a:t>
            </a:r>
          </a:p>
        </p:txBody>
      </p:sp>
      <p:sp>
        <p:nvSpPr>
          <p:cNvPr id="19" name="">
            <a:extLst xmlns:a="http://schemas.openxmlformats.org/drawingml/2006/main">
              <a:ext uri="{FF2B5EF4-FFF2-40B4-BE49-F238E27FC236}">
                <a16:creationId xmlns:a16="http://schemas.microsoft.com/office/drawing/2014/main" id="{86A6B3EB-D22B-440C-8F66-FFC469429107}"/>
              </a:ext>
            </a:extLst>
          </p:cNvPr>
          <p:cNvSpPr>
            <a:spLocks xmlns:a="http://schemas.openxmlformats.org/drawingml/2006/main" noGrp="1"/>
          </p:cNvSpPr>
          <p:nvPr/>
        </p:nvSpPr>
        <p:spPr>
          <a:xfrm xmlns:a="http://schemas.openxmlformats.org/drawingml/2006/main">
            <a:off x="63246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Đưa vào nhịp</a:t>
            </a:r>
          </a:p>
        </p:txBody>
      </p:sp>
      <p:sp>
        <p:nvSpPr>
          <p:cNvPr id="20" name="">
            <a:extLst xmlns:a="http://schemas.openxmlformats.org/drawingml/2006/main">
              <a:ext uri="{FF2B5EF4-FFF2-40B4-BE49-F238E27FC236}">
                <a16:creationId xmlns:a16="http://schemas.microsoft.com/office/drawing/2014/main" id="{26266EF8-3BA5-418F-BC0E-422F84ABA8D3}"/>
              </a:ext>
            </a:extLst>
          </p:cNvPr>
          <p:cNvSpPr>
            <a:spLocks xmlns:a="http://schemas.openxmlformats.org/drawingml/2006/main" noGrp="1"/>
          </p:cNvSpPr>
          <p:nvPr/>
        </p:nvSpPr>
        <p:spPr>
          <a:xfrm xmlns:a="http://schemas.openxmlformats.org/drawingml/2006/main">
            <a:off x="63246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Chạy luồng hồ sơ, lịch sử đi làm, phê duyệt và công/lương.</a:t>
            </a:r>
          </a:p>
        </p:txBody>
      </p:sp>
      <p:sp>
        <p:nvSpPr>
          <p:cNvPr id="21" name="">
            <a:extLst xmlns:a="http://schemas.openxmlformats.org/drawingml/2006/main">
              <a:ext uri="{FF2B5EF4-FFF2-40B4-BE49-F238E27FC236}">
                <a16:creationId xmlns:a16="http://schemas.microsoft.com/office/drawing/2014/main" id="{7981D37B-E454-495D-887E-2DB9D77DC23B}"/>
              </a:ext>
            </a:extLst>
          </p:cNvPr>
          <p:cNvSpPr>
            <a:spLocks xmlns:a="http://schemas.openxmlformats.org/drawingml/2006/main" noGrp="1"/>
          </p:cNvSpPr>
          <p:nvPr/>
        </p:nvSpPr>
        <p:spPr>
          <a:xfrm xmlns:a="http://schemas.openxmlformats.org/drawingml/2006/main">
            <a:off x="8496300" y="33337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0F8B8D"/>
                </a:solidFill>
                <a:latin typeface="Arial"/>
                <a:ea typeface="Arial"/>
                <a:cs typeface="Arial"/>
              </a:defRPr>
            </a:pPr>
            <a:r>
              <a:rPr sz="1800" b="1">
                <a:solidFill>
                  <a:srgbClr val="0F8B8D"/>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3966BF12-3547-4073-BE58-1FA674424E32}"/>
              </a:ext>
            </a:extLst>
          </p:cNvPr>
          <p:cNvSpPr>
            <a:spLocks xmlns:a="http://schemas.openxmlformats.org/drawingml/2006/main" noGrp="1"/>
          </p:cNvSpPr>
          <p:nvPr/>
        </p:nvSpPr>
        <p:spPr>
          <a:xfrm xmlns:a="http://schemas.openxmlformats.org/drawingml/2006/main">
            <a:off x="88011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159A78"/>
            </a:solidFill>
          </a:ln>
        </p:spPr>
      </p:sp>
      <p:sp>
        <p:nvSpPr>
          <p:cNvPr id="23" name="">
            <a:extLst xmlns:a="http://schemas.openxmlformats.org/drawingml/2006/main">
              <a:ext uri="{FF2B5EF4-FFF2-40B4-BE49-F238E27FC236}">
                <a16:creationId xmlns:a16="http://schemas.microsoft.com/office/drawing/2014/main" id="{68A9A757-6350-4BBD-8926-4C3AB4485892}"/>
              </a:ext>
            </a:extLst>
          </p:cNvPr>
          <p:cNvSpPr>
            <a:spLocks xmlns:a="http://schemas.openxmlformats.org/drawingml/2006/main" noGrp="1"/>
          </p:cNvSpPr>
          <p:nvPr/>
        </p:nvSpPr>
        <p:spPr>
          <a:xfrm xmlns:a="http://schemas.openxmlformats.org/drawingml/2006/main">
            <a:off x="8801100" y="2286000"/>
            <a:ext cx="2362200" cy="114300"/>
          </a:xfrm>
          <a:prstGeom xmlns:a="http://schemas.openxmlformats.org/drawingml/2006/main" prst="roundRect">
            <a:avLst>
              <a:gd name="adj" fmla="val 50000"/>
            </a:avLst>
          </a:prstGeom>
          <a:solidFill xmlns:a="http://schemas.openxmlformats.org/drawingml/2006/main">
            <a:srgbClr val="159A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FC9C5EE-C71C-4DC0-BC34-C57EEED62F44}"/>
              </a:ext>
            </a:extLst>
          </p:cNvPr>
          <p:cNvSpPr>
            <a:spLocks xmlns:a="http://schemas.openxmlformats.org/drawingml/2006/main" noGrp="1"/>
          </p:cNvSpPr>
          <p:nvPr/>
        </p:nvSpPr>
        <p:spPr>
          <a:xfrm xmlns:a="http://schemas.openxmlformats.org/drawingml/2006/main">
            <a:off x="90297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159A78"/>
                </a:solidFill>
                <a:latin typeface="Arial"/>
                <a:ea typeface="Arial"/>
                <a:cs typeface="Arial"/>
              </a:defRPr>
            </a:pPr>
            <a:r>
              <a:rPr sz="1125" b="1">
                <a:solidFill>
                  <a:srgbClr val="159A78"/>
                </a:solidFill>
                <a:latin typeface="Arial"/>
                <a:ea typeface="Arial"/>
                <a:cs typeface="Arial"/>
              </a:rPr>
              <a:t>Tuần 4</a:t>
            </a:r>
          </a:p>
        </p:txBody>
      </p:sp>
      <p:sp>
        <p:nvSpPr>
          <p:cNvPr id="25" name="">
            <a:extLst xmlns:a="http://schemas.openxmlformats.org/drawingml/2006/main">
              <a:ext uri="{FF2B5EF4-FFF2-40B4-BE49-F238E27FC236}">
                <a16:creationId xmlns:a16="http://schemas.microsoft.com/office/drawing/2014/main" id="{0BBB4EFF-4946-4D14-A358-366BAB2B664D}"/>
              </a:ext>
            </a:extLst>
          </p:cNvPr>
          <p:cNvSpPr>
            <a:spLocks xmlns:a="http://schemas.openxmlformats.org/drawingml/2006/main" noGrp="1"/>
          </p:cNvSpPr>
          <p:nvPr/>
        </p:nvSpPr>
        <p:spPr>
          <a:xfrm xmlns:a="http://schemas.openxmlformats.org/drawingml/2006/main">
            <a:off x="90297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Đo và mở rộng</a:t>
            </a:r>
          </a:p>
        </p:txBody>
      </p:sp>
      <p:sp>
        <p:nvSpPr>
          <p:cNvPr id="26" name="">
            <a:extLst xmlns:a="http://schemas.openxmlformats.org/drawingml/2006/main">
              <a:ext uri="{FF2B5EF4-FFF2-40B4-BE49-F238E27FC236}">
                <a16:creationId xmlns:a16="http://schemas.microsoft.com/office/drawing/2014/main" id="{6F32D787-7335-42D7-97D8-BEEF74648178}"/>
              </a:ext>
            </a:extLst>
          </p:cNvPr>
          <p:cNvSpPr>
            <a:spLocks xmlns:a="http://schemas.openxmlformats.org/drawingml/2006/main" noGrp="1"/>
          </p:cNvSpPr>
          <p:nvPr/>
        </p:nvSpPr>
        <p:spPr>
          <a:xfrm xmlns:a="http://schemas.openxmlformats.org/drawingml/2006/main">
            <a:off x="90297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Đo giờ đối soát, lỗi dữ liệu, thời gian ra báo cáo; chọn gói phù hợp.</a:t>
            </a:r>
          </a:p>
        </p:txBody>
      </p:sp>
      <p:sp>
        <p:nvSpPr>
          <p:cNvPr id="27" name="">
            <a:extLst xmlns:a="http://schemas.openxmlformats.org/drawingml/2006/main">
              <a:ext uri="{FF2B5EF4-FFF2-40B4-BE49-F238E27FC236}">
                <a16:creationId xmlns:a16="http://schemas.microsoft.com/office/drawing/2014/main" id="{1BB7514C-C48F-4E02-8BA2-2BAA847EA237}"/>
              </a:ext>
            </a:extLst>
          </p:cNvPr>
          <p:cNvSpPr>
            <a:spLocks xmlns:a="http://schemas.openxmlformats.org/drawingml/2006/main" noGrp="1"/>
          </p:cNvSpPr>
          <p:nvPr/>
        </p:nvSpPr>
        <p:spPr>
          <a:xfrm xmlns:a="http://schemas.openxmlformats.org/drawingml/2006/main">
            <a:off x="685800" y="5219700"/>
            <a:ext cx="10820400" cy="628650"/>
          </a:xfrm>
          <a:prstGeom xmlns:a="http://schemas.openxmlformats.org/drawingml/2006/main" prst="roundRect">
            <a:avLst>
              <a:gd name="adj" fmla="val 24242"/>
            </a:avLst>
          </a:prstGeom>
          <a:solidFill xmlns:a="http://schemas.openxmlformats.org/drawingml/2006/main">
            <a:srgbClr val="0B253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318BA02-B40B-41DC-A612-12FBDD350CEF}"/>
              </a:ext>
            </a:extLst>
          </p:cNvPr>
          <p:cNvSpPr>
            <a:spLocks xmlns:a="http://schemas.openxmlformats.org/drawingml/2006/main" noGrp="1"/>
          </p:cNvSpPr>
          <p:nvPr/>
        </p:nvSpPr>
        <p:spPr>
          <a:xfrm xmlns:a="http://schemas.openxmlformats.org/drawingml/2006/main">
            <a:off x="95250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Đầu ra sau pilot: số liệu trước/sau, danh sách lỗi đã giảm và đề xuất gói theo quy mô thật.</a:t>
            </a:r>
          </a:p>
        </p:txBody>
      </p:sp>
      <p:sp>
        <p:nvSpPr>
          <p:cNvPr id="29" name="">
            <a:extLst xmlns:a="http://schemas.openxmlformats.org/drawingml/2006/main">
              <a:ext uri="{FF2B5EF4-FFF2-40B4-BE49-F238E27FC236}">
                <a16:creationId xmlns:a16="http://schemas.microsoft.com/office/drawing/2014/main" id="{33BD8662-E6B8-4FEC-B9CE-BA8E80E558E2}"/>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0" name="">
            <a:extLst xmlns:a="http://schemas.openxmlformats.org/drawingml/2006/main">
              <a:ext uri="{FF2B5EF4-FFF2-40B4-BE49-F238E27FC236}">
                <a16:creationId xmlns:a16="http://schemas.microsoft.com/office/drawing/2014/main" id="{D035A8E3-63DE-4E9E-B9DB-9262F8B5CA1D}"/>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09</a:t>
            </a:r>
          </a:p>
        </p:txBody>
      </p:sp>
    </p:spTree>
    <p:extLst>
      <p:ext uri="{BB962C8B-B14F-4D97-AF65-F5344CB8AC3E}">
        <p14:creationId xmlns:p14="http://schemas.microsoft.com/office/powerpoint/2010/main" val="908775891"/>
      </p:ext>
    </p:extLst>
  </p:cSld>
</p:sld>
</file>

<file path=ppt/slides/slide10.xml><?xml version="1.0" encoding="utf-8"?>
<p:sld xmlns:p="http://schemas.openxmlformats.org/presentationml/2006/main">
  <p:cSld>
    <p:bg>
      <p:bgPr>
        <a:solidFill xmlns:a="http://schemas.openxmlformats.org/drawingml/2006/main">
          <a:srgbClr val="0B253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CFD0E8-BD72-4355-9FC5-2A0BDDEB4EC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3C7D6D-210A-431C-858E-98B5966AA727}"/>
              </a:ext>
            </a:extLst>
          </p:cNvPr>
          <p:cNvSpPr>
            <a:spLocks xmlns:a="http://schemas.openxmlformats.org/drawingml/2006/main" noGrp="1"/>
          </p:cNvSpPr>
          <p:nvPr/>
        </p:nvSpPr>
        <p:spPr>
          <a:xfrm xmlns:a="http://schemas.openxmlformats.org/drawingml/2006/main">
            <a:off x="876300" y="1352550"/>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Bắt đầu với gói Khởi động</a:t>
            </a:r>
          </a:p>
        </p:txBody>
      </p:sp>
      <p:sp>
        <p:nvSpPr>
          <p:cNvPr id="3" name="">
            <a:extLst xmlns:a="http://schemas.openxmlformats.org/drawingml/2006/main">
              <a:ext uri="{FF2B5EF4-FFF2-40B4-BE49-F238E27FC236}">
                <a16:creationId xmlns:a16="http://schemas.microsoft.com/office/drawing/2014/main" id="{E3463821-17FC-48BD-87F4-7642E2E02E6B}"/>
              </a:ext>
            </a:extLst>
          </p:cNvPr>
          <p:cNvSpPr>
            <a:spLocks xmlns:a="http://schemas.openxmlformats.org/drawingml/2006/main" noGrp="1"/>
          </p:cNvSpPr>
          <p:nvPr/>
        </p:nvSpPr>
        <p:spPr>
          <a:xfrm xmlns:a="http://schemas.openxmlformats.org/drawingml/2006/main">
            <a:off x="895350" y="226695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550" b="1">
                <a:solidFill>
                  <a:srgbClr val="F59E0B"/>
                </a:solidFill>
                <a:latin typeface="Arial"/>
                <a:ea typeface="Arial"/>
                <a:cs typeface="Arial"/>
              </a:defRPr>
            </a:pPr>
            <a:r>
              <a:rPr sz="2550" b="1">
                <a:solidFill>
                  <a:srgbClr val="F59E0B"/>
                </a:solidFill>
                <a:latin typeface="Arial"/>
                <a:ea typeface="Arial"/>
                <a:cs typeface="Arial"/>
              </a:rPr>
              <a:t>500.000 đ / tháng</a:t>
            </a:r>
          </a:p>
        </p:txBody>
      </p:sp>
      <p:sp>
        <p:nvSpPr>
          <p:cNvPr id="4" name="">
            <a:extLst xmlns:a="http://schemas.openxmlformats.org/drawingml/2006/main">
              <a:ext uri="{FF2B5EF4-FFF2-40B4-BE49-F238E27FC236}">
                <a16:creationId xmlns:a16="http://schemas.microsoft.com/office/drawing/2014/main" id="{3FFFD471-18B2-440F-B3B0-C3994EA4D0AA}"/>
              </a:ext>
            </a:extLst>
          </p:cNvPr>
          <p:cNvSpPr>
            <a:spLocks xmlns:a="http://schemas.openxmlformats.org/drawingml/2006/main" noGrp="1"/>
          </p:cNvSpPr>
          <p:nvPr/>
        </p:nvSpPr>
        <p:spPr>
          <a:xfrm xmlns:a="http://schemas.openxmlformats.org/drawingml/2006/main">
            <a:off x="895350" y="297180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0">
                <a:solidFill>
                  <a:srgbClr val="D9F5F3"/>
                </a:solidFill>
                <a:latin typeface="Arial"/>
                <a:ea typeface="Arial"/>
                <a:cs typeface="Arial"/>
              </a:defRPr>
            </a:pPr>
            <a:r>
              <a:rPr sz="1650" b="0">
                <a:solidFill>
                  <a:srgbClr val="D9F5F3"/>
                </a:solidFill>
                <a:latin typeface="Arial"/>
                <a:ea typeface="Arial"/>
                <a:cs typeface="Arial"/>
              </a:rPr>
              <a:t>500 lịch sử đi làm · 5 staff · 5 đối tác · 5 nhà máy</a:t>
            </a:r>
          </a:p>
        </p:txBody>
      </p:sp>
      <p:sp>
        <p:nvSpPr>
          <p:cNvPr id="5" name="">
            <a:extLst xmlns:a="http://schemas.openxmlformats.org/drawingml/2006/main">
              <a:ext uri="{FF2B5EF4-FFF2-40B4-BE49-F238E27FC236}">
                <a16:creationId xmlns:a16="http://schemas.microsoft.com/office/drawing/2014/main" id="{B8FB63B5-F3A8-4237-A69F-3E8B1C03431A}"/>
              </a:ext>
            </a:extLst>
          </p:cNvPr>
          <p:cNvSpPr>
            <a:spLocks xmlns:a="http://schemas.openxmlformats.org/drawingml/2006/main" noGrp="1"/>
          </p:cNvSpPr>
          <p:nvPr/>
        </p:nvSpPr>
        <p:spPr>
          <a:xfrm xmlns:a="http://schemas.openxmlformats.org/drawingml/2006/main">
            <a:off x="895350" y="3886200"/>
            <a:ext cx="5143500" cy="723900"/>
          </a:xfrm>
          <a:prstGeom xmlns:a="http://schemas.openxmlformats.org/drawingml/2006/main" prst="roundRect">
            <a:avLst>
              <a:gd name="adj" fmla="val 23684"/>
            </a:avLst>
          </a:prstGeom>
          <a:solidFill xmlns:a="http://schemas.openxmlformats.org/drawingml/2006/main">
            <a:srgbClr val="0F8B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13EA9E6-6335-4CAF-B3A0-A083E25C307E}"/>
              </a:ext>
            </a:extLst>
          </p:cNvPr>
          <p:cNvSpPr>
            <a:spLocks xmlns:a="http://schemas.openxmlformats.org/drawingml/2006/main" noGrp="1"/>
          </p:cNvSpPr>
          <p:nvPr/>
        </p:nvSpPr>
        <p:spPr>
          <a:xfrm xmlns:a="http://schemas.openxmlformats.org/drawingml/2006/main">
            <a:off x="1162050" y="4095750"/>
            <a:ext cx="461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Mục tiêu đầu tiên: một nguồn dữ liệu mà cả công ty cùng tin.</a:t>
            </a:r>
          </a:p>
        </p:txBody>
      </p:sp>
      <p:sp>
        <p:nvSpPr>
          <p:cNvPr id="7" name="">
            <a:extLst xmlns:a="http://schemas.openxmlformats.org/drawingml/2006/main">
              <a:ext uri="{FF2B5EF4-FFF2-40B4-BE49-F238E27FC236}">
                <a16:creationId xmlns:a16="http://schemas.microsoft.com/office/drawing/2014/main" id="{90ADEE09-C13C-445B-8D29-93A157B966DD}"/>
              </a:ext>
            </a:extLst>
          </p:cNvPr>
          <p:cNvSpPr>
            <a:spLocks xmlns:a="http://schemas.openxmlformats.org/drawingml/2006/main" noGrp="1"/>
          </p:cNvSpPr>
          <p:nvPr/>
        </p:nvSpPr>
        <p:spPr>
          <a:xfrm xmlns:a="http://schemas.openxmlformats.org/drawingml/2006/main">
            <a:off x="895350" y="565785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B7D1D3"/>
                </a:solidFill>
                <a:latin typeface="Arial"/>
                <a:ea typeface="Arial"/>
                <a:cs typeface="Arial"/>
              </a:defRPr>
            </a:pPr>
            <a:r>
              <a:rPr sz="1425" b="0">
                <a:solidFill>
                  <a:srgbClr val="B7D1D3"/>
                </a:solidFill>
                <a:latin typeface="Arial"/>
                <a:ea typeface="Arial"/>
                <a:cs typeface="Arial"/>
              </a:rPr>
              <a:t>Đề xuất tiếp theo: chọn một công ty hoặc một cụm nhà máy để chạy pilot 30 ngày.</a:t>
            </a:r>
          </a:p>
        </p:txBody>
      </p:sp>
      <p:sp>
        <p:nvSpPr>
          <p:cNvPr id="8" name="">
            <a:extLst xmlns:a="http://schemas.openxmlformats.org/drawingml/2006/main">
              <a:ext uri="{FF2B5EF4-FFF2-40B4-BE49-F238E27FC236}">
                <a16:creationId xmlns:a16="http://schemas.microsoft.com/office/drawing/2014/main" id="{7A262CD1-A22D-4AAE-AFD3-68EA4A19D694}"/>
              </a:ext>
            </a:extLst>
          </p:cNvPr>
          <p:cNvSpPr>
            <a:spLocks xmlns:a="http://schemas.openxmlformats.org/drawingml/2006/main" noGrp="1"/>
          </p:cNvSpPr>
          <p:nvPr/>
        </p:nvSpPr>
        <p:spPr>
          <a:xfrm xmlns:a="http://schemas.openxmlformats.org/drawingml/2006/main">
            <a:off x="9639300" y="592455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200" b="1">
                <a:solidFill>
                  <a:srgbClr val="FFFFFF"/>
                </a:solidFill>
                <a:latin typeface="Arial"/>
                <a:ea typeface="Arial"/>
                <a:cs typeface="Arial"/>
              </a:defRPr>
            </a:pPr>
            <a:r>
              <a:rPr sz="1200" b="1">
                <a:solidFill>
                  <a:srgbClr val="FFFFFF"/>
                </a:solidFill>
                <a:latin typeface="Arial"/>
                <a:ea typeface="Arial"/>
                <a:cs typeface="Arial"/>
              </a:rPr>
              <a:t>Tuyển dụng 4.0</a:t>
            </a:r>
          </a:p>
        </p:txBody>
      </p:sp>
    </p:spTree>
    <p:extLst>
      <p:ext uri="{BB962C8B-B14F-4D97-AF65-F5344CB8AC3E}">
        <p14:creationId xmlns:p14="http://schemas.microsoft.com/office/powerpoint/2010/main" val="8497427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2026-09-04T15:34:49.7920000Z</dcterms:created>
  <dcterms:modified xsi:type="dcterms:W3CDTF">2026-09-04T15:34:49.7920000Z</dcterms:modified>
</coreProperties>
</file>