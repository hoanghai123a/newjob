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d31519570484499" /><Relationship Type="http://schemas.openxmlformats.org/officeDocument/2006/relationships/extended-properties" Target="/docProps/app.xml" Id="Rdcd6f4b82da1479b" /><Relationship Type="http://schemas.openxmlformats.org/officeDocument/2006/relationships/officeDocument" Target="/ppt/presentation.xml" Id="Rf9197f471a7f48ad" /></Relationships>
</file>

<file path=ppt/presentation.xml><?xml version="1.0" encoding="utf-8"?>
<p:presentation xmlns:p="http://schemas.openxmlformats.org/presentationml/2006/main">
  <p:sldMasterIdLst>
    <p:sldMasterId xmlns:r="http://schemas.openxmlformats.org/officeDocument/2006/relationships" id="2147483648" r:id="Rf66b0e380d4d4e2d"/>
  </p:sldMasterIdLst>
  <p:notesMasterIdLst>
    <p:notesMasterId xmlns:r="http://schemas.openxmlformats.org/officeDocument/2006/relationships" r:id="R573fe4b0be224791"/>
  </p:notesMasterIdLst>
  <p:sldIdLst>
    <p:sldId xmlns:r="http://schemas.openxmlformats.org/officeDocument/2006/relationships" id="256" r:id="R10353c6339d84edc"/>
    <p:sldId xmlns:r="http://schemas.openxmlformats.org/officeDocument/2006/relationships" id="257" r:id="R760f4363bd564031"/>
    <p:sldId xmlns:r="http://schemas.openxmlformats.org/officeDocument/2006/relationships" id="258" r:id="R99ad90c69a1b4d28"/>
    <p:sldId xmlns:r="http://schemas.openxmlformats.org/officeDocument/2006/relationships" id="259" r:id="R74ccc3dc23ae42ed"/>
    <p:sldId xmlns:r="http://schemas.openxmlformats.org/officeDocument/2006/relationships" id="260" r:id="R4dd0adfdac0d4d27"/>
    <p:sldId xmlns:r="http://schemas.openxmlformats.org/officeDocument/2006/relationships" id="261" r:id="Rfaa4a66bed8545ea"/>
    <p:sldId xmlns:r="http://schemas.openxmlformats.org/officeDocument/2006/relationships" id="262" r:id="Rf46d3842500542f7"/>
    <p:sldId xmlns:r="http://schemas.openxmlformats.org/officeDocument/2006/relationships" id="263" r:id="R1818ca917af94181"/>
    <p:sldId xmlns:r="http://schemas.openxmlformats.org/officeDocument/2006/relationships" id="264" r:id="R86026b519d954fab"/>
    <p:sldId xmlns:r="http://schemas.openxmlformats.org/officeDocument/2006/relationships" id="265" r:id="Ra5560ca72ce44e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7b95ea9ccb4f73" /><Relationship Type="http://schemas.openxmlformats.org/officeDocument/2006/relationships/slideMaster" Target="/ppt/slideMasters/slideMaster1.xml" Id="Rf66b0e380d4d4e2d" /><Relationship Type="http://schemas.openxmlformats.org/officeDocument/2006/relationships/notesMaster" Target="/ppt/notesMasters/notesMaster1.xml" Id="R573fe4b0be224791" /><Relationship Type="http://schemas.openxmlformats.org/officeDocument/2006/relationships/presProps" Target="/ppt/presProps.xml" Id="R9ae434b491c9467a" /><Relationship Type="http://schemas.openxmlformats.org/officeDocument/2006/relationships/tableStyles" Target="/ppt/tableStyles.xml" Id="R3f0517a9847c430e" /><Relationship Type="http://schemas.openxmlformats.org/officeDocument/2006/relationships/slide" Target="/ppt/slides/slide1.xml" Id="R10353c6339d84edc" /><Relationship Type="http://schemas.openxmlformats.org/officeDocument/2006/relationships/slide" Target="/ppt/slides/slide2.xml" Id="R760f4363bd564031" /><Relationship Type="http://schemas.openxmlformats.org/officeDocument/2006/relationships/slide" Target="/ppt/slides/slide3.xml" Id="R99ad90c69a1b4d28" /><Relationship Type="http://schemas.openxmlformats.org/officeDocument/2006/relationships/slide" Target="/ppt/slides/slide4.xml" Id="R74ccc3dc23ae42ed" /><Relationship Type="http://schemas.openxmlformats.org/officeDocument/2006/relationships/slide" Target="/ppt/slides/slide5.xml" Id="R4dd0adfdac0d4d27" /><Relationship Type="http://schemas.openxmlformats.org/officeDocument/2006/relationships/slide" Target="/ppt/slides/slide6.xml" Id="Rfaa4a66bed8545ea" /><Relationship Type="http://schemas.openxmlformats.org/officeDocument/2006/relationships/slide" Target="/ppt/slides/slide7.xml" Id="Rf46d3842500542f7" /><Relationship Type="http://schemas.openxmlformats.org/officeDocument/2006/relationships/slide" Target="/ppt/slides/slide8.xml" Id="R1818ca917af94181" /><Relationship Type="http://schemas.openxmlformats.org/officeDocument/2006/relationships/slide" Target="/ppt/slides/slide9.xml" Id="R86026b519d954fab" /><Relationship Type="http://schemas.openxmlformats.org/officeDocument/2006/relationships/slide" Target="/ppt/slides/slide10.xml" Id="Ra5560ca72ce44e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24e3d6b8f34b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c7433a1c924c65" /><Relationship Type="http://schemas.openxmlformats.org/officeDocument/2006/relationships/notesMaster" Target="/ppt/notesMasters/notesMaster1.xml" Id="Reafcb5a3fd3840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10c6ca0abf4853" /><Relationship Type="http://schemas.openxmlformats.org/officeDocument/2006/relationships/notesMaster" Target="/ppt/notesMasters/notesMaster1.xml" Id="Rafceed57df0f41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539ba100aa49e4" /><Relationship Type="http://schemas.openxmlformats.org/officeDocument/2006/relationships/notesMaster" Target="/ppt/notesMasters/notesMaster1.xml" Id="R4296ec6a28cf4e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15669f275a4692" /><Relationship Type="http://schemas.openxmlformats.org/officeDocument/2006/relationships/notesMaster" Target="/ppt/notesMasters/notesMaster1.xml" Id="Rf2fcd029343a4a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86db090b7347e0" /><Relationship Type="http://schemas.openxmlformats.org/officeDocument/2006/relationships/notesMaster" Target="/ppt/notesMasters/notesMaster1.xml" Id="R5f31d41a9d6747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c1cd6f6250440a" /><Relationship Type="http://schemas.openxmlformats.org/officeDocument/2006/relationships/notesMaster" Target="/ppt/notesMasters/notesMaster1.xml" Id="R1b1e2ff763784e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b352d7ca6c4b98" /><Relationship Type="http://schemas.openxmlformats.org/officeDocument/2006/relationships/notesMaster" Target="/ppt/notesMasters/notesMaster1.xml" Id="Rcfb25b57494845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b058c891fa46b6" /><Relationship Type="http://schemas.openxmlformats.org/officeDocument/2006/relationships/notesMaster" Target="/ppt/notesMasters/notesMaster1.xml" Id="R28e204ec9f2242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fe974020094b35" /><Relationship Type="http://schemas.openxmlformats.org/officeDocument/2006/relationships/notesMaster" Target="/ppt/notesMasters/notesMaster1.xml" Id="R64dcf69e3a1044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85d5e0e94c4d09" /><Relationship Type="http://schemas.openxmlformats.org/officeDocument/2006/relationships/notesMaster" Target="/ppt/notesMasters/notesMaster1.xml" Id="Re9a0d7105dbf4f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nhận diện ứng dụng từ public/icons/app-icon-512.png. Nội dung tính năng đối chiếu PROJECT_MAP.md và mã nguồn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hệ quả là tổng hợp vấn đề vận hành được mô tả trong yêu cầu thương mại hóa. Đây là framing bán hàng, không phải số liệu khảo sát thị trường.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src/lib/employment.ts, src/lib/recruiters.ts, src/lib/staff-log.ts, src/lib/salary.ts và PROJECT_MAP.md.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PROJECT_MAP.md; src/routes/_authenticated/admin/workforce.tsx; src/routes/_authenticated/admin/imports.tsx; src/lib/salary.ts; src/lib/uid-counter.ts; src/components/admin/AccountActivityStats.tsx.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tổng hợp lợi ích định tính từ các luồng tính năng hiện có. Không gắn số liệu năng suất chưa được đo tại khách hàng.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dashboard nhân lực và các component workforce / approval / hour-stats trong PROJECT_MAP.md.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đề xuất giá tham khảo theo yêu cầu người dùng, không phải bảng giá đã được phê duyệt. Hạn mức minh họa: lịch sử đi làm, tài khoản staff, đối tác và nhà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Biểu đồ không phải số liệu khách hàng. Giả định minh họa: 10 giờ đối soát giảm mỗi tháng x 120.000 đ/giờ = 1,2 triệu đ; các gói lớn dùng giả định thời gian tiết kiệm cao hơn để minh họa logic định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Lộ trình là đề xuất triển khai thương mại, không phải tính năng đã có sẵn trong ứng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CTA cho buổi bán hàng. Giá và pilot cần được phê duyệt trước khi công bố chính thức.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c5c8ae7c3c47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1ed43171bf4e09" /><Relationship Type="http://schemas.openxmlformats.org/officeDocument/2006/relationships/slideLayout" Target="/ppt/slideLayouts/slideLayout1.xml" Id="R1a288e2a298c40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288e2a298c40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6cf990afb1462f" /><Relationship Type="http://schemas.openxmlformats.org/officeDocument/2006/relationships/image" Target="/ppt/media/image.png" Id="Rfb5c494113884fe9" /><Relationship Type="http://schemas.openxmlformats.org/officeDocument/2006/relationships/notesSlide" Target="/ppt/notesSlides/notesSlide1.xml" Id="R5c4b77f27fb041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2edd11ab5b4c37" /><Relationship Type="http://schemas.openxmlformats.org/officeDocument/2006/relationships/notesSlide" Target="/ppt/notesSlides/notesSlide2.xml" Id="R70fd73e800354f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28c1ca8d884189" /><Relationship Type="http://schemas.openxmlformats.org/officeDocument/2006/relationships/notesSlide" Target="/ppt/notesSlides/notesSlide3.xml" Id="Rd3fbdc2288ab4b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a97eb2db8c421e" /><Relationship Type="http://schemas.openxmlformats.org/officeDocument/2006/relationships/notesSlide" Target="/ppt/notesSlides/notesSlide4.xml" Id="Ra7053fd9c04742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d624b46f7a34180" /><Relationship Type="http://schemas.openxmlformats.org/officeDocument/2006/relationships/notesSlide" Target="/ppt/notesSlides/notesSlide5.xml" Id="R89c7355f7bae4d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09f647e1254530" /><Relationship Type="http://schemas.openxmlformats.org/officeDocument/2006/relationships/notesSlide" Target="/ppt/notesSlides/notesSlide6.xml" Id="R23180189103c44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ef8b693c5e84987" /><Relationship Type="http://schemas.openxmlformats.org/officeDocument/2006/relationships/notesSlide" Target="/ppt/notesSlides/notesSlide7.xml" Id="Rfff5866c4c384f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2645ab5e964cfe" /><Relationship Type="http://schemas.openxmlformats.org/officeDocument/2006/relationships/chart" Target="/ppt/slides/charts/chart1.xml" Id="Rb62c1e3fa5fb4c2b" /><Relationship Type="http://schemas.openxmlformats.org/officeDocument/2006/relationships/notesSlide" Target="/ppt/notesSlides/notesSlide8.xml" Id="R146168a5367a4c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c15f5989ba64658" /><Relationship Type="http://schemas.openxmlformats.org/officeDocument/2006/relationships/notesSlide" Target="/ppt/notesSlides/notesSlide9.xml" Id="Rc1022a5b547a44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476607d30949c9" /><Relationship Type="http://schemas.openxmlformats.org/officeDocument/2006/relationships/notesSlide" Target="/ppt/notesSlides/notesSlide10.xml" Id="Rd6ae075f65fb400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Giá gói (triệu đ)</c:v>
          </c:tx>
          <c:spPr>
            <a:solidFill xmlns:a="http://schemas.openxmlformats.org/drawingml/2006/main">
              <a:srgbClr val="0B2538"/>
            </a:solidFill>
          </c:spPr>
          <c:cat>
            <c:strRef>
              <c:f>'Chart Data'!$A$2:$A$5</c:f>
              <c:strCache>
                <c:ptCount val="4"/>
                <c:pt idx="0">
                  <c:v>Khởi động</c:v>
                </c:pt>
                <c:pt idx="1">
                  <c:v>Tăng trưởng</c:v>
                </c:pt>
                <c:pt idx="2">
                  <c:v>Chuyên nghiệp</c:v>
                </c:pt>
                <c:pt idx="3">
                  <c:v>Doanh nghiệp</c:v>
                </c:pt>
              </c:strCache>
            </c:strRef>
          </c:cat>
          <c:val>
            <c:numRef>
              <c:f>'Chart Data'!$B$2:$B$5</c:f>
              <c:numCache>
                <c:formatCode>0.0</c:formatCode>
                <c:ptCount val="4"/>
                <c:pt idx="0">
                  <c:v>0.5</c:v>
                </c:pt>
                <c:pt idx="1">
                  <c:v>1.5</c:v>
                </c:pt>
                <c:pt idx="2">
                  <c:v>3</c:v>
                </c:pt>
                <c:pt idx="3">
                  <c:v>5</c:v>
                </c:pt>
              </c:numCache>
            </c:numRef>
          </c:val>
        </c:ser>
        <c:ser>
          <c:idx val="1"/>
          <c:order val="1"/>
          <c:tx>
            <c:v>Giá trị thời gian (triệu đ)</c:v>
          </c:tx>
          <c:spPr>
            <a:solidFill xmlns:a="http://schemas.openxmlformats.org/drawingml/2006/main">
              <a:srgbClr val="0F8B8D"/>
            </a:solidFill>
          </c:spPr>
          <c:cat>
            <c:strRef>
              <c:f>'Chart Data'!$C$2:$C$5</c:f>
              <c:strCache>
                <c:ptCount val="4"/>
                <c:pt idx="0">
                  <c:v>Khởi động</c:v>
                </c:pt>
                <c:pt idx="1">
                  <c:v>Tăng trưởng</c:v>
                </c:pt>
                <c:pt idx="2">
                  <c:v>Chuyên nghiệp</c:v>
                </c:pt>
                <c:pt idx="3">
                  <c:v>Doanh nghiệp</c:v>
                </c:pt>
              </c:strCache>
            </c:strRef>
          </c:cat>
          <c:val>
            <c:numRef>
              <c:f>'Chart Data'!$D$2:$D$5</c:f>
              <c:numCache>
                <c:formatCode>0.0</c:formatCode>
                <c:ptCount val="4"/>
                <c:pt idx="0">
                  <c:v>1.2</c:v>
                </c:pt>
                <c:pt idx="1">
                  <c:v>3.2</c:v>
                </c:pt>
                <c:pt idx="2">
                  <c:v>5.8</c:v>
                </c:pt>
                <c:pt idx="3">
                  <c:v>9.5</c:v>
                </c:pt>
              </c:numCache>
            </c:numRef>
          </c:val>
        </c:ser>
        <c:dLbls>
          <c:txPr>
            <a:bodyPr xmlns:a="http://schemas.openxmlformats.org/drawingml/2006/main" anchorCtr="1"/>
            <a:lstStyle xmlns:a="http://schemas.openxmlformats.org/drawingml/2006/main"/>
            <a:p xmlns:a="http://schemas.openxmlformats.org/drawingml/2006/main">
              <a:pPr>
                <a:defRPr sz="900" b="1">
                  <a:solidFill>
                    <a:srgbClr val="12212B"/>
                  </a:solidFill>
                  <a:latin typeface="Arial"/>
                  <a:ea typeface="Arial"/>
                  <a:cs typeface="Aria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06D"/>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8E5E5"/>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Triệu đồng / tháng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06D"/>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52606D"/>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253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7DA51A-3A2A-4C20-90E9-A4D253B8865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F8B8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AFC452-FB5A-4795-B49E-C6ECD2FECF28}"/>
              </a:ext>
            </a:extLst>
          </p:cNvPr>
          <p:cNvSpPr>
            <a:spLocks xmlns:a="http://schemas.openxmlformats.org/drawingml/2006/main" noGrp="1"/>
          </p:cNvSpPr>
          <p:nvPr/>
        </p:nvSpPr>
        <p:spPr>
          <a:xfrm xmlns:a="http://schemas.openxmlformats.org/drawingml/2006/main">
            <a:off x="8667750" y="0"/>
            <a:ext cx="3524250" cy="6858000"/>
          </a:xfrm>
          <a:prstGeom xmlns:a="http://schemas.openxmlformats.org/drawingml/2006/main" prst="rect">
            <a:avLst/>
          </a:prstGeom>
          <a:solidFill xmlns:a="http://schemas.openxmlformats.org/drawingml/2006/main">
            <a:srgbClr val="0F8B8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F71256A-A5CC-4798-B6A3-1333170D2358}"/>
              </a:ext>
            </a:extLst>
          </p:cNvPr>
          <p:cNvSpPr>
            <a:spLocks xmlns:a="http://schemas.openxmlformats.org/drawingml/2006/main" noGrp="1"/>
          </p:cNvSpPr>
          <p:nvPr/>
        </p:nvSpPr>
        <p:spPr>
          <a:xfrm xmlns:a="http://schemas.openxmlformats.org/drawingml/2006/main">
            <a:off x="9182100" y="819150"/>
            <a:ext cx="2152650" cy="2152650"/>
          </a:xfrm>
          <a:prstGeom xmlns:a="http://schemas.openxmlformats.org/drawingml/2006/main" prst="roundRect">
            <a:avLst>
              <a:gd name="adj" fmla="val 15044"/>
            </a:avLst>
          </a:prstGeom>
          <a:solidFill xmlns:a="http://schemas.openxmlformats.org/drawingml/2006/main">
            <a:srgbClr val="FFFFFF"/>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b5c494113884fe9"/>
          <a:stretch xmlns:a="http://schemas.openxmlformats.org/drawingml/2006/main"/>
        </p:blipFill>
        <p:spPr>
          <a:xfrm xmlns:a="http://schemas.openxmlformats.org/drawingml/2006/main">
            <a:off x="9525000" y="1162050"/>
            <a:ext cx="1466850" cy="1466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64638ED-9A0C-4B86-AC14-6D94C3F55359}"/>
              </a:ext>
            </a:extLst>
          </p:cNvPr>
          <p:cNvSpPr>
            <a:spLocks xmlns:a="http://schemas.openxmlformats.org/drawingml/2006/main" noGrp="1"/>
          </p:cNvSpPr>
          <p:nvPr/>
        </p:nvSpPr>
        <p:spPr>
          <a:xfrm xmlns:a="http://schemas.openxmlformats.org/drawingml/2006/main">
            <a:off x="857250" y="1371600"/>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Tuyển dụng 4.0</a:t>
            </a:r>
          </a:p>
        </p:txBody>
      </p:sp>
      <p:sp>
        <p:nvSpPr>
          <p:cNvPr id="6" name="">
            <a:extLst xmlns:a="http://schemas.openxmlformats.org/drawingml/2006/main">
              <a:ext uri="{FF2B5EF4-FFF2-40B4-BE49-F238E27FC236}">
                <a16:creationId xmlns:a16="http://schemas.microsoft.com/office/drawing/2014/main" id="{B34AC9DF-F0E5-4FD8-827B-33600E53248D}"/>
              </a:ext>
            </a:extLst>
          </p:cNvPr>
          <p:cNvSpPr>
            <a:spLocks xmlns:a="http://schemas.openxmlformats.org/drawingml/2006/main" noGrp="1"/>
          </p:cNvSpPr>
          <p:nvPr/>
        </p:nvSpPr>
        <p:spPr>
          <a:xfrm xmlns:a="http://schemas.openxmlformats.org/drawingml/2006/main">
            <a:off x="876300" y="2324100"/>
            <a:ext cx="666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100" b="0">
                <a:solidFill>
                  <a:srgbClr val="D9F5F3"/>
                </a:solidFill>
                <a:latin typeface="Arial"/>
                <a:ea typeface="Arial"/>
                <a:cs typeface="Arial"/>
              </a:defRPr>
            </a:pPr>
            <a:r>
              <a:rPr sz="2100" b="0">
                <a:solidFill>
                  <a:srgbClr val="D9F5F3"/>
                </a:solidFill>
                <a:latin typeface="Arial"/>
                <a:ea typeface="Arial"/>
                <a:cs typeface="Arial"/>
              </a:rPr>
              <a:t>Từ file Excel rời rạc đến một nguồn dữ liệu điều hành thống nhất</a:t>
            </a:r>
          </a:p>
        </p:txBody>
      </p:sp>
      <p:sp>
        <p:nvSpPr>
          <p:cNvPr id="7" name="">
            <a:extLst xmlns:a="http://schemas.openxmlformats.org/drawingml/2006/main">
              <a:ext uri="{FF2B5EF4-FFF2-40B4-BE49-F238E27FC236}">
                <a16:creationId xmlns:a16="http://schemas.microsoft.com/office/drawing/2014/main" id="{A2313483-F213-477F-89BC-3B29C7E4BECA}"/>
              </a:ext>
            </a:extLst>
          </p:cNvPr>
          <p:cNvSpPr>
            <a:spLocks xmlns:a="http://schemas.openxmlformats.org/drawingml/2006/main" noGrp="1"/>
          </p:cNvSpPr>
          <p:nvPr/>
        </p:nvSpPr>
        <p:spPr>
          <a:xfrm xmlns:a="http://schemas.openxmlformats.org/drawingml/2006/main">
            <a:off x="876300" y="3600450"/>
            <a:ext cx="2476500" cy="4000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E899B50-9A75-41D6-82A3-33B6B04F5726}"/>
              </a:ext>
            </a:extLst>
          </p:cNvPr>
          <p:cNvSpPr>
            <a:spLocks xmlns:a="http://schemas.openxmlformats.org/drawingml/2006/main" noGrp="1"/>
          </p:cNvSpPr>
          <p:nvPr/>
        </p:nvSpPr>
        <p:spPr>
          <a:xfrm xmlns:a="http://schemas.openxmlformats.org/drawingml/2006/main">
            <a:off x="1066800" y="36957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050" b="1">
                <a:solidFill>
                  <a:srgbClr val="0B2538"/>
                </a:solidFill>
                <a:latin typeface="Arial"/>
                <a:ea typeface="Arial"/>
                <a:cs typeface="Arial"/>
              </a:defRPr>
            </a:pPr>
            <a:r>
              <a:rPr sz="1050" b="1">
                <a:solidFill>
                  <a:srgbClr val="0B2538"/>
                </a:solidFill>
                <a:latin typeface="Arial"/>
                <a:ea typeface="Arial"/>
                <a:cs typeface="Arial"/>
              </a:rPr>
              <a:t>ĐỀ XUẤT THƯƠNG MẠI HÓA</a:t>
            </a:r>
          </a:p>
        </p:txBody>
      </p:sp>
      <p:sp>
        <p:nvSpPr>
          <p:cNvPr id="9" name="">
            <a:extLst xmlns:a="http://schemas.openxmlformats.org/drawingml/2006/main">
              <a:ext uri="{FF2B5EF4-FFF2-40B4-BE49-F238E27FC236}">
                <a16:creationId xmlns:a16="http://schemas.microsoft.com/office/drawing/2014/main" id="{8D63147E-C4A3-4F85-8F91-8E4167613F48}"/>
              </a:ext>
            </a:extLst>
          </p:cNvPr>
          <p:cNvSpPr>
            <a:spLocks xmlns:a="http://schemas.openxmlformats.org/drawingml/2006/main" noGrp="1"/>
          </p:cNvSpPr>
          <p:nvPr/>
        </p:nvSpPr>
        <p:spPr>
          <a:xfrm xmlns:a="http://schemas.openxmlformats.org/drawingml/2006/main">
            <a:off x="876300" y="5334000"/>
            <a:ext cx="704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B7D1D3"/>
                </a:solidFill>
                <a:latin typeface="Arial"/>
                <a:ea typeface="Arial"/>
                <a:cs typeface="Arial"/>
              </a:defRPr>
            </a:pPr>
            <a:r>
              <a:rPr sz="1350" b="0">
                <a:solidFill>
                  <a:srgbClr val="B7D1D3"/>
                </a:solidFill>
                <a:latin typeface="Arial"/>
                <a:ea typeface="Arial"/>
                <a:cs typeface="Arial"/>
              </a:rPr>
              <a:t>Dành cho giám đốc, quản trị nhân sự và đội ngũ vận hành nhà máy</a:t>
            </a:r>
          </a:p>
        </p:txBody>
      </p:sp>
      <p:sp>
        <p:nvSpPr>
          <p:cNvPr id="10" name="">
            <a:extLst xmlns:a="http://schemas.openxmlformats.org/drawingml/2006/main">
              <a:ext uri="{FF2B5EF4-FFF2-40B4-BE49-F238E27FC236}">
                <a16:creationId xmlns:a16="http://schemas.microsoft.com/office/drawing/2014/main" id="{EA62FAED-E29F-46B7-ADB9-DE31F113B95B}"/>
              </a:ext>
            </a:extLst>
          </p:cNvPr>
          <p:cNvSpPr>
            <a:spLocks xmlns:a="http://schemas.openxmlformats.org/drawingml/2006/main" noGrp="1"/>
          </p:cNvSpPr>
          <p:nvPr/>
        </p:nvSpPr>
        <p:spPr>
          <a:xfrm xmlns:a="http://schemas.openxmlformats.org/drawingml/2006/main">
            <a:off x="876300" y="59626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0">
                <a:solidFill>
                  <a:srgbClr val="B7D1D3"/>
                </a:solidFill>
                <a:latin typeface="Arial"/>
                <a:ea typeface="Arial"/>
                <a:cs typeface="Arial"/>
              </a:defRPr>
            </a:pPr>
            <a:r>
              <a:rPr sz="1050" b="0">
                <a:solidFill>
                  <a:srgbClr val="B7D1D3"/>
                </a:solidFill>
                <a:latin typeface="Arial"/>
                <a:ea typeface="Arial"/>
                <a:cs typeface="Arial"/>
              </a:rPr>
              <a:t>04.09.2026</a:t>
            </a:r>
          </a:p>
        </p:txBody>
      </p:sp>
    </p:spTree>
    <p:extLst>
      <p:ext uri="{BB962C8B-B14F-4D97-AF65-F5344CB8AC3E}">
        <p14:creationId xmlns:p14="http://schemas.microsoft.com/office/powerpoint/2010/main" val="865416289"/>
      </p:ext>
    </p:extLst>
  </p:cSld>
</p:sld>
</file>

<file path=ppt/slides/slide2.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9937CA04-B083-4A6A-B271-895C2973722B}"/>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BỐI CẢNH VẬN HÀNH</a:t>
            </a:r>
          </a:p>
        </p:txBody>
      </p:sp>
      <p:sp>
        <p:nvSpPr>
          <p:cNvPr id="2" name="">
            <a:extLst xmlns:a="http://schemas.openxmlformats.org/drawingml/2006/main">
              <a:ext uri="{FF2B5EF4-FFF2-40B4-BE49-F238E27FC236}">
                <a16:creationId xmlns:a16="http://schemas.microsoft.com/office/drawing/2014/main" id="{66280333-ED67-4E41-BA39-CA5125CD3063}"/>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Excel tạo ra khoảng trống thông tin</a:t>
            </a:r>
          </a:p>
        </p:txBody>
      </p:sp>
      <p:sp>
        <p:nvSpPr>
          <p:cNvPr id="3" name="">
            <a:extLst xmlns:a="http://schemas.openxmlformats.org/drawingml/2006/main">
              <a:ext uri="{FF2B5EF4-FFF2-40B4-BE49-F238E27FC236}">
                <a16:creationId xmlns:a16="http://schemas.microsoft.com/office/drawing/2014/main" id="{4FA82275-1154-464E-B54C-3FC7951DB9B0}"/>
              </a:ext>
            </a:extLst>
          </p:cNvPr>
          <p:cNvSpPr>
            <a:spLocks xmlns:a="http://schemas.openxmlformats.org/drawingml/2006/main" noGrp="1"/>
          </p:cNvSpPr>
          <p:nvPr/>
        </p:nvSpPr>
        <p:spPr>
          <a:xfrm xmlns:a="http://schemas.openxmlformats.org/drawingml/2006/main">
            <a:off x="685800" y="1295400"/>
            <a:ext cx="8096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0">
                <a:solidFill>
                  <a:srgbClr val="52606D"/>
                </a:solidFill>
                <a:latin typeface="Arial"/>
                <a:ea typeface="Arial"/>
                <a:cs typeface="Arial"/>
              </a:defRPr>
            </a:pPr>
            <a:r>
              <a:rPr sz="1725" b="0">
                <a:solidFill>
                  <a:srgbClr val="52606D"/>
                </a:solidFill>
                <a:latin typeface="Arial"/>
                <a:ea typeface="Arial"/>
                <a:cs typeface="Arial"/>
              </a:rPr>
              <a:t>Khi mỗi bộ phận giữ một file, người ra quyết định phải ghép dữ liệu bằng tay trước khi hiểu chuyện gì đang xảy ra.</a:t>
            </a:r>
          </a:p>
        </p:txBody>
      </p:sp>
      <p:sp>
        <p:nvSpPr>
          <p:cNvPr id="4" name="">
            <a:extLst xmlns:a="http://schemas.openxmlformats.org/drawingml/2006/main">
              <a:ext uri="{FF2B5EF4-FFF2-40B4-BE49-F238E27FC236}">
                <a16:creationId xmlns:a16="http://schemas.microsoft.com/office/drawing/2014/main" id="{5C19E195-2650-41E1-9DD2-598ECEC3281A}"/>
              </a:ext>
            </a:extLst>
          </p:cNvPr>
          <p:cNvSpPr>
            <a:spLocks xmlns:a="http://schemas.openxmlformats.org/drawingml/2006/main" noGrp="1"/>
          </p:cNvSpPr>
          <p:nvPr/>
        </p:nvSpPr>
        <p:spPr>
          <a:xfrm xmlns:a="http://schemas.openxmlformats.org/drawingml/2006/main">
            <a:off x="685800" y="2152650"/>
            <a:ext cx="4953000" cy="32385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D8E5E5"/>
            </a:solidFill>
          </a:ln>
        </p:spPr>
      </p:sp>
      <p:sp>
        <p:nvSpPr>
          <p:cNvPr id="5" name="">
            <a:extLst xmlns:a="http://schemas.openxmlformats.org/drawingml/2006/main">
              <a:ext uri="{FF2B5EF4-FFF2-40B4-BE49-F238E27FC236}">
                <a16:creationId xmlns:a16="http://schemas.microsoft.com/office/drawing/2014/main" id="{1ACEAE6F-9CCD-4BF7-B67C-61FEBB62E2E4}"/>
              </a:ext>
            </a:extLst>
          </p:cNvPr>
          <p:cNvSpPr>
            <a:spLocks xmlns:a="http://schemas.openxmlformats.org/drawingml/2006/main" noGrp="1"/>
          </p:cNvSpPr>
          <p:nvPr/>
        </p:nvSpPr>
        <p:spPr>
          <a:xfrm xmlns:a="http://schemas.openxmlformats.org/drawingml/2006/main">
            <a:off x="990600" y="24288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5 hệ quả thường gặp</a:t>
            </a:r>
          </a:p>
        </p:txBody>
      </p:sp>
      <p:sp>
        <p:nvSpPr>
          <p:cNvPr id="6" name="">
            <a:extLst xmlns:a="http://schemas.openxmlformats.org/drawingml/2006/main">
              <a:ext uri="{FF2B5EF4-FFF2-40B4-BE49-F238E27FC236}">
                <a16:creationId xmlns:a16="http://schemas.microsoft.com/office/drawing/2014/main" id="{A00D96B4-4F0B-47A7-8EC1-B161E3797029}"/>
              </a:ext>
            </a:extLst>
          </p:cNvPr>
          <p:cNvSpPr>
            <a:spLocks xmlns:a="http://schemas.openxmlformats.org/drawingml/2006/main" noGrp="1"/>
          </p:cNvSpPr>
          <p:nvPr/>
        </p:nvSpPr>
        <p:spPr>
          <a:xfrm xmlns:a="http://schemas.openxmlformats.org/drawingml/2006/main">
            <a:off x="990600" y="297180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7949C19-8FC2-4DE0-A755-B26EA7D5A98D}"/>
              </a:ext>
            </a:extLst>
          </p:cNvPr>
          <p:cNvSpPr>
            <a:spLocks xmlns:a="http://schemas.openxmlformats.org/drawingml/2006/main" noGrp="1"/>
          </p:cNvSpPr>
          <p:nvPr/>
        </p:nvSpPr>
        <p:spPr>
          <a:xfrm xmlns:a="http://schemas.openxmlformats.org/drawingml/2006/main">
            <a:off x="1219200" y="2905125"/>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Sai khác tên, mã NV, nhà máy giữa các file</a:t>
            </a:r>
          </a:p>
        </p:txBody>
      </p:sp>
      <p:sp>
        <p:nvSpPr>
          <p:cNvPr id="8" name="">
            <a:extLst xmlns:a="http://schemas.openxmlformats.org/drawingml/2006/main">
              <a:ext uri="{FF2B5EF4-FFF2-40B4-BE49-F238E27FC236}">
                <a16:creationId xmlns:a16="http://schemas.microsoft.com/office/drawing/2014/main" id="{14F87BDA-11D5-4C71-9DC8-1B67426499A2}"/>
              </a:ext>
            </a:extLst>
          </p:cNvPr>
          <p:cNvSpPr>
            <a:spLocks xmlns:a="http://schemas.openxmlformats.org/drawingml/2006/main" noGrp="1"/>
          </p:cNvSpPr>
          <p:nvPr/>
        </p:nvSpPr>
        <p:spPr>
          <a:xfrm xmlns:a="http://schemas.openxmlformats.org/drawingml/2006/main">
            <a:off x="990600" y="34194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672F25B-552A-444E-817E-A9E498C000E7}"/>
              </a:ext>
            </a:extLst>
          </p:cNvPr>
          <p:cNvSpPr>
            <a:spLocks xmlns:a="http://schemas.openxmlformats.org/drawingml/2006/main" noGrp="1"/>
          </p:cNvSpPr>
          <p:nvPr/>
        </p:nvSpPr>
        <p:spPr>
          <a:xfrm xmlns:a="http://schemas.openxmlformats.org/drawingml/2006/main">
            <a:off x="1219200" y="3352800"/>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Không biết bản ghi nào là mới nhất</a:t>
            </a:r>
          </a:p>
        </p:txBody>
      </p:sp>
      <p:sp>
        <p:nvSpPr>
          <p:cNvPr id="10" name="">
            <a:extLst xmlns:a="http://schemas.openxmlformats.org/drawingml/2006/main">
              <a:ext uri="{FF2B5EF4-FFF2-40B4-BE49-F238E27FC236}">
                <a16:creationId xmlns:a16="http://schemas.microsoft.com/office/drawing/2014/main" id="{722250F0-38A9-46B9-B5A1-7A9CB69BD5BD}"/>
              </a:ext>
            </a:extLst>
          </p:cNvPr>
          <p:cNvSpPr>
            <a:spLocks xmlns:a="http://schemas.openxmlformats.org/drawingml/2006/main" noGrp="1"/>
          </p:cNvSpPr>
          <p:nvPr/>
        </p:nvSpPr>
        <p:spPr>
          <a:xfrm xmlns:a="http://schemas.openxmlformats.org/drawingml/2006/main">
            <a:off x="990600" y="386715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11F2C72-4D65-4E0F-87CB-C7F444C43A3C}"/>
              </a:ext>
            </a:extLst>
          </p:cNvPr>
          <p:cNvSpPr>
            <a:spLocks xmlns:a="http://schemas.openxmlformats.org/drawingml/2006/main" noGrp="1"/>
          </p:cNvSpPr>
          <p:nvPr/>
        </p:nvSpPr>
        <p:spPr>
          <a:xfrm xmlns:a="http://schemas.openxmlformats.org/drawingml/2006/main">
            <a:off x="1219200" y="3800475"/>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Đối soát tuyển nội bộ và đối tác chậm</a:t>
            </a:r>
          </a:p>
        </p:txBody>
      </p:sp>
      <p:sp>
        <p:nvSpPr>
          <p:cNvPr id="12" name="">
            <a:extLst xmlns:a="http://schemas.openxmlformats.org/drawingml/2006/main">
              <a:ext uri="{FF2B5EF4-FFF2-40B4-BE49-F238E27FC236}">
                <a16:creationId xmlns:a16="http://schemas.microsoft.com/office/drawing/2014/main" id="{EBDE13C7-C16A-433D-95BC-A78E8276782E}"/>
              </a:ext>
            </a:extLst>
          </p:cNvPr>
          <p:cNvSpPr>
            <a:spLocks xmlns:a="http://schemas.openxmlformats.org/drawingml/2006/main" noGrp="1"/>
          </p:cNvSpPr>
          <p:nvPr/>
        </p:nvSpPr>
        <p:spPr>
          <a:xfrm xmlns:a="http://schemas.openxmlformats.org/drawingml/2006/main">
            <a:off x="990600" y="43148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56AE7A0-AE90-4B6E-A3AA-CCF91238BA8E}"/>
              </a:ext>
            </a:extLst>
          </p:cNvPr>
          <p:cNvSpPr>
            <a:spLocks xmlns:a="http://schemas.openxmlformats.org/drawingml/2006/main" noGrp="1"/>
          </p:cNvSpPr>
          <p:nvPr/>
        </p:nvSpPr>
        <p:spPr>
          <a:xfrm xmlns:a="http://schemas.openxmlformats.org/drawingml/2006/main">
            <a:off x="1219200" y="4248150"/>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Phê duyệt và trách nhiệm xử lý bị đứt quãng</a:t>
            </a:r>
          </a:p>
        </p:txBody>
      </p:sp>
      <p:sp>
        <p:nvSpPr>
          <p:cNvPr id="14" name="">
            <a:extLst xmlns:a="http://schemas.openxmlformats.org/drawingml/2006/main">
              <a:ext uri="{FF2B5EF4-FFF2-40B4-BE49-F238E27FC236}">
                <a16:creationId xmlns:a16="http://schemas.microsoft.com/office/drawing/2014/main" id="{E8FD0D23-A14D-481D-90D8-28064293E73A}"/>
              </a:ext>
            </a:extLst>
          </p:cNvPr>
          <p:cNvSpPr>
            <a:spLocks xmlns:a="http://schemas.openxmlformats.org/drawingml/2006/main" noGrp="1"/>
          </p:cNvSpPr>
          <p:nvPr/>
        </p:nvSpPr>
        <p:spPr>
          <a:xfrm xmlns:a="http://schemas.openxmlformats.org/drawingml/2006/main">
            <a:off x="990600" y="476250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6C32529-E412-4F10-AC5D-67A574EABB5E}"/>
              </a:ext>
            </a:extLst>
          </p:cNvPr>
          <p:cNvSpPr>
            <a:spLocks xmlns:a="http://schemas.openxmlformats.org/drawingml/2006/main" noGrp="1"/>
          </p:cNvSpPr>
          <p:nvPr/>
        </p:nvSpPr>
        <p:spPr>
          <a:xfrm xmlns:a="http://schemas.openxmlformats.org/drawingml/2006/main">
            <a:off x="1219200" y="4695825"/>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Báo cáo lãnh đạo phụ thuộc một người tổng hợp</a:t>
            </a:r>
          </a:p>
        </p:txBody>
      </p:sp>
      <p:sp>
        <p:nvSpPr>
          <p:cNvPr id="16" name="">
            <a:extLst xmlns:a="http://schemas.openxmlformats.org/drawingml/2006/main">
              <a:ext uri="{FF2B5EF4-FFF2-40B4-BE49-F238E27FC236}">
                <a16:creationId xmlns:a16="http://schemas.microsoft.com/office/drawing/2014/main" id="{03FB12B6-E427-41FD-A9DB-AEAD612DE525}"/>
              </a:ext>
            </a:extLst>
          </p:cNvPr>
          <p:cNvSpPr>
            <a:spLocks xmlns:a="http://schemas.openxmlformats.org/drawingml/2006/main" noGrp="1"/>
          </p:cNvSpPr>
          <p:nvPr/>
        </p:nvSpPr>
        <p:spPr>
          <a:xfrm xmlns:a="http://schemas.openxmlformats.org/drawingml/2006/main">
            <a:off x="6286500" y="2152650"/>
            <a:ext cx="5219700" cy="3238500"/>
          </a:xfrm>
          <a:prstGeom xmlns:a="http://schemas.openxmlformats.org/drawingml/2006/main" prst="roundRect">
            <a:avLst>
              <a:gd name="adj" fmla="val 5882"/>
            </a:avLst>
          </a:prstGeom>
          <a:solidFill xmlns:a="http://schemas.openxmlformats.org/drawingml/2006/main">
            <a:srgbClr val="0B253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ABAC266-6D59-4D39-A0BF-76C4A59E45DF}"/>
              </a:ext>
            </a:extLst>
          </p:cNvPr>
          <p:cNvSpPr>
            <a:spLocks xmlns:a="http://schemas.openxmlformats.org/drawingml/2006/main" noGrp="1"/>
          </p:cNvSpPr>
          <p:nvPr/>
        </p:nvSpPr>
        <p:spPr>
          <a:xfrm xmlns:a="http://schemas.openxmlformats.org/drawingml/2006/main">
            <a:off x="6667500" y="242887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Một vòng lặp thủ công</a:t>
            </a:r>
          </a:p>
        </p:txBody>
      </p:sp>
      <p:sp>
        <p:nvSpPr>
          <p:cNvPr id="18" name="">
            <a:extLst xmlns:a="http://schemas.openxmlformats.org/drawingml/2006/main">
              <a:ext uri="{FF2B5EF4-FFF2-40B4-BE49-F238E27FC236}">
                <a16:creationId xmlns:a16="http://schemas.microsoft.com/office/drawing/2014/main" id="{FAC1D4C6-3B60-4DA6-B780-8B5C7C43680E}"/>
              </a:ext>
            </a:extLst>
          </p:cNvPr>
          <p:cNvSpPr>
            <a:spLocks xmlns:a="http://schemas.openxmlformats.org/drawingml/2006/main" noGrp="1"/>
          </p:cNvSpPr>
          <p:nvPr/>
        </p:nvSpPr>
        <p:spPr>
          <a:xfrm xmlns:a="http://schemas.openxmlformats.org/drawingml/2006/main">
            <a:off x="6667500" y="29718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19" name="">
            <a:extLst xmlns:a="http://schemas.openxmlformats.org/drawingml/2006/main">
              <a:ext uri="{FF2B5EF4-FFF2-40B4-BE49-F238E27FC236}">
                <a16:creationId xmlns:a16="http://schemas.microsoft.com/office/drawing/2014/main" id="{A032A63D-0F45-43EA-A6C6-E62815B4F974}"/>
              </a:ext>
            </a:extLst>
          </p:cNvPr>
          <p:cNvSpPr>
            <a:spLocks xmlns:a="http://schemas.openxmlformats.org/drawingml/2006/main" noGrp="1"/>
          </p:cNvSpPr>
          <p:nvPr/>
        </p:nvSpPr>
        <p:spPr>
          <a:xfrm xmlns:a="http://schemas.openxmlformats.org/drawingml/2006/main">
            <a:off x="6762750" y="30765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tuyển dụng</a:t>
            </a:r>
          </a:p>
        </p:txBody>
      </p:sp>
      <p:sp>
        <p:nvSpPr>
          <p:cNvPr id="20" name="">
            <a:extLst xmlns:a="http://schemas.openxmlformats.org/drawingml/2006/main">
              <a:ext uri="{FF2B5EF4-FFF2-40B4-BE49-F238E27FC236}">
                <a16:creationId xmlns:a16="http://schemas.microsoft.com/office/drawing/2014/main" id="{133C234E-B2F3-419B-8337-C36DF89F5FDE}"/>
              </a:ext>
            </a:extLst>
          </p:cNvPr>
          <p:cNvSpPr>
            <a:spLocks xmlns:a="http://schemas.openxmlformats.org/drawingml/2006/main" noGrp="1"/>
          </p:cNvSpPr>
          <p:nvPr/>
        </p:nvSpPr>
        <p:spPr>
          <a:xfrm xmlns:a="http://schemas.openxmlformats.org/drawingml/2006/main">
            <a:off x="8620125" y="3048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9508E1C2-05C0-4A0B-B22A-4A0968F75534}"/>
              </a:ext>
            </a:extLst>
          </p:cNvPr>
          <p:cNvSpPr>
            <a:spLocks xmlns:a="http://schemas.openxmlformats.org/drawingml/2006/main" noGrp="1"/>
          </p:cNvSpPr>
          <p:nvPr/>
        </p:nvSpPr>
        <p:spPr>
          <a:xfrm xmlns:a="http://schemas.openxmlformats.org/drawingml/2006/main">
            <a:off x="8905875" y="29718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22" name="">
            <a:extLst xmlns:a="http://schemas.openxmlformats.org/drawingml/2006/main">
              <a:ext uri="{FF2B5EF4-FFF2-40B4-BE49-F238E27FC236}">
                <a16:creationId xmlns:a16="http://schemas.microsoft.com/office/drawing/2014/main" id="{550102A1-8D16-4058-88D3-0AB10AF61E3D}"/>
              </a:ext>
            </a:extLst>
          </p:cNvPr>
          <p:cNvSpPr>
            <a:spLocks xmlns:a="http://schemas.openxmlformats.org/drawingml/2006/main" noGrp="1"/>
          </p:cNvSpPr>
          <p:nvPr/>
        </p:nvSpPr>
        <p:spPr>
          <a:xfrm xmlns:a="http://schemas.openxmlformats.org/drawingml/2006/main">
            <a:off x="9001125" y="30765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NLĐ</a:t>
            </a:r>
          </a:p>
        </p:txBody>
      </p:sp>
      <p:sp>
        <p:nvSpPr>
          <p:cNvPr id="23" name="">
            <a:extLst xmlns:a="http://schemas.openxmlformats.org/drawingml/2006/main">
              <a:ext uri="{FF2B5EF4-FFF2-40B4-BE49-F238E27FC236}">
                <a16:creationId xmlns:a16="http://schemas.microsoft.com/office/drawing/2014/main" id="{3CA9D0F7-8498-4CD9-8BC1-5DEC02F1955A}"/>
              </a:ext>
            </a:extLst>
          </p:cNvPr>
          <p:cNvSpPr>
            <a:spLocks xmlns:a="http://schemas.openxmlformats.org/drawingml/2006/main" noGrp="1"/>
          </p:cNvSpPr>
          <p:nvPr/>
        </p:nvSpPr>
        <p:spPr>
          <a:xfrm xmlns:a="http://schemas.openxmlformats.org/drawingml/2006/main">
            <a:off x="10858500" y="3048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ADBE66F6-D8E5-4E18-94AC-A84C3DE38CA3}"/>
              </a:ext>
            </a:extLst>
          </p:cNvPr>
          <p:cNvSpPr>
            <a:spLocks xmlns:a="http://schemas.openxmlformats.org/drawingml/2006/main" noGrp="1"/>
          </p:cNvSpPr>
          <p:nvPr/>
        </p:nvSpPr>
        <p:spPr>
          <a:xfrm xmlns:a="http://schemas.openxmlformats.org/drawingml/2006/main">
            <a:off x="6667500" y="36576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25" name="">
            <a:extLst xmlns:a="http://schemas.openxmlformats.org/drawingml/2006/main">
              <a:ext uri="{FF2B5EF4-FFF2-40B4-BE49-F238E27FC236}">
                <a16:creationId xmlns:a16="http://schemas.microsoft.com/office/drawing/2014/main" id="{A8CAF775-6103-44D1-AB83-56C206B9B481}"/>
              </a:ext>
            </a:extLst>
          </p:cNvPr>
          <p:cNvSpPr>
            <a:spLocks xmlns:a="http://schemas.openxmlformats.org/drawingml/2006/main" noGrp="1"/>
          </p:cNvSpPr>
          <p:nvPr/>
        </p:nvSpPr>
        <p:spPr>
          <a:xfrm xmlns:a="http://schemas.openxmlformats.org/drawingml/2006/main">
            <a:off x="6762750" y="37623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nhà máy</a:t>
            </a:r>
          </a:p>
        </p:txBody>
      </p:sp>
      <p:sp>
        <p:nvSpPr>
          <p:cNvPr id="26" name="">
            <a:extLst xmlns:a="http://schemas.openxmlformats.org/drawingml/2006/main">
              <a:ext uri="{FF2B5EF4-FFF2-40B4-BE49-F238E27FC236}">
                <a16:creationId xmlns:a16="http://schemas.microsoft.com/office/drawing/2014/main" id="{67F915FA-E330-4AAB-9CDF-318387036C8B}"/>
              </a:ext>
            </a:extLst>
          </p:cNvPr>
          <p:cNvSpPr>
            <a:spLocks xmlns:a="http://schemas.openxmlformats.org/drawingml/2006/main" noGrp="1"/>
          </p:cNvSpPr>
          <p:nvPr/>
        </p:nvSpPr>
        <p:spPr>
          <a:xfrm xmlns:a="http://schemas.openxmlformats.org/drawingml/2006/main">
            <a:off x="8620125" y="37338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2E0D66C2-90F5-4C1B-8101-41270CC658ED}"/>
              </a:ext>
            </a:extLst>
          </p:cNvPr>
          <p:cNvSpPr>
            <a:spLocks xmlns:a="http://schemas.openxmlformats.org/drawingml/2006/main" noGrp="1"/>
          </p:cNvSpPr>
          <p:nvPr/>
        </p:nvSpPr>
        <p:spPr>
          <a:xfrm xmlns:a="http://schemas.openxmlformats.org/drawingml/2006/main">
            <a:off x="8905875" y="36576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28" name="">
            <a:extLst xmlns:a="http://schemas.openxmlformats.org/drawingml/2006/main">
              <a:ext uri="{FF2B5EF4-FFF2-40B4-BE49-F238E27FC236}">
                <a16:creationId xmlns:a16="http://schemas.microsoft.com/office/drawing/2014/main" id="{D4F94757-771E-4228-A8A2-381C04A8BC64}"/>
              </a:ext>
            </a:extLst>
          </p:cNvPr>
          <p:cNvSpPr>
            <a:spLocks xmlns:a="http://schemas.openxmlformats.org/drawingml/2006/main" noGrp="1"/>
          </p:cNvSpPr>
          <p:nvPr/>
        </p:nvSpPr>
        <p:spPr>
          <a:xfrm xmlns:a="http://schemas.openxmlformats.org/drawingml/2006/main">
            <a:off x="9001125" y="37623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công/lương</a:t>
            </a:r>
          </a:p>
        </p:txBody>
      </p:sp>
      <p:sp>
        <p:nvSpPr>
          <p:cNvPr id="29" name="">
            <a:extLst xmlns:a="http://schemas.openxmlformats.org/drawingml/2006/main">
              <a:ext uri="{FF2B5EF4-FFF2-40B4-BE49-F238E27FC236}">
                <a16:creationId xmlns:a16="http://schemas.microsoft.com/office/drawing/2014/main" id="{1B2BAD4D-2F83-4B73-B3E2-2B75048F6AB2}"/>
              </a:ext>
            </a:extLst>
          </p:cNvPr>
          <p:cNvSpPr>
            <a:spLocks xmlns:a="http://schemas.openxmlformats.org/drawingml/2006/main" noGrp="1"/>
          </p:cNvSpPr>
          <p:nvPr/>
        </p:nvSpPr>
        <p:spPr>
          <a:xfrm xmlns:a="http://schemas.openxmlformats.org/drawingml/2006/main">
            <a:off x="10858500" y="37338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A06CFBA4-F665-47DE-B274-26EF20D474DE}"/>
              </a:ext>
            </a:extLst>
          </p:cNvPr>
          <p:cNvSpPr>
            <a:spLocks xmlns:a="http://schemas.openxmlformats.org/drawingml/2006/main" noGrp="1"/>
          </p:cNvSpPr>
          <p:nvPr/>
        </p:nvSpPr>
        <p:spPr>
          <a:xfrm xmlns:a="http://schemas.openxmlformats.org/drawingml/2006/main">
            <a:off x="6667500" y="4343400"/>
            <a:ext cx="1905000" cy="400050"/>
          </a:xfrm>
          <a:prstGeom xmlns:a="http://schemas.openxmlformats.org/drawingml/2006/main" prst="roundRect">
            <a:avLst>
              <a:gd name="adj" fmla="val 28571"/>
            </a:avLst>
          </a:prstGeom>
          <a:solidFill xmlns:a="http://schemas.openxmlformats.org/drawingml/2006/main">
            <a:srgbClr val="F59E0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7975502-832A-4F06-A5CD-DB1F85AA1807}"/>
              </a:ext>
            </a:extLst>
          </p:cNvPr>
          <p:cNvSpPr>
            <a:spLocks xmlns:a="http://schemas.openxmlformats.org/drawingml/2006/main" noGrp="1"/>
          </p:cNvSpPr>
          <p:nvPr/>
        </p:nvSpPr>
        <p:spPr>
          <a:xfrm xmlns:a="http://schemas.openxmlformats.org/drawingml/2006/main">
            <a:off x="6762750" y="44481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0B2538"/>
                </a:solidFill>
                <a:latin typeface="Arial"/>
                <a:ea typeface="Arial"/>
                <a:cs typeface="Arial"/>
              </a:defRPr>
            </a:pPr>
            <a:r>
              <a:rPr sz="1125" b="1">
                <a:solidFill>
                  <a:srgbClr val="0B2538"/>
                </a:solidFill>
                <a:latin typeface="Arial"/>
                <a:ea typeface="Arial"/>
                <a:cs typeface="Arial"/>
              </a:rPr>
              <a:t>Báo cáo tổng hợp</a:t>
            </a:r>
          </a:p>
        </p:txBody>
      </p:sp>
      <p:sp>
        <p:nvSpPr>
          <p:cNvPr id="32" name="">
            <a:extLst xmlns:a="http://schemas.openxmlformats.org/drawingml/2006/main">
              <a:ext uri="{FF2B5EF4-FFF2-40B4-BE49-F238E27FC236}">
                <a16:creationId xmlns:a16="http://schemas.microsoft.com/office/drawing/2014/main" id="{9791CB57-961E-4EAC-A873-C9E585C4608D}"/>
              </a:ext>
            </a:extLst>
          </p:cNvPr>
          <p:cNvSpPr>
            <a:spLocks xmlns:a="http://schemas.openxmlformats.org/drawingml/2006/main" noGrp="1"/>
          </p:cNvSpPr>
          <p:nvPr/>
        </p:nvSpPr>
        <p:spPr>
          <a:xfrm xmlns:a="http://schemas.openxmlformats.org/drawingml/2006/main">
            <a:off x="6667500" y="4762500"/>
            <a:ext cx="4095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D9F5F3"/>
                </a:solidFill>
                <a:latin typeface="Arial"/>
                <a:ea typeface="Arial"/>
                <a:cs typeface="Arial"/>
              </a:defRPr>
            </a:pPr>
            <a:r>
              <a:rPr sz="1425" b="0">
                <a:solidFill>
                  <a:srgbClr val="D9F5F3"/>
                </a:solidFill>
                <a:latin typeface="Arial"/>
                <a:ea typeface="Arial"/>
                <a:cs typeface="Arial"/>
              </a:rPr>
              <a:t>Mất thời gian không chỉ ở nhập liệu, mà ở việc xác định đâu là sự thật.</a:t>
            </a:r>
          </a:p>
        </p:txBody>
      </p:sp>
      <p:sp>
        <p:nvSpPr>
          <p:cNvPr id="33" name="">
            <a:extLst xmlns:a="http://schemas.openxmlformats.org/drawingml/2006/main">
              <a:ext uri="{FF2B5EF4-FFF2-40B4-BE49-F238E27FC236}">
                <a16:creationId xmlns:a16="http://schemas.microsoft.com/office/drawing/2014/main" id="{B4DEEE5E-2D97-4310-9FBA-71B3CE063E2C}"/>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4" name="">
            <a:extLst xmlns:a="http://schemas.openxmlformats.org/drawingml/2006/main">
              <a:ext uri="{FF2B5EF4-FFF2-40B4-BE49-F238E27FC236}">
                <a16:creationId xmlns:a16="http://schemas.microsoft.com/office/drawing/2014/main" id="{D970A5FA-0B95-486A-9D9F-710468E277A3}"/>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02</a:t>
            </a:r>
          </a:p>
        </p:txBody>
      </p:sp>
    </p:spTree>
    <p:extLst>
      <p:ext uri="{BB962C8B-B14F-4D97-AF65-F5344CB8AC3E}">
        <p14:creationId xmlns:p14="http://schemas.microsoft.com/office/powerpoint/2010/main" val="13803857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7E0655A-B4BF-4237-82B8-66C9C74F0173}"/>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GIẢI PHÁP CỐT LÕI</a:t>
            </a:r>
          </a:p>
        </p:txBody>
      </p:sp>
      <p:sp>
        <p:nvSpPr>
          <p:cNvPr id="2" name="">
            <a:extLst xmlns:a="http://schemas.openxmlformats.org/drawingml/2006/main">
              <a:ext uri="{FF2B5EF4-FFF2-40B4-BE49-F238E27FC236}">
                <a16:creationId xmlns:a16="http://schemas.microsoft.com/office/drawing/2014/main" id="{F2A1983E-92BF-464E-BD23-DA73E5221EAE}"/>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Một hồ sơ, một nguồn dữ liệu</a:t>
            </a:r>
          </a:p>
        </p:txBody>
      </p:sp>
      <p:sp>
        <p:nvSpPr>
          <p:cNvPr id="3" name="">
            <a:extLst xmlns:a="http://schemas.openxmlformats.org/drawingml/2006/main">
              <a:ext uri="{FF2B5EF4-FFF2-40B4-BE49-F238E27FC236}">
                <a16:creationId xmlns:a16="http://schemas.microsoft.com/office/drawing/2014/main" id="{ACC8375A-E375-4BE8-AFF6-80AC4C39EA27}"/>
              </a:ext>
            </a:extLst>
          </p:cNvPr>
          <p:cNvSpPr>
            <a:spLocks xmlns:a="http://schemas.openxmlformats.org/drawingml/2006/main" noGrp="1"/>
          </p:cNvSpPr>
          <p:nvPr/>
        </p:nvSpPr>
        <p:spPr>
          <a:xfrm xmlns:a="http://schemas.openxmlformats.org/drawingml/2006/main">
            <a:off x="685800" y="129540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0">
                <a:solidFill>
                  <a:srgbClr val="52606D"/>
                </a:solidFill>
                <a:latin typeface="Arial"/>
                <a:ea typeface="Arial"/>
                <a:cs typeface="Arial"/>
              </a:defRPr>
            </a:pPr>
            <a:r>
              <a:rPr sz="1725" b="0">
                <a:solidFill>
                  <a:srgbClr val="52606D"/>
                </a:solidFill>
                <a:latin typeface="Arial"/>
                <a:ea typeface="Arial"/>
                <a:cs typeface="Arial"/>
              </a:rPr>
              <a:t>Ứng dụng nối liền vòng đời người lao động từ lúc tuyển đến khi tính công, ứng lương và lưu vết xử lý.</a:t>
            </a:r>
          </a:p>
        </p:txBody>
      </p:sp>
      <p:sp>
        <p:nvSpPr>
          <p:cNvPr id="4" name="">
            <a:extLst xmlns:a="http://schemas.openxmlformats.org/drawingml/2006/main">
              <a:ext uri="{FF2B5EF4-FFF2-40B4-BE49-F238E27FC236}">
                <a16:creationId xmlns:a16="http://schemas.microsoft.com/office/drawing/2014/main" id="{B205DA3B-B2EC-4C53-A5B7-148DD12A95E3}"/>
              </a:ext>
            </a:extLst>
          </p:cNvPr>
          <p:cNvSpPr>
            <a:spLocks xmlns:a="http://schemas.openxmlformats.org/drawingml/2006/main" noGrp="1"/>
          </p:cNvSpPr>
          <p:nvPr/>
        </p:nvSpPr>
        <p:spPr>
          <a:xfrm xmlns:a="http://schemas.openxmlformats.org/drawingml/2006/main">
            <a:off x="685800" y="2571750"/>
            <a:ext cx="17526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0F8B8D"/>
            </a:solidFill>
          </a:ln>
        </p:spPr>
      </p:sp>
      <p:sp>
        <p:nvSpPr>
          <p:cNvPr id="5" name="">
            <a:extLst xmlns:a="http://schemas.openxmlformats.org/drawingml/2006/main">
              <a:ext uri="{FF2B5EF4-FFF2-40B4-BE49-F238E27FC236}">
                <a16:creationId xmlns:a16="http://schemas.microsoft.com/office/drawing/2014/main" id="{5EF5D815-314E-4EE2-AFC1-66E488FF1651}"/>
              </a:ext>
            </a:extLst>
          </p:cNvPr>
          <p:cNvSpPr>
            <a:spLocks xmlns:a="http://schemas.openxmlformats.org/drawingml/2006/main" noGrp="1"/>
          </p:cNvSpPr>
          <p:nvPr/>
        </p:nvSpPr>
        <p:spPr>
          <a:xfrm xmlns:a="http://schemas.openxmlformats.org/drawingml/2006/main">
            <a:off x="685800" y="2571750"/>
            <a:ext cx="76200" cy="121920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7C963E4-E203-4E15-996E-643B82C4E3B0}"/>
              </a:ext>
            </a:extLst>
          </p:cNvPr>
          <p:cNvSpPr>
            <a:spLocks xmlns:a="http://schemas.openxmlformats.org/drawingml/2006/main" noGrp="1"/>
          </p:cNvSpPr>
          <p:nvPr/>
        </p:nvSpPr>
        <p:spPr>
          <a:xfrm xmlns:a="http://schemas.openxmlformats.org/drawingml/2006/main">
            <a:off x="89535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Hồ sơ NLĐ</a:t>
            </a:r>
          </a:p>
        </p:txBody>
      </p:sp>
      <p:sp>
        <p:nvSpPr>
          <p:cNvPr id="7" name="">
            <a:extLst xmlns:a="http://schemas.openxmlformats.org/drawingml/2006/main">
              <a:ext uri="{FF2B5EF4-FFF2-40B4-BE49-F238E27FC236}">
                <a16:creationId xmlns:a16="http://schemas.microsoft.com/office/drawing/2014/main" id="{31E87C6A-8244-4D69-B908-C912D43D224A}"/>
              </a:ext>
            </a:extLst>
          </p:cNvPr>
          <p:cNvSpPr>
            <a:spLocks xmlns:a="http://schemas.openxmlformats.org/drawingml/2006/main" noGrp="1"/>
          </p:cNvSpPr>
          <p:nvPr/>
        </p:nvSpPr>
        <p:spPr>
          <a:xfrm xmlns:a="http://schemas.openxmlformats.org/drawingml/2006/main">
            <a:off x="895350" y="32575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UID · CCCD · tài khoản</a:t>
            </a:r>
          </a:p>
        </p:txBody>
      </p:sp>
      <p:sp>
        <p:nvSpPr>
          <p:cNvPr id="8" name="">
            <a:extLst xmlns:a="http://schemas.openxmlformats.org/drawingml/2006/main">
              <a:ext uri="{FF2B5EF4-FFF2-40B4-BE49-F238E27FC236}">
                <a16:creationId xmlns:a16="http://schemas.microsoft.com/office/drawing/2014/main" id="{3D440B9B-34A5-4F8A-99AB-25104889181B}"/>
              </a:ext>
            </a:extLst>
          </p:cNvPr>
          <p:cNvSpPr>
            <a:spLocks xmlns:a="http://schemas.openxmlformats.org/drawingml/2006/main" noGrp="1"/>
          </p:cNvSpPr>
          <p:nvPr/>
        </p:nvSpPr>
        <p:spPr>
          <a:xfrm xmlns:a="http://schemas.openxmlformats.org/drawingml/2006/main">
            <a:off x="25050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2433C2B9-7B7C-44FD-BA7B-3F6F9F6AB85E}"/>
              </a:ext>
            </a:extLst>
          </p:cNvPr>
          <p:cNvSpPr>
            <a:spLocks xmlns:a="http://schemas.openxmlformats.org/drawingml/2006/main" noGrp="1"/>
          </p:cNvSpPr>
          <p:nvPr/>
        </p:nvSpPr>
        <p:spPr>
          <a:xfrm xmlns:a="http://schemas.openxmlformats.org/drawingml/2006/main">
            <a:off x="2781300" y="2571750"/>
            <a:ext cx="19050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38BDF8"/>
            </a:solidFill>
          </a:ln>
        </p:spPr>
      </p:sp>
      <p:sp>
        <p:nvSpPr>
          <p:cNvPr id="10" name="">
            <a:extLst xmlns:a="http://schemas.openxmlformats.org/drawingml/2006/main">
              <a:ext uri="{FF2B5EF4-FFF2-40B4-BE49-F238E27FC236}">
                <a16:creationId xmlns:a16="http://schemas.microsoft.com/office/drawing/2014/main" id="{1BF9797D-1753-4BBD-8A57-90B4897B34F3}"/>
              </a:ext>
            </a:extLst>
          </p:cNvPr>
          <p:cNvSpPr>
            <a:spLocks xmlns:a="http://schemas.openxmlformats.org/drawingml/2006/main" noGrp="1"/>
          </p:cNvSpPr>
          <p:nvPr/>
        </p:nvSpPr>
        <p:spPr>
          <a:xfrm xmlns:a="http://schemas.openxmlformats.org/drawingml/2006/main">
            <a:off x="2781300" y="2571750"/>
            <a:ext cx="76200" cy="12192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B1DACDF-5AEA-420A-A8D3-E2AB55D86F47}"/>
              </a:ext>
            </a:extLst>
          </p:cNvPr>
          <p:cNvSpPr>
            <a:spLocks xmlns:a="http://schemas.openxmlformats.org/drawingml/2006/main" noGrp="1"/>
          </p:cNvSpPr>
          <p:nvPr/>
        </p:nvSpPr>
        <p:spPr>
          <a:xfrm xmlns:a="http://schemas.openxmlformats.org/drawingml/2006/main">
            <a:off x="2990850" y="28384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Lịch sử đi làm</a:t>
            </a:r>
          </a:p>
        </p:txBody>
      </p:sp>
      <p:sp>
        <p:nvSpPr>
          <p:cNvPr id="12" name="">
            <a:extLst xmlns:a="http://schemas.openxmlformats.org/drawingml/2006/main">
              <a:ext uri="{FF2B5EF4-FFF2-40B4-BE49-F238E27FC236}">
                <a16:creationId xmlns:a16="http://schemas.microsoft.com/office/drawing/2014/main" id="{41A49A6B-17FB-456D-B2BD-AAAD4CDA5D53}"/>
              </a:ext>
            </a:extLst>
          </p:cNvPr>
          <p:cNvSpPr>
            <a:spLocks xmlns:a="http://schemas.openxmlformats.org/drawingml/2006/main" noGrp="1"/>
          </p:cNvSpPr>
          <p:nvPr/>
        </p:nvSpPr>
        <p:spPr>
          <a:xfrm xmlns:a="http://schemas.openxmlformats.org/drawingml/2006/main">
            <a:off x="2990850" y="3257550"/>
            <a:ext cx="1581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mã NV · ngày vào/nghỉ</a:t>
            </a:r>
          </a:p>
        </p:txBody>
      </p:sp>
      <p:sp>
        <p:nvSpPr>
          <p:cNvPr id="13" name="">
            <a:extLst xmlns:a="http://schemas.openxmlformats.org/drawingml/2006/main">
              <a:ext uri="{FF2B5EF4-FFF2-40B4-BE49-F238E27FC236}">
                <a16:creationId xmlns:a16="http://schemas.microsoft.com/office/drawing/2014/main" id="{2332CF41-CAC7-4D56-9274-BA44F13DBEE9}"/>
              </a:ext>
            </a:extLst>
          </p:cNvPr>
          <p:cNvSpPr>
            <a:spLocks xmlns:a="http://schemas.openxmlformats.org/drawingml/2006/main" noGrp="1"/>
          </p:cNvSpPr>
          <p:nvPr/>
        </p:nvSpPr>
        <p:spPr>
          <a:xfrm xmlns:a="http://schemas.openxmlformats.org/drawingml/2006/main">
            <a:off x="47529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3F590D39-95CC-42B8-9C9A-1392D74BC9DA}"/>
              </a:ext>
            </a:extLst>
          </p:cNvPr>
          <p:cNvSpPr>
            <a:spLocks xmlns:a="http://schemas.openxmlformats.org/drawingml/2006/main" noGrp="1"/>
          </p:cNvSpPr>
          <p:nvPr/>
        </p:nvSpPr>
        <p:spPr>
          <a:xfrm xmlns:a="http://schemas.openxmlformats.org/drawingml/2006/main">
            <a:off x="5029200" y="2571750"/>
            <a:ext cx="17526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F59E0B"/>
            </a:solidFill>
          </a:ln>
        </p:spPr>
      </p:sp>
      <p:sp>
        <p:nvSpPr>
          <p:cNvPr id="15" name="">
            <a:extLst xmlns:a="http://schemas.openxmlformats.org/drawingml/2006/main">
              <a:ext uri="{FF2B5EF4-FFF2-40B4-BE49-F238E27FC236}">
                <a16:creationId xmlns:a16="http://schemas.microsoft.com/office/drawing/2014/main" id="{0360D9DC-3C27-4DC3-A001-72733BD3A745}"/>
              </a:ext>
            </a:extLst>
          </p:cNvPr>
          <p:cNvSpPr>
            <a:spLocks xmlns:a="http://schemas.openxmlformats.org/drawingml/2006/main" noGrp="1"/>
          </p:cNvSpPr>
          <p:nvPr/>
        </p:nvSpPr>
        <p:spPr>
          <a:xfrm xmlns:a="http://schemas.openxmlformats.org/drawingml/2006/main">
            <a:off x="5029200" y="2571750"/>
            <a:ext cx="76200" cy="1219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7A7B966-06A4-4C93-9A8A-BA33B6EF7C1E}"/>
              </a:ext>
            </a:extLst>
          </p:cNvPr>
          <p:cNvSpPr>
            <a:spLocks xmlns:a="http://schemas.openxmlformats.org/drawingml/2006/main" noGrp="1"/>
          </p:cNvSpPr>
          <p:nvPr/>
        </p:nvSpPr>
        <p:spPr>
          <a:xfrm xmlns:a="http://schemas.openxmlformats.org/drawingml/2006/main">
            <a:off x="523875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Nhà máy &amp; đối tác</a:t>
            </a:r>
          </a:p>
        </p:txBody>
      </p:sp>
      <p:sp>
        <p:nvSpPr>
          <p:cNvPr id="17" name="">
            <a:extLst xmlns:a="http://schemas.openxmlformats.org/drawingml/2006/main">
              <a:ext uri="{FF2B5EF4-FFF2-40B4-BE49-F238E27FC236}">
                <a16:creationId xmlns:a16="http://schemas.microsoft.com/office/drawing/2014/main" id="{85F4D4B9-2FA2-4059-A3E6-FF1305736FDF}"/>
              </a:ext>
            </a:extLst>
          </p:cNvPr>
          <p:cNvSpPr>
            <a:spLocks xmlns:a="http://schemas.openxmlformats.org/drawingml/2006/main" noGrp="1"/>
          </p:cNvSpPr>
          <p:nvPr/>
        </p:nvSpPr>
        <p:spPr>
          <a:xfrm xmlns:a="http://schemas.openxmlformats.org/drawingml/2006/main">
            <a:off x="5238750" y="32575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nguồn tuyển · phạm vi</a:t>
            </a:r>
          </a:p>
        </p:txBody>
      </p:sp>
      <p:sp>
        <p:nvSpPr>
          <p:cNvPr id="18" name="">
            <a:extLst xmlns:a="http://schemas.openxmlformats.org/drawingml/2006/main">
              <a:ext uri="{FF2B5EF4-FFF2-40B4-BE49-F238E27FC236}">
                <a16:creationId xmlns:a16="http://schemas.microsoft.com/office/drawing/2014/main" id="{554A6193-7384-4CAE-9736-E1BD355459B2}"/>
              </a:ext>
            </a:extLst>
          </p:cNvPr>
          <p:cNvSpPr>
            <a:spLocks xmlns:a="http://schemas.openxmlformats.org/drawingml/2006/main" noGrp="1"/>
          </p:cNvSpPr>
          <p:nvPr/>
        </p:nvSpPr>
        <p:spPr>
          <a:xfrm xmlns:a="http://schemas.openxmlformats.org/drawingml/2006/main">
            <a:off x="68484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1DF0F0BE-B76D-4509-8D1D-7B77678CA567}"/>
              </a:ext>
            </a:extLst>
          </p:cNvPr>
          <p:cNvSpPr>
            <a:spLocks xmlns:a="http://schemas.openxmlformats.org/drawingml/2006/main" noGrp="1"/>
          </p:cNvSpPr>
          <p:nvPr/>
        </p:nvSpPr>
        <p:spPr>
          <a:xfrm xmlns:a="http://schemas.openxmlformats.org/drawingml/2006/main">
            <a:off x="7124700" y="2571750"/>
            <a:ext cx="17526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159A78"/>
            </a:solidFill>
          </a:ln>
        </p:spPr>
      </p:sp>
      <p:sp>
        <p:nvSpPr>
          <p:cNvPr id="20" name="">
            <a:extLst xmlns:a="http://schemas.openxmlformats.org/drawingml/2006/main">
              <a:ext uri="{FF2B5EF4-FFF2-40B4-BE49-F238E27FC236}">
                <a16:creationId xmlns:a16="http://schemas.microsoft.com/office/drawing/2014/main" id="{BCD57FD2-CFBC-4A4C-B994-1841E8DA7F1F}"/>
              </a:ext>
            </a:extLst>
          </p:cNvPr>
          <p:cNvSpPr>
            <a:spLocks xmlns:a="http://schemas.openxmlformats.org/drawingml/2006/main" noGrp="1"/>
          </p:cNvSpPr>
          <p:nvPr/>
        </p:nvSpPr>
        <p:spPr>
          <a:xfrm xmlns:a="http://schemas.openxmlformats.org/drawingml/2006/main">
            <a:off x="7124700" y="2571750"/>
            <a:ext cx="76200" cy="1219200"/>
          </a:xfrm>
          <a:prstGeom xmlns:a="http://schemas.openxmlformats.org/drawingml/2006/main" prst="roundRect">
            <a:avLst>
              <a:gd name="adj" fmla="val 50000"/>
            </a:avLst>
          </a:prstGeom>
          <a:solidFill xmlns:a="http://schemas.openxmlformats.org/drawingml/2006/main">
            <a:srgbClr val="159A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0D3B522-53F5-4BCA-9DDD-A6C896C6E2E3}"/>
              </a:ext>
            </a:extLst>
          </p:cNvPr>
          <p:cNvSpPr>
            <a:spLocks xmlns:a="http://schemas.openxmlformats.org/drawingml/2006/main" noGrp="1"/>
          </p:cNvSpPr>
          <p:nvPr/>
        </p:nvSpPr>
        <p:spPr>
          <a:xfrm xmlns:a="http://schemas.openxmlformats.org/drawingml/2006/main">
            <a:off x="733425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Công &amp; lương</a:t>
            </a:r>
          </a:p>
        </p:txBody>
      </p:sp>
      <p:sp>
        <p:nvSpPr>
          <p:cNvPr id="22" name="">
            <a:extLst xmlns:a="http://schemas.openxmlformats.org/drawingml/2006/main">
              <a:ext uri="{FF2B5EF4-FFF2-40B4-BE49-F238E27FC236}">
                <a16:creationId xmlns:a16="http://schemas.microsoft.com/office/drawing/2014/main" id="{2873EABC-0835-4035-B0D0-47D2AB8C777F}"/>
              </a:ext>
            </a:extLst>
          </p:cNvPr>
          <p:cNvSpPr>
            <a:spLocks xmlns:a="http://schemas.openxmlformats.org/drawingml/2006/main" noGrp="1"/>
          </p:cNvSpPr>
          <p:nvPr/>
        </p:nvSpPr>
        <p:spPr>
          <a:xfrm xmlns:a="http://schemas.openxmlformats.org/drawingml/2006/main">
            <a:off x="7334250" y="32575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giờ · phụ cấp · khấu trừ</a:t>
            </a:r>
          </a:p>
        </p:txBody>
      </p:sp>
      <p:sp>
        <p:nvSpPr>
          <p:cNvPr id="23" name="">
            <a:extLst xmlns:a="http://schemas.openxmlformats.org/drawingml/2006/main">
              <a:ext uri="{FF2B5EF4-FFF2-40B4-BE49-F238E27FC236}">
                <a16:creationId xmlns:a16="http://schemas.microsoft.com/office/drawing/2014/main" id="{F8D52063-937E-4C4F-9A7F-B9FB01025B1F}"/>
              </a:ext>
            </a:extLst>
          </p:cNvPr>
          <p:cNvSpPr>
            <a:spLocks xmlns:a="http://schemas.openxmlformats.org/drawingml/2006/main" noGrp="1"/>
          </p:cNvSpPr>
          <p:nvPr/>
        </p:nvSpPr>
        <p:spPr>
          <a:xfrm xmlns:a="http://schemas.openxmlformats.org/drawingml/2006/main">
            <a:off x="89439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035B13AE-B03D-4494-9B44-3A7BDBEEFC38}"/>
              </a:ext>
            </a:extLst>
          </p:cNvPr>
          <p:cNvSpPr>
            <a:spLocks xmlns:a="http://schemas.openxmlformats.org/drawingml/2006/main" noGrp="1"/>
          </p:cNvSpPr>
          <p:nvPr/>
        </p:nvSpPr>
        <p:spPr>
          <a:xfrm xmlns:a="http://schemas.openxmlformats.org/drawingml/2006/main">
            <a:off x="9220200" y="2571750"/>
            <a:ext cx="22860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D85C5C"/>
            </a:solidFill>
          </a:ln>
        </p:spPr>
      </p:sp>
      <p:sp>
        <p:nvSpPr>
          <p:cNvPr id="25" name="">
            <a:extLst xmlns:a="http://schemas.openxmlformats.org/drawingml/2006/main">
              <a:ext uri="{FF2B5EF4-FFF2-40B4-BE49-F238E27FC236}">
                <a16:creationId xmlns:a16="http://schemas.microsoft.com/office/drawing/2014/main" id="{BA80F038-A512-4C0F-A7AF-00787A201C59}"/>
              </a:ext>
            </a:extLst>
          </p:cNvPr>
          <p:cNvSpPr>
            <a:spLocks xmlns:a="http://schemas.openxmlformats.org/drawingml/2006/main" noGrp="1"/>
          </p:cNvSpPr>
          <p:nvPr/>
        </p:nvSpPr>
        <p:spPr>
          <a:xfrm xmlns:a="http://schemas.openxmlformats.org/drawingml/2006/main">
            <a:off x="9220200" y="2571750"/>
            <a:ext cx="76200" cy="1219200"/>
          </a:xfrm>
          <a:prstGeom xmlns:a="http://schemas.openxmlformats.org/drawingml/2006/main" prst="roundRect">
            <a:avLst>
              <a:gd name="adj" fmla="val 50000"/>
            </a:avLst>
          </a:prstGeom>
          <a:solidFill xmlns:a="http://schemas.openxmlformats.org/drawingml/2006/main">
            <a:srgbClr val="D85C5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F446C17-A192-4548-B42E-CD902C81D527}"/>
              </a:ext>
            </a:extLst>
          </p:cNvPr>
          <p:cNvSpPr>
            <a:spLocks xmlns:a="http://schemas.openxmlformats.org/drawingml/2006/main" noGrp="1"/>
          </p:cNvSpPr>
          <p:nvPr/>
        </p:nvSpPr>
        <p:spPr>
          <a:xfrm xmlns:a="http://schemas.openxmlformats.org/drawingml/2006/main">
            <a:off x="9429750" y="2838450"/>
            <a:ext cx="1962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Phê duyệt &amp; nhật ký</a:t>
            </a:r>
          </a:p>
        </p:txBody>
      </p:sp>
      <p:sp>
        <p:nvSpPr>
          <p:cNvPr id="27" name="">
            <a:extLst xmlns:a="http://schemas.openxmlformats.org/drawingml/2006/main">
              <a:ext uri="{FF2B5EF4-FFF2-40B4-BE49-F238E27FC236}">
                <a16:creationId xmlns:a16="http://schemas.microsoft.com/office/drawing/2014/main" id="{7191CDAC-AA36-404B-BC53-C3349BB05BE4}"/>
              </a:ext>
            </a:extLst>
          </p:cNvPr>
          <p:cNvSpPr>
            <a:spLocks xmlns:a="http://schemas.openxmlformats.org/drawingml/2006/main" noGrp="1"/>
          </p:cNvSpPr>
          <p:nvPr/>
        </p:nvSpPr>
        <p:spPr>
          <a:xfrm xmlns:a="http://schemas.openxmlformats.org/drawingml/2006/main">
            <a:off x="9429750" y="3257550"/>
            <a:ext cx="1962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ai làm · lúc nào · thay đổi gì</a:t>
            </a:r>
          </a:p>
        </p:txBody>
      </p:sp>
      <p:sp>
        <p:nvSpPr>
          <p:cNvPr id="28" name="">
            <a:extLst xmlns:a="http://schemas.openxmlformats.org/drawingml/2006/main">
              <a:ext uri="{FF2B5EF4-FFF2-40B4-BE49-F238E27FC236}">
                <a16:creationId xmlns:a16="http://schemas.microsoft.com/office/drawing/2014/main" id="{59027A0F-94AB-4EB4-95C8-5238C2E84F7F}"/>
              </a:ext>
            </a:extLst>
          </p:cNvPr>
          <p:cNvSpPr>
            <a:spLocks xmlns:a="http://schemas.openxmlformats.org/drawingml/2006/main" noGrp="1"/>
          </p:cNvSpPr>
          <p:nvPr/>
        </p:nvSpPr>
        <p:spPr>
          <a:xfrm xmlns:a="http://schemas.openxmlformats.org/drawingml/2006/main">
            <a:off x="685800" y="4495800"/>
            <a:ext cx="10820400" cy="895350"/>
          </a:xfrm>
          <a:prstGeom xmlns:a="http://schemas.openxmlformats.org/drawingml/2006/main" prst="roundRect">
            <a:avLst>
              <a:gd name="adj" fmla="val 19149"/>
            </a:avLst>
          </a:prstGeom>
          <a:solidFill xmlns:a="http://schemas.openxmlformats.org/drawingml/2006/main">
            <a:srgbClr val="0B253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435CB15-4C83-4B92-A568-1E244A3AD05A}"/>
              </a:ext>
            </a:extLst>
          </p:cNvPr>
          <p:cNvSpPr>
            <a:spLocks xmlns:a="http://schemas.openxmlformats.org/drawingml/2006/main" noGrp="1"/>
          </p:cNvSpPr>
          <p:nvPr/>
        </p:nvSpPr>
        <p:spPr>
          <a:xfrm xmlns:a="http://schemas.openxmlformats.org/drawingml/2006/main">
            <a:off x="1028700" y="4772025"/>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Khi một dữ liệu thay đổi, các vai trò liên quan nhìn thấy cùng một trạng thái đã được phân quyền.</a:t>
            </a:r>
          </a:p>
        </p:txBody>
      </p:sp>
      <p:sp>
        <p:nvSpPr>
          <p:cNvPr id="30" name="">
            <a:extLst xmlns:a="http://schemas.openxmlformats.org/drawingml/2006/main">
              <a:ext uri="{FF2B5EF4-FFF2-40B4-BE49-F238E27FC236}">
                <a16:creationId xmlns:a16="http://schemas.microsoft.com/office/drawing/2014/main" id="{C47CA251-B59A-46E1-B34D-EA29AABD82AC}"/>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1" name="">
            <a:extLst xmlns:a="http://schemas.openxmlformats.org/drawingml/2006/main">
              <a:ext uri="{FF2B5EF4-FFF2-40B4-BE49-F238E27FC236}">
                <a16:creationId xmlns:a16="http://schemas.microsoft.com/office/drawing/2014/main" id="{6D4BD559-1C82-4B2A-A209-3B041ABC700C}"/>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03</a:t>
            </a:r>
          </a:p>
        </p:txBody>
      </p:sp>
    </p:spTree>
    <p:extLst>
      <p:ext uri="{BB962C8B-B14F-4D97-AF65-F5344CB8AC3E}">
        <p14:creationId xmlns:p14="http://schemas.microsoft.com/office/powerpoint/2010/main" val="1572564344"/>
      </p:ext>
    </p:extLst>
  </p:cSld>
</p:sld>
</file>

<file path=ppt/slides/slide4.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4E39E9A-C973-48DF-8DE8-F2B6485D12EF}"/>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NĂNG LỰC SẢN PHẨM</a:t>
            </a:r>
          </a:p>
        </p:txBody>
      </p:sp>
      <p:sp>
        <p:nvSpPr>
          <p:cNvPr id="2" name="">
            <a:extLst xmlns:a="http://schemas.openxmlformats.org/drawingml/2006/main">
              <a:ext uri="{FF2B5EF4-FFF2-40B4-BE49-F238E27FC236}">
                <a16:creationId xmlns:a16="http://schemas.microsoft.com/office/drawing/2014/main" id="{837175E4-C30E-417C-9701-B0A944A72271}"/>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Những gì ứng dụng đã sẵn sàng</a:t>
            </a:r>
          </a:p>
        </p:txBody>
      </p:sp>
      <p:sp>
        <p:nvSpPr>
          <p:cNvPr id="3" name="">
            <a:extLst xmlns:a="http://schemas.openxmlformats.org/drawingml/2006/main">
              <a:ext uri="{FF2B5EF4-FFF2-40B4-BE49-F238E27FC236}">
                <a16:creationId xmlns:a16="http://schemas.microsoft.com/office/drawing/2014/main" id="{E4E8D5C4-AC3B-4023-8CE4-3C4B66AA6838}"/>
              </a:ext>
            </a:extLst>
          </p:cNvPr>
          <p:cNvSpPr>
            <a:spLocks xmlns:a="http://schemas.openxmlformats.org/drawingml/2006/main" noGrp="1"/>
          </p:cNvSpPr>
          <p:nvPr/>
        </p:nvSpPr>
        <p:spPr>
          <a:xfrm xmlns:a="http://schemas.openxmlformats.org/drawingml/2006/main">
            <a:off x="685800" y="1524000"/>
            <a:ext cx="24003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4" name="">
            <a:extLst xmlns:a="http://schemas.openxmlformats.org/drawingml/2006/main">
              <a:ext uri="{FF2B5EF4-FFF2-40B4-BE49-F238E27FC236}">
                <a16:creationId xmlns:a16="http://schemas.microsoft.com/office/drawing/2014/main" id="{17C5BB5C-EEAB-41B2-BFD2-4FD147107033}"/>
              </a:ext>
            </a:extLst>
          </p:cNvPr>
          <p:cNvSpPr>
            <a:spLocks xmlns:a="http://schemas.openxmlformats.org/drawingml/2006/main" noGrp="1"/>
          </p:cNvSpPr>
          <p:nvPr/>
        </p:nvSpPr>
        <p:spPr>
          <a:xfrm xmlns:a="http://schemas.openxmlformats.org/drawingml/2006/main">
            <a:off x="857250" y="169545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0F8B8D"/>
                </a:solidFill>
                <a:latin typeface="Arial"/>
                <a:ea typeface="Arial"/>
                <a:cs typeface="Arial"/>
              </a:defRPr>
            </a:pPr>
            <a:r>
              <a:rPr sz="2325" b="1">
                <a:solidFill>
                  <a:srgbClr val="0F8B8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C958AA5-D165-479C-8B5B-972A490312A3}"/>
              </a:ext>
            </a:extLst>
          </p:cNvPr>
          <p:cNvSpPr>
            <a:spLocks xmlns:a="http://schemas.openxmlformats.org/drawingml/2006/main" noGrp="1"/>
          </p:cNvSpPr>
          <p:nvPr/>
        </p:nvSpPr>
        <p:spPr>
          <a:xfrm xmlns:a="http://schemas.openxmlformats.org/drawingml/2006/main">
            <a:off x="857250" y="21240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Dashboard nhân lực cho admin</a:t>
            </a:r>
          </a:p>
        </p:txBody>
      </p:sp>
      <p:sp>
        <p:nvSpPr>
          <p:cNvPr id="6" name="">
            <a:extLst xmlns:a="http://schemas.openxmlformats.org/drawingml/2006/main">
              <a:ext uri="{FF2B5EF4-FFF2-40B4-BE49-F238E27FC236}">
                <a16:creationId xmlns:a16="http://schemas.microsoft.com/office/drawing/2014/main" id="{198A5A68-6639-41E2-96FF-CFF5AD8E779D}"/>
              </a:ext>
            </a:extLst>
          </p:cNvPr>
          <p:cNvSpPr>
            <a:spLocks xmlns:a="http://schemas.openxmlformats.org/drawingml/2006/main" noGrp="1"/>
          </p:cNvSpPr>
          <p:nvPr/>
        </p:nvSpPr>
        <p:spPr>
          <a:xfrm xmlns:a="http://schemas.openxmlformats.org/drawingml/2006/main">
            <a:off x="3276600" y="1524000"/>
            <a:ext cx="24003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7" name="">
            <a:extLst xmlns:a="http://schemas.openxmlformats.org/drawingml/2006/main">
              <a:ext uri="{FF2B5EF4-FFF2-40B4-BE49-F238E27FC236}">
                <a16:creationId xmlns:a16="http://schemas.microsoft.com/office/drawing/2014/main" id="{92D606D0-C4BF-45CA-A095-3FD7AD802C57}"/>
              </a:ext>
            </a:extLst>
          </p:cNvPr>
          <p:cNvSpPr>
            <a:spLocks xmlns:a="http://schemas.openxmlformats.org/drawingml/2006/main" noGrp="1"/>
          </p:cNvSpPr>
          <p:nvPr/>
        </p:nvSpPr>
        <p:spPr>
          <a:xfrm xmlns:a="http://schemas.openxmlformats.org/drawingml/2006/main">
            <a:off x="3448050" y="169545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38BDF8"/>
                </a:solidFill>
                <a:latin typeface="Arial"/>
                <a:ea typeface="Arial"/>
                <a:cs typeface="Arial"/>
              </a:defRPr>
            </a:pPr>
            <a:r>
              <a:rPr sz="2325" b="1">
                <a:solidFill>
                  <a:srgbClr val="38BDF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5692C09F-8F8A-4CEF-9D1B-BB5873EC64C0}"/>
              </a:ext>
            </a:extLst>
          </p:cNvPr>
          <p:cNvSpPr>
            <a:spLocks xmlns:a="http://schemas.openxmlformats.org/drawingml/2006/main" noGrp="1"/>
          </p:cNvSpPr>
          <p:nvPr/>
        </p:nvSpPr>
        <p:spPr>
          <a:xfrm xmlns:a="http://schemas.openxmlformats.org/drawingml/2006/main">
            <a:off x="3448050" y="21240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Nhóm vai trò: admin và staff</a:t>
            </a:r>
          </a:p>
        </p:txBody>
      </p:sp>
      <p:sp>
        <p:nvSpPr>
          <p:cNvPr id="9" name="">
            <a:extLst xmlns:a="http://schemas.openxmlformats.org/drawingml/2006/main">
              <a:ext uri="{FF2B5EF4-FFF2-40B4-BE49-F238E27FC236}">
                <a16:creationId xmlns:a16="http://schemas.microsoft.com/office/drawing/2014/main" id="{A37C5FB9-A39C-4608-ABD5-412671B4866F}"/>
              </a:ext>
            </a:extLst>
          </p:cNvPr>
          <p:cNvSpPr>
            <a:spLocks xmlns:a="http://schemas.openxmlformats.org/drawingml/2006/main" noGrp="1"/>
          </p:cNvSpPr>
          <p:nvPr/>
        </p:nvSpPr>
        <p:spPr>
          <a:xfrm xmlns:a="http://schemas.openxmlformats.org/drawingml/2006/main">
            <a:off x="5867400" y="1524000"/>
            <a:ext cx="24003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10" name="">
            <a:extLst xmlns:a="http://schemas.openxmlformats.org/drawingml/2006/main">
              <a:ext uri="{FF2B5EF4-FFF2-40B4-BE49-F238E27FC236}">
                <a16:creationId xmlns:a16="http://schemas.microsoft.com/office/drawing/2014/main" id="{6A41103E-3DDB-4F74-8597-0EE6D1D5B560}"/>
              </a:ext>
            </a:extLst>
          </p:cNvPr>
          <p:cNvSpPr>
            <a:spLocks xmlns:a="http://schemas.openxmlformats.org/drawingml/2006/main" noGrp="1"/>
          </p:cNvSpPr>
          <p:nvPr/>
        </p:nvSpPr>
        <p:spPr>
          <a:xfrm xmlns:a="http://schemas.openxmlformats.org/drawingml/2006/main">
            <a:off x="6038850" y="169545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F59E0B"/>
                </a:solidFill>
                <a:latin typeface="Arial"/>
                <a:ea typeface="Arial"/>
                <a:cs typeface="Arial"/>
              </a:defRPr>
            </a:pPr>
            <a:r>
              <a:rPr sz="2325" b="1">
                <a:solidFill>
                  <a:srgbClr val="F59E0B"/>
                </a:solidFill>
                <a:latin typeface="Arial"/>
                <a:ea typeface="Arial"/>
                <a:cs typeface="Arial"/>
              </a:rPr>
              <a:t>Nhiều</a:t>
            </a:r>
          </a:p>
        </p:txBody>
      </p:sp>
      <p:sp>
        <p:nvSpPr>
          <p:cNvPr id="11" name="">
            <a:extLst xmlns:a="http://schemas.openxmlformats.org/drawingml/2006/main">
              <a:ext uri="{FF2B5EF4-FFF2-40B4-BE49-F238E27FC236}">
                <a16:creationId xmlns:a16="http://schemas.microsoft.com/office/drawing/2014/main" id="{239FCA9E-1DB2-485F-A53F-48CB41E026DE}"/>
              </a:ext>
            </a:extLst>
          </p:cNvPr>
          <p:cNvSpPr>
            <a:spLocks xmlns:a="http://schemas.openxmlformats.org/drawingml/2006/main" noGrp="1"/>
          </p:cNvSpPr>
          <p:nvPr/>
        </p:nvSpPr>
        <p:spPr>
          <a:xfrm xmlns:a="http://schemas.openxmlformats.org/drawingml/2006/main">
            <a:off x="6038850" y="21240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Nhà máy, nhà chính, đối tác</a:t>
            </a:r>
          </a:p>
        </p:txBody>
      </p:sp>
      <p:sp>
        <p:nvSpPr>
          <p:cNvPr id="12" name="">
            <a:extLst xmlns:a="http://schemas.openxmlformats.org/drawingml/2006/main">
              <a:ext uri="{FF2B5EF4-FFF2-40B4-BE49-F238E27FC236}">
                <a16:creationId xmlns:a16="http://schemas.microsoft.com/office/drawing/2014/main" id="{92A9DE5E-1F5A-4FD4-9BDC-CEADA51C8A9C}"/>
              </a:ext>
            </a:extLst>
          </p:cNvPr>
          <p:cNvSpPr>
            <a:spLocks xmlns:a="http://schemas.openxmlformats.org/drawingml/2006/main" noGrp="1"/>
          </p:cNvSpPr>
          <p:nvPr/>
        </p:nvSpPr>
        <p:spPr>
          <a:xfrm xmlns:a="http://schemas.openxmlformats.org/drawingml/2006/main">
            <a:off x="8458200" y="1524000"/>
            <a:ext cx="30480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13" name="">
            <a:extLst xmlns:a="http://schemas.openxmlformats.org/drawingml/2006/main">
              <a:ext uri="{FF2B5EF4-FFF2-40B4-BE49-F238E27FC236}">
                <a16:creationId xmlns:a16="http://schemas.microsoft.com/office/drawing/2014/main" id="{5046FCBA-73C9-4319-8D1F-49255FEF69B5}"/>
              </a:ext>
            </a:extLst>
          </p:cNvPr>
          <p:cNvSpPr>
            <a:spLocks xmlns:a="http://schemas.openxmlformats.org/drawingml/2006/main" noGrp="1"/>
          </p:cNvSpPr>
          <p:nvPr/>
        </p:nvSpPr>
        <p:spPr>
          <a:xfrm xmlns:a="http://schemas.openxmlformats.org/drawingml/2006/main">
            <a:off x="8629650" y="1695450"/>
            <a:ext cx="2705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159A78"/>
                </a:solidFill>
                <a:latin typeface="Arial"/>
                <a:ea typeface="Arial"/>
                <a:cs typeface="Arial"/>
              </a:defRPr>
            </a:pPr>
            <a:r>
              <a:rPr sz="2325" b="1">
                <a:solidFill>
                  <a:srgbClr val="159A78"/>
                </a:solidFill>
                <a:latin typeface="Arial"/>
                <a:ea typeface="Arial"/>
                <a:cs typeface="Arial"/>
              </a:rPr>
              <a:t>500+</a:t>
            </a:r>
          </a:p>
        </p:txBody>
      </p:sp>
      <p:sp>
        <p:nvSpPr>
          <p:cNvPr id="14" name="">
            <a:extLst xmlns:a="http://schemas.openxmlformats.org/drawingml/2006/main">
              <a:ext uri="{FF2B5EF4-FFF2-40B4-BE49-F238E27FC236}">
                <a16:creationId xmlns:a16="http://schemas.microsoft.com/office/drawing/2014/main" id="{8E86CD07-CDC3-4046-9160-F90E8D4908C6}"/>
              </a:ext>
            </a:extLst>
          </p:cNvPr>
          <p:cNvSpPr>
            <a:spLocks xmlns:a="http://schemas.openxmlformats.org/drawingml/2006/main" noGrp="1"/>
          </p:cNvSpPr>
          <p:nvPr/>
        </p:nvSpPr>
        <p:spPr>
          <a:xfrm xmlns:a="http://schemas.openxmlformats.org/drawingml/2006/main">
            <a:off x="8629650" y="2124075"/>
            <a:ext cx="270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Bản ghi mỗi lần tải dữ liệu</a:t>
            </a:r>
          </a:p>
        </p:txBody>
      </p:sp>
      <p:sp>
        <p:nvSpPr>
          <p:cNvPr id="15" name="">
            <a:extLst xmlns:a="http://schemas.openxmlformats.org/drawingml/2006/main">
              <a:ext uri="{FF2B5EF4-FFF2-40B4-BE49-F238E27FC236}">
                <a16:creationId xmlns:a16="http://schemas.microsoft.com/office/drawing/2014/main" id="{1A9E5F7F-70F2-4AD8-A0CB-5B2DF2458BD5}"/>
              </a:ext>
            </a:extLst>
          </p:cNvPr>
          <p:cNvSpPr>
            <a:spLocks xmlns:a="http://schemas.openxmlformats.org/drawingml/2006/main" noGrp="1"/>
          </p:cNvSpPr>
          <p:nvPr/>
        </p:nvSpPr>
        <p:spPr>
          <a:xfrm xmlns:a="http://schemas.openxmlformats.org/drawingml/2006/main">
            <a:off x="685800" y="2952750"/>
            <a:ext cx="10820400" cy="533400"/>
          </a:xfrm>
          <a:prstGeom xmlns:a="http://schemas.openxmlformats.org/drawingml/2006/main" prst="roundRect">
            <a:avLst>
              <a:gd name="adj" fmla="val 21429"/>
            </a:avLst>
          </a:prstGeom>
          <a:solidFill xmlns:a="http://schemas.openxmlformats.org/drawingml/2006/main">
            <a:srgbClr val="EAF4F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5FF4D57-138F-4584-BDF5-507BAEE41CCD}"/>
              </a:ext>
            </a:extLst>
          </p:cNvPr>
          <p:cNvSpPr>
            <a:spLocks xmlns:a="http://schemas.openxmlformats.org/drawingml/2006/main" noGrp="1"/>
          </p:cNvSpPr>
          <p:nvPr/>
        </p:nvSpPr>
        <p:spPr>
          <a:xfrm xmlns:a="http://schemas.openxmlformats.org/drawingml/2006/main">
            <a:off x="914400" y="31051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Theo dõi nhân lực</a:t>
            </a:r>
          </a:p>
        </p:txBody>
      </p:sp>
      <p:sp>
        <p:nvSpPr>
          <p:cNvPr id="17" name="">
            <a:extLst xmlns:a="http://schemas.openxmlformats.org/drawingml/2006/main">
              <a:ext uri="{FF2B5EF4-FFF2-40B4-BE49-F238E27FC236}">
                <a16:creationId xmlns:a16="http://schemas.microsoft.com/office/drawing/2014/main" id="{7854BB6D-BF2E-447F-9E90-3BAAE9486A31}"/>
              </a:ext>
            </a:extLst>
          </p:cNvPr>
          <p:cNvSpPr>
            <a:spLocks xmlns:a="http://schemas.openxmlformats.org/drawingml/2006/main" noGrp="1"/>
          </p:cNvSpPr>
          <p:nvPr/>
        </p:nvSpPr>
        <p:spPr>
          <a:xfrm xmlns:a="http://schemas.openxmlformats.org/drawingml/2006/main">
            <a:off x="3429000" y="31051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Lọc theo nhà máy, người tuyển, đang làm/nghỉ; xem chi tiết từng NLĐ.</a:t>
            </a:r>
          </a:p>
        </p:txBody>
      </p:sp>
      <p:sp>
        <p:nvSpPr>
          <p:cNvPr id="18" name="">
            <a:extLst xmlns:a="http://schemas.openxmlformats.org/drawingml/2006/main">
              <a:ext uri="{FF2B5EF4-FFF2-40B4-BE49-F238E27FC236}">
                <a16:creationId xmlns:a16="http://schemas.microsoft.com/office/drawing/2014/main" id="{1B601999-C52D-47ED-A8C0-0DFCE577AA56}"/>
              </a:ext>
            </a:extLst>
          </p:cNvPr>
          <p:cNvSpPr>
            <a:spLocks xmlns:a="http://schemas.openxmlformats.org/drawingml/2006/main" noGrp="1"/>
          </p:cNvSpPr>
          <p:nvPr/>
        </p:nvSpPr>
        <p:spPr>
          <a:xfrm xmlns:a="http://schemas.openxmlformats.org/drawingml/2006/main">
            <a:off x="685800" y="3638550"/>
            <a:ext cx="108204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89B55A1-D576-4303-8851-A360E82D7A14}"/>
              </a:ext>
            </a:extLst>
          </p:cNvPr>
          <p:cNvSpPr>
            <a:spLocks xmlns:a="http://schemas.openxmlformats.org/drawingml/2006/main" noGrp="1"/>
          </p:cNvSpPr>
          <p:nvPr/>
        </p:nvSpPr>
        <p:spPr>
          <a:xfrm xmlns:a="http://schemas.openxmlformats.org/drawingml/2006/main">
            <a:off x="914400" y="37909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Nhập và xuất Excel</a:t>
            </a:r>
          </a:p>
        </p:txBody>
      </p:sp>
      <p:sp>
        <p:nvSpPr>
          <p:cNvPr id="20" name="">
            <a:extLst xmlns:a="http://schemas.openxmlformats.org/drawingml/2006/main">
              <a:ext uri="{FF2B5EF4-FFF2-40B4-BE49-F238E27FC236}">
                <a16:creationId xmlns:a16="http://schemas.microsoft.com/office/drawing/2014/main" id="{90D5D1D7-ED2C-4421-A228-C46264A59F2A}"/>
              </a:ext>
            </a:extLst>
          </p:cNvPr>
          <p:cNvSpPr>
            <a:spLocks xmlns:a="http://schemas.openxmlformats.org/drawingml/2006/main" noGrp="1"/>
          </p:cNvSpPr>
          <p:nvPr/>
        </p:nvSpPr>
        <p:spPr>
          <a:xfrm xmlns:a="http://schemas.openxmlformats.org/drawingml/2006/main">
            <a:off x="3429000" y="37909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Nhập mới/cập nhật theo UID; dòng lỗi được tách để sửa, không làm dừng dòng hợp lệ.</a:t>
            </a:r>
          </a:p>
        </p:txBody>
      </p:sp>
      <p:sp>
        <p:nvSpPr>
          <p:cNvPr id="21" name="">
            <a:extLst xmlns:a="http://schemas.openxmlformats.org/drawingml/2006/main">
              <a:ext uri="{FF2B5EF4-FFF2-40B4-BE49-F238E27FC236}">
                <a16:creationId xmlns:a16="http://schemas.microsoft.com/office/drawing/2014/main" id="{E7036642-5CE8-431A-97FF-CED9D89D91D7}"/>
              </a:ext>
            </a:extLst>
          </p:cNvPr>
          <p:cNvSpPr>
            <a:spLocks xmlns:a="http://schemas.openxmlformats.org/drawingml/2006/main" noGrp="1"/>
          </p:cNvSpPr>
          <p:nvPr/>
        </p:nvSpPr>
        <p:spPr>
          <a:xfrm xmlns:a="http://schemas.openxmlformats.org/drawingml/2006/main">
            <a:off x="685800" y="4324350"/>
            <a:ext cx="10820400" cy="533400"/>
          </a:xfrm>
          <a:prstGeom xmlns:a="http://schemas.openxmlformats.org/drawingml/2006/main" prst="roundRect">
            <a:avLst>
              <a:gd name="adj" fmla="val 21429"/>
            </a:avLst>
          </a:prstGeom>
          <a:solidFill xmlns:a="http://schemas.openxmlformats.org/drawingml/2006/main">
            <a:srgbClr val="EAF4F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27DA9AE-75D4-4BE6-8CB7-89A921B7C52F}"/>
              </a:ext>
            </a:extLst>
          </p:cNvPr>
          <p:cNvSpPr>
            <a:spLocks xmlns:a="http://schemas.openxmlformats.org/drawingml/2006/main" noGrp="1"/>
          </p:cNvSpPr>
          <p:nvPr/>
        </p:nvSpPr>
        <p:spPr>
          <a:xfrm xmlns:a="http://schemas.openxmlformats.org/drawingml/2006/main">
            <a:off x="914400" y="44767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Tài chính vận hành</a:t>
            </a:r>
          </a:p>
        </p:txBody>
      </p:sp>
      <p:sp>
        <p:nvSpPr>
          <p:cNvPr id="23" name="">
            <a:extLst xmlns:a="http://schemas.openxmlformats.org/drawingml/2006/main">
              <a:ext uri="{FF2B5EF4-FFF2-40B4-BE49-F238E27FC236}">
                <a16:creationId xmlns:a16="http://schemas.microsoft.com/office/drawing/2014/main" id="{54A4EF75-91A2-4B55-9089-48FECF89640B}"/>
              </a:ext>
            </a:extLst>
          </p:cNvPr>
          <p:cNvSpPr>
            <a:spLocks xmlns:a="http://schemas.openxmlformats.org/drawingml/2006/main" noGrp="1"/>
          </p:cNvSpPr>
          <p:nvPr/>
        </p:nvSpPr>
        <p:spPr>
          <a:xfrm xmlns:a="http://schemas.openxmlformats.org/drawingml/2006/main">
            <a:off x="3429000" y="44767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Bảng công, bảng lương, ứng lương, giữ lương và quy trình phê duyệt.</a:t>
            </a:r>
          </a:p>
        </p:txBody>
      </p:sp>
      <p:sp>
        <p:nvSpPr>
          <p:cNvPr id="24" name="">
            <a:extLst xmlns:a="http://schemas.openxmlformats.org/drawingml/2006/main">
              <a:ext uri="{FF2B5EF4-FFF2-40B4-BE49-F238E27FC236}">
                <a16:creationId xmlns:a16="http://schemas.microsoft.com/office/drawing/2014/main" id="{EC37A71F-AC5D-4A13-8A7D-874C786597CA}"/>
              </a:ext>
            </a:extLst>
          </p:cNvPr>
          <p:cNvSpPr>
            <a:spLocks xmlns:a="http://schemas.openxmlformats.org/drawingml/2006/main" noGrp="1"/>
          </p:cNvSpPr>
          <p:nvPr/>
        </p:nvSpPr>
        <p:spPr>
          <a:xfrm xmlns:a="http://schemas.openxmlformats.org/drawingml/2006/main">
            <a:off x="685800" y="5010150"/>
            <a:ext cx="108204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6EFFB16-5F74-4F09-8176-E37C3438B36D}"/>
              </a:ext>
            </a:extLst>
          </p:cNvPr>
          <p:cNvSpPr>
            <a:spLocks xmlns:a="http://schemas.openxmlformats.org/drawingml/2006/main" noGrp="1"/>
          </p:cNvSpPr>
          <p:nvPr/>
        </p:nvSpPr>
        <p:spPr>
          <a:xfrm xmlns:a="http://schemas.openxmlformats.org/drawingml/2006/main">
            <a:off x="914400" y="51625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Kiểm soát dữ liệu</a:t>
            </a:r>
          </a:p>
        </p:txBody>
      </p:sp>
      <p:sp>
        <p:nvSpPr>
          <p:cNvPr id="26" name="">
            <a:extLst xmlns:a="http://schemas.openxmlformats.org/drawingml/2006/main">
              <a:ext uri="{FF2B5EF4-FFF2-40B4-BE49-F238E27FC236}">
                <a16:creationId xmlns:a16="http://schemas.microsoft.com/office/drawing/2014/main" id="{F02B943B-330B-48BE-A6D4-AEDEB5E61966}"/>
              </a:ext>
            </a:extLst>
          </p:cNvPr>
          <p:cNvSpPr>
            <a:spLocks xmlns:a="http://schemas.openxmlformats.org/drawingml/2006/main" noGrp="1"/>
          </p:cNvSpPr>
          <p:nvPr/>
        </p:nvSpPr>
        <p:spPr>
          <a:xfrm xmlns:a="http://schemas.openxmlformats.org/drawingml/2006/main">
            <a:off x="3429000" y="51625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Chặn lịch sử đang làm trùng, theo dõi CCCD phiên bản và lưu nhật ký thao tác.</a:t>
            </a:r>
          </a:p>
        </p:txBody>
      </p:sp>
      <p:sp>
        <p:nvSpPr>
          <p:cNvPr id="27" name="">
            <a:extLst xmlns:a="http://schemas.openxmlformats.org/drawingml/2006/main">
              <a:ext uri="{FF2B5EF4-FFF2-40B4-BE49-F238E27FC236}">
                <a16:creationId xmlns:a16="http://schemas.microsoft.com/office/drawing/2014/main" id="{AC87028B-6A08-4BAA-828A-0F7D5E51BF8A}"/>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28" name="">
            <a:extLst xmlns:a="http://schemas.openxmlformats.org/drawingml/2006/main">
              <a:ext uri="{FF2B5EF4-FFF2-40B4-BE49-F238E27FC236}">
                <a16:creationId xmlns:a16="http://schemas.microsoft.com/office/drawing/2014/main" id="{5FE9F294-F1CB-4C81-8994-96A1F0ECC21C}"/>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04</a:t>
            </a:r>
          </a:p>
        </p:txBody>
      </p:sp>
    </p:spTree>
    <p:extLst>
      <p:ext uri="{BB962C8B-B14F-4D97-AF65-F5344CB8AC3E}">
        <p14:creationId xmlns:p14="http://schemas.microsoft.com/office/powerpoint/2010/main" val="18535113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67BBFA-4962-415E-8CAA-E3497C03A4BA}"/>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GIÁ TRỊ TRỰC TIẾP</a:t>
            </a:r>
          </a:p>
        </p:txBody>
      </p:sp>
      <p:sp>
        <p:nvSpPr>
          <p:cNvPr id="2" name="">
            <a:extLst xmlns:a="http://schemas.openxmlformats.org/drawingml/2006/main">
              <a:ext uri="{FF2B5EF4-FFF2-40B4-BE49-F238E27FC236}">
                <a16:creationId xmlns:a16="http://schemas.microsoft.com/office/drawing/2014/main" id="{53147266-06A3-4631-8164-B0B9486F1D30}"/>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5 điểm đau được khắc phục</a:t>
            </a:r>
          </a:p>
        </p:txBody>
      </p:sp>
      <p:graphicFrame>
        <p:nvGraphicFramePr>
          <p:cNvPr id="9" name=""/>
          <p:cNvGraphicFramePr/>
          <p:nvPr/>
        </p:nvGraphicFramePr>
        <p:xfrm>
          <a:off xmlns:a="http://schemas.openxmlformats.org/drawingml/2006/main" x="685800" y="1476375"/>
          <a:ext xmlns:a="http://schemas.openxmlformats.org/drawingml/2006/main" cx="10820400" cy="3952875"/>
        </p:xfrm>
        <a:graphic xmlns:a="http://schemas.openxmlformats.org/drawingml/2006/main">
          <a:graphicData uri="http://schemas.openxmlformats.org/drawingml/2006/table">
            <a:tbl>
              <a:tblPr firstRow="1" bandRow="1"/>
              <a:tblGrid>
                <a:gridCol w="2571750"/>
                <a:gridCol w="3905250"/>
                <a:gridCol w="4343400"/>
              </a:tblGrid>
              <a:tr h="658813">
                <a:tc>
                  <a:txBody>
                    <a:bodyPr/>
                    <a:lstStyle/>
                    <a:p>
                      <a:r>
                        <a:rPr sz="1200" b="1">
                          <a:solidFill>
                            <a:srgbClr val="FFFFFF"/>
                          </a:solidFill>
                          <a:latin typeface="Arial"/>
                          <a:ea typeface="Arial"/>
                          <a:cs typeface="Arial"/>
                        </a:rPr>
                        <a:t>Nỗi đau với Excel</a:t>
                      </a:r>
                    </a:p>
                  </a:txBody>
                  <a:tcPr marL="91440" marR="91440" marT="45720" marB="45720">
                    <a:solidFill>
                      <a:srgbClr val="0B2538"/>
                    </a:solidFill>
                  </a:tcPr>
                </a:tc>
                <a:tc>
                  <a:txBody>
                    <a:bodyPr/>
                    <a:lstStyle/>
                    <a:p>
                      <a:r>
                        <a:rPr sz="1200" b="1">
                          <a:solidFill>
                            <a:srgbClr val="FFFFFF"/>
                          </a:solidFill>
                          <a:latin typeface="Arial"/>
                          <a:ea typeface="Arial"/>
                          <a:cs typeface="Arial"/>
                        </a:rPr>
                        <a:t>Ảnh hưởng</a:t>
                      </a:r>
                    </a:p>
                  </a:txBody>
                  <a:tcPr marL="91440" marR="91440" marT="45720" marB="45720">
                    <a:solidFill>
                      <a:srgbClr val="0B2538"/>
                    </a:solidFill>
                  </a:tcPr>
                </a:tc>
                <a:tc>
                  <a:txBody>
                    <a:bodyPr/>
                    <a:lstStyle/>
                    <a:p>
                      <a:r>
                        <a:rPr sz="1200" b="1">
                          <a:solidFill>
                            <a:srgbClr val="FFFFFF"/>
                          </a:solidFill>
                          <a:latin typeface="Arial"/>
                          <a:ea typeface="Arial"/>
                          <a:cs typeface="Arial"/>
                        </a:rPr>
                        <a:t>Ứng dụng khắc phục bằng cách</a:t>
                      </a:r>
                    </a:p>
                  </a:txBody>
                  <a:tcPr marL="91440" marR="91440" marT="45720" marB="45720">
                    <a:solidFill>
                      <a:srgbClr val="0B2538"/>
                    </a:solidFill>
                  </a:tcPr>
                </a:tc>
              </a:tr>
              <a:tr h="658813">
                <a:tc>
                  <a:txBody>
                    <a:bodyPr/>
                    <a:lstStyle/>
                    <a:p>
                      <a:r>
                        <a:rPr sz="1125" b="1">
                          <a:solidFill>
                            <a:srgbClr val="12212B"/>
                          </a:solidFill>
                          <a:latin typeface="Arial"/>
                          <a:ea typeface="Arial"/>
                          <a:cs typeface="Arial"/>
                        </a:rPr>
                        <a:t>Dữ liệu phân tán</a:t>
                      </a:r>
                    </a:p>
                  </a:txBody>
                  <a:tcPr marL="91440" marR="91440" marT="45720" marB="45720">
                    <a:solidFill>
                      <a:srgbClr val="EEF7F7"/>
                    </a:solidFill>
                  </a:tcPr>
                </a:tc>
                <a:tc>
                  <a:txBody>
                    <a:bodyPr/>
                    <a:lstStyle/>
                    <a:p>
                      <a:r>
                        <a:rPr sz="1125" b="0">
                          <a:solidFill>
                            <a:srgbClr val="12212B"/>
                          </a:solidFill>
                          <a:latin typeface="Arial"/>
                          <a:ea typeface="Arial"/>
                          <a:cs typeface="Arial"/>
                        </a:rPr>
                        <a:t>Không xuyên suốt giữa tuyển dụng, nhà máy và lương</a:t>
                      </a:r>
                    </a:p>
                  </a:txBody>
                  <a:tcPr marL="91440" marR="91440" marT="45720" marB="45720"/>
                </a:tc>
                <a:tc>
                  <a:txBody>
                    <a:bodyPr/>
                    <a:lstStyle/>
                    <a:p>
                      <a:r>
                        <a:rPr sz="1125" b="0">
                          <a:solidFill>
                            <a:srgbClr val="12212B"/>
                          </a:solidFill>
                          <a:latin typeface="Arial"/>
                          <a:ea typeface="Arial"/>
                          <a:cs typeface="Arial"/>
                        </a:rPr>
                        <a:t>Gom hồ sơ, lịch sử và quan hệ vào một tenant công ty</a:t>
                      </a:r>
                    </a:p>
                  </a:txBody>
                  <a:tcPr marL="91440" marR="91440" marT="45720" marB="45720"/>
                </a:tc>
              </a:tr>
              <a:tr h="658813">
                <a:tc>
                  <a:txBody>
                    <a:bodyPr/>
                    <a:lstStyle/>
                    <a:p>
                      <a:r>
                        <a:rPr sz="1125" b="1">
                          <a:solidFill>
                            <a:srgbClr val="12212B"/>
                          </a:solidFill>
                          <a:latin typeface="Arial"/>
                          <a:ea typeface="Arial"/>
                          <a:cs typeface="Arial"/>
                        </a:rPr>
                        <a:t>Sai tên và mã</a:t>
                      </a:r>
                    </a:p>
                  </a:txBody>
                  <a:tcPr marL="91440" marR="91440" marT="45720" marB="45720">
                    <a:solidFill>
                      <a:srgbClr val="EEF7F7"/>
                    </a:solidFill>
                  </a:tcPr>
                </a:tc>
                <a:tc>
                  <a:txBody>
                    <a:bodyPr/>
                    <a:lstStyle/>
                    <a:p>
                      <a:r>
                        <a:rPr sz="1125" b="0">
                          <a:solidFill>
                            <a:srgbClr val="12212B"/>
                          </a:solidFill>
                          <a:latin typeface="Arial"/>
                          <a:ea typeface="Arial"/>
                          <a:cs typeface="Arial"/>
                        </a:rPr>
                        <a:t>Trùng hoặc nhầm người, khó truy ngược</a:t>
                      </a:r>
                    </a:p>
                  </a:txBody>
                  <a:tcPr marL="91440" marR="91440" marT="45720" marB="45720"/>
                </a:tc>
                <a:tc>
                  <a:txBody>
                    <a:bodyPr/>
                    <a:lstStyle/>
                    <a:p>
                      <a:r>
                        <a:rPr sz="1125" b="0">
                          <a:solidFill>
                            <a:srgbClr val="12212B"/>
                          </a:solidFill>
                          <a:latin typeface="Arial"/>
                          <a:ea typeface="Arial"/>
                          <a:cs typeface="Arial"/>
                        </a:rPr>
                        <a:t>UID, snapshot tại nhà máy và kiểm tra trùng lịch sử</a:t>
                      </a:r>
                    </a:p>
                  </a:txBody>
                  <a:tcPr marL="91440" marR="91440" marT="45720" marB="45720"/>
                </a:tc>
              </a:tr>
              <a:tr h="658813">
                <a:tc>
                  <a:txBody>
                    <a:bodyPr/>
                    <a:lstStyle/>
                    <a:p>
                      <a:r>
                        <a:rPr sz="1125" b="1">
                          <a:solidFill>
                            <a:srgbClr val="12212B"/>
                          </a:solidFill>
                          <a:latin typeface="Arial"/>
                          <a:ea typeface="Arial"/>
                          <a:cs typeface="Arial"/>
                        </a:rPr>
                        <a:t>Báo cáo chậm</a:t>
                      </a:r>
                    </a:p>
                  </a:txBody>
                  <a:tcPr marL="91440" marR="91440" marT="45720" marB="45720">
                    <a:solidFill>
                      <a:srgbClr val="EEF7F7"/>
                    </a:solidFill>
                  </a:tcPr>
                </a:tc>
                <a:tc>
                  <a:txBody>
                    <a:bodyPr/>
                    <a:lstStyle/>
                    <a:p>
                      <a:r>
                        <a:rPr sz="1125" b="0">
                          <a:solidFill>
                            <a:srgbClr val="12212B"/>
                          </a:solidFill>
                          <a:latin typeface="Arial"/>
                          <a:ea typeface="Arial"/>
                          <a:cs typeface="Arial"/>
                        </a:rPr>
                        <a:t>Giám đốc ra quyết định sau khi sự việc đã xảy ra</a:t>
                      </a:r>
                    </a:p>
                  </a:txBody>
                  <a:tcPr marL="91440" marR="91440" marT="45720" marB="45720"/>
                </a:tc>
                <a:tc>
                  <a:txBody>
                    <a:bodyPr/>
                    <a:lstStyle/>
                    <a:p>
                      <a:r>
                        <a:rPr sz="1125" b="0">
                          <a:solidFill>
                            <a:srgbClr val="12212B"/>
                          </a:solidFill>
                          <a:latin typeface="Arial"/>
                          <a:ea typeface="Arial"/>
                          <a:cs typeface="Arial"/>
                        </a:rPr>
                        <a:t>Dashboard lọc theo kỳ, nhà máy và người tuyển</a:t>
                      </a:r>
                    </a:p>
                  </a:txBody>
                  <a:tcPr marL="91440" marR="91440" marT="45720" marB="45720"/>
                </a:tc>
              </a:tr>
              <a:tr h="658813">
                <a:tc>
                  <a:txBody>
                    <a:bodyPr/>
                    <a:lstStyle/>
                    <a:p>
                      <a:r>
                        <a:rPr sz="1125" b="1">
                          <a:solidFill>
                            <a:srgbClr val="12212B"/>
                          </a:solidFill>
                          <a:latin typeface="Arial"/>
                          <a:ea typeface="Arial"/>
                          <a:cs typeface="Arial"/>
                        </a:rPr>
                        <a:t>Phê duyệt mơ hồ</a:t>
                      </a:r>
                    </a:p>
                  </a:txBody>
                  <a:tcPr marL="91440" marR="91440" marT="45720" marB="45720">
                    <a:solidFill>
                      <a:srgbClr val="EEF7F7"/>
                    </a:solidFill>
                  </a:tcPr>
                </a:tc>
                <a:tc>
                  <a:txBody>
                    <a:bodyPr/>
                    <a:lstStyle/>
                    <a:p>
                      <a:r>
                        <a:rPr sz="1125" b="0">
                          <a:solidFill>
                            <a:srgbClr val="12212B"/>
                          </a:solidFill>
                          <a:latin typeface="Arial"/>
                          <a:ea typeface="Arial"/>
                          <a:cs typeface="Arial"/>
                        </a:rPr>
                        <a:t>Không rõ ai chịu trách nhiệm</a:t>
                      </a:r>
                    </a:p>
                  </a:txBody>
                  <a:tcPr marL="91440" marR="91440" marT="45720" marB="45720"/>
                </a:tc>
                <a:tc>
                  <a:txBody>
                    <a:bodyPr/>
                    <a:lstStyle/>
                    <a:p>
                      <a:r>
                        <a:rPr sz="1125" b="0">
                          <a:solidFill>
                            <a:srgbClr val="12212B"/>
                          </a:solidFill>
                          <a:latin typeface="Arial"/>
                          <a:ea typeface="Arial"/>
                          <a:cs typeface="Arial"/>
                        </a:rPr>
                        <a:t>Trạng thái phê duyệt và nhật ký actor / thời điểm</a:t>
                      </a:r>
                    </a:p>
                  </a:txBody>
                  <a:tcPr marL="91440" marR="91440" marT="45720" marB="45720"/>
                </a:tc>
              </a:tr>
              <a:tr h="658813">
                <a:tc>
                  <a:txBody>
                    <a:bodyPr/>
                    <a:lstStyle/>
                    <a:p>
                      <a:r>
                        <a:rPr sz="1125" b="1">
                          <a:solidFill>
                            <a:srgbClr val="12212B"/>
                          </a:solidFill>
                          <a:latin typeface="Arial"/>
                          <a:ea typeface="Arial"/>
                          <a:cs typeface="Arial"/>
                        </a:rPr>
                        <a:t>Đối soát thủ công</a:t>
                      </a:r>
                    </a:p>
                  </a:txBody>
                  <a:tcPr marL="91440" marR="91440" marT="45720" marB="45720">
                    <a:solidFill>
                      <a:srgbClr val="EEF7F7"/>
                    </a:solidFill>
                  </a:tcPr>
                </a:tc>
                <a:tc>
                  <a:txBody>
                    <a:bodyPr/>
                    <a:lstStyle/>
                    <a:p>
                      <a:r>
                        <a:rPr sz="1125" b="0">
                          <a:solidFill>
                            <a:srgbClr val="12212B"/>
                          </a:solidFill>
                          <a:latin typeface="Arial"/>
                          <a:ea typeface="Arial"/>
                          <a:cs typeface="Arial"/>
                        </a:rPr>
                        <a:t>Tốn giờ tổng hợp, dễ bỏ sót</a:t>
                      </a:r>
                    </a:p>
                  </a:txBody>
                  <a:tcPr marL="91440" marR="91440" marT="45720" marB="45720"/>
                </a:tc>
                <a:tc>
                  <a:txBody>
                    <a:bodyPr/>
                    <a:lstStyle/>
                    <a:p>
                      <a:r>
                        <a:rPr sz="1125" b="0">
                          <a:solidFill>
                            <a:srgbClr val="12212B"/>
                          </a:solidFill>
                          <a:latin typeface="Arial"/>
                          <a:ea typeface="Arial"/>
                          <a:cs typeface="Arial"/>
                        </a:rPr>
                        <a:t>Nhập Excel có template, báo lỗi theo từng dòng, xuất lại file lỗi</a:t>
                      </a:r>
                    </a:p>
                  </a:txBody>
                  <a:tcPr marL="91440" marR="91440" marT="45720" marB="45720"/>
                </a:tc>
              </a:tr>
            </a:tbl>
          </a:graphicData>
        </a:graphic>
      </p:graphicFrame>
      <p:sp>
        <p:nvSpPr>
          <p:cNvPr id="4" name="">
            <a:extLst xmlns:a="http://schemas.openxmlformats.org/drawingml/2006/main">
              <a:ext uri="{FF2B5EF4-FFF2-40B4-BE49-F238E27FC236}">
                <a16:creationId xmlns:a16="http://schemas.microsoft.com/office/drawing/2014/main" id="{7542292D-F556-4748-9E6D-37111C6618C9}"/>
              </a:ext>
            </a:extLst>
          </p:cNvPr>
          <p:cNvSpPr>
            <a:spLocks xmlns:a="http://schemas.openxmlformats.org/drawingml/2006/main" noGrp="1"/>
          </p:cNvSpPr>
          <p:nvPr/>
        </p:nvSpPr>
        <p:spPr>
          <a:xfrm xmlns:a="http://schemas.openxmlformats.org/drawingml/2006/main">
            <a:off x="685800" y="57435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75" b="1">
                <a:solidFill>
                  <a:srgbClr val="0F8B8D"/>
                </a:solidFill>
                <a:latin typeface="Arial"/>
                <a:ea typeface="Arial"/>
                <a:cs typeface="Arial"/>
              </a:defRPr>
            </a:pPr>
            <a:r>
              <a:rPr sz="1575" b="1">
                <a:solidFill>
                  <a:srgbClr val="0F8B8D"/>
                </a:solidFill>
                <a:latin typeface="Arial"/>
                <a:ea typeface="Arial"/>
                <a:cs typeface="Arial"/>
              </a:rPr>
              <a:t>Mục tiêu thương mại hóa: biến dữ liệu vận hành thành tài sản dùng chung, không phải file của riêng một người.</a:t>
            </a:r>
          </a:p>
        </p:txBody>
      </p:sp>
      <p:sp>
        <p:nvSpPr>
          <p:cNvPr id="5" name="">
            <a:extLst xmlns:a="http://schemas.openxmlformats.org/drawingml/2006/main">
              <a:ext uri="{FF2B5EF4-FFF2-40B4-BE49-F238E27FC236}">
                <a16:creationId xmlns:a16="http://schemas.microsoft.com/office/drawing/2014/main" id="{E2374086-6A69-4161-83CA-64744D2E169D}"/>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6" name="">
            <a:extLst xmlns:a="http://schemas.openxmlformats.org/drawingml/2006/main">
              <a:ext uri="{FF2B5EF4-FFF2-40B4-BE49-F238E27FC236}">
                <a16:creationId xmlns:a16="http://schemas.microsoft.com/office/drawing/2014/main" id="{4EC56873-2612-4C9A-8AB4-0C4FFDA0BB51}"/>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05</a:t>
            </a:r>
          </a:p>
        </p:txBody>
      </p:sp>
    </p:spTree>
    <p:extLst>
      <p:ext uri="{BB962C8B-B14F-4D97-AF65-F5344CB8AC3E}">
        <p14:creationId xmlns:p14="http://schemas.microsoft.com/office/powerpoint/2010/main" val="1050430746"/>
      </p:ext>
    </p:extLst>
  </p:cSld>
</p:sld>
</file>

<file path=ppt/slides/slide6.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8411512-605A-4075-9C1C-218DFD4D6F02}"/>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GÓC NHÌN ĐIỀU HÀNH</a:t>
            </a:r>
          </a:p>
        </p:txBody>
      </p:sp>
      <p:sp>
        <p:nvSpPr>
          <p:cNvPr id="2" name="">
            <a:extLst xmlns:a="http://schemas.openxmlformats.org/drawingml/2006/main">
              <a:ext uri="{FF2B5EF4-FFF2-40B4-BE49-F238E27FC236}">
                <a16:creationId xmlns:a16="http://schemas.microsoft.com/office/drawing/2014/main" id="{5E90A6FB-7AAE-4699-8C7E-D55E66C7B800}"/>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Giám đốc thấy gì trong 5 phút?</a:t>
            </a:r>
          </a:p>
        </p:txBody>
      </p:sp>
      <p:sp>
        <p:nvSpPr>
          <p:cNvPr id="3" name="">
            <a:extLst xmlns:a="http://schemas.openxmlformats.org/drawingml/2006/main">
              <a:ext uri="{FF2B5EF4-FFF2-40B4-BE49-F238E27FC236}">
                <a16:creationId xmlns:a16="http://schemas.microsoft.com/office/drawing/2014/main" id="{DC030F73-5E70-47BF-B8B4-F15937BC1FAD}"/>
              </a:ext>
            </a:extLst>
          </p:cNvPr>
          <p:cNvSpPr>
            <a:spLocks xmlns:a="http://schemas.openxmlformats.org/drawingml/2006/main" noGrp="1"/>
          </p:cNvSpPr>
          <p:nvPr/>
        </p:nvSpPr>
        <p:spPr>
          <a:xfrm xmlns:a="http://schemas.openxmlformats.org/drawingml/2006/main">
            <a:off x="685800" y="129540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0">
                <a:solidFill>
                  <a:srgbClr val="52606D"/>
                </a:solidFill>
                <a:latin typeface="Arial"/>
                <a:ea typeface="Arial"/>
                <a:cs typeface="Arial"/>
              </a:defRPr>
            </a:pPr>
            <a:r>
              <a:rPr sz="1725" b="0">
                <a:solidFill>
                  <a:srgbClr val="52606D"/>
                </a:solidFill>
                <a:latin typeface="Arial"/>
                <a:ea typeface="Arial"/>
                <a:cs typeface="Arial"/>
              </a:rPr>
              <a:t>Một màn hình tốt phải trả lời được câu hỏi tiếp theo, không chỉ hiển thị thêm dữ liệu.</a:t>
            </a:r>
          </a:p>
        </p:txBody>
      </p:sp>
      <p:sp>
        <p:nvSpPr>
          <p:cNvPr id="4" name="">
            <a:extLst xmlns:a="http://schemas.openxmlformats.org/drawingml/2006/main">
              <a:ext uri="{FF2B5EF4-FFF2-40B4-BE49-F238E27FC236}">
                <a16:creationId xmlns:a16="http://schemas.microsoft.com/office/drawing/2014/main" id="{3A91CF71-144F-4A7A-87C7-FC707210440E}"/>
              </a:ext>
            </a:extLst>
          </p:cNvPr>
          <p:cNvSpPr>
            <a:spLocks xmlns:a="http://schemas.openxmlformats.org/drawingml/2006/main" noGrp="1"/>
          </p:cNvSpPr>
          <p:nvPr/>
        </p:nvSpPr>
        <p:spPr>
          <a:xfrm xmlns:a="http://schemas.openxmlformats.org/drawingml/2006/main">
            <a:off x="685800" y="2000250"/>
            <a:ext cx="4762500" cy="3429000"/>
          </a:xfrm>
          <a:prstGeom xmlns:a="http://schemas.openxmlformats.org/drawingml/2006/main" prst="roundRect">
            <a:avLst>
              <a:gd name="adj" fmla="val 5556"/>
            </a:avLst>
          </a:prstGeom>
          <a:solidFill xmlns:a="http://schemas.openxmlformats.org/drawingml/2006/main">
            <a:srgbClr val="0B253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7CD1467-6C83-4FB6-AD10-BA49BB7E2FE7}"/>
              </a:ext>
            </a:extLst>
          </p:cNvPr>
          <p:cNvSpPr>
            <a:spLocks xmlns:a="http://schemas.openxmlformats.org/drawingml/2006/main" noGrp="1"/>
          </p:cNvSpPr>
          <p:nvPr/>
        </p:nvSpPr>
        <p:spPr>
          <a:xfrm xmlns:a="http://schemas.openxmlformats.org/drawingml/2006/main">
            <a:off x="1028700" y="232410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Câu hỏi điều hành</a:t>
            </a:r>
          </a:p>
        </p:txBody>
      </p:sp>
      <p:sp>
        <p:nvSpPr>
          <p:cNvPr id="6" name="">
            <a:extLst xmlns:a="http://schemas.openxmlformats.org/drawingml/2006/main">
              <a:ext uri="{FF2B5EF4-FFF2-40B4-BE49-F238E27FC236}">
                <a16:creationId xmlns:a16="http://schemas.microsoft.com/office/drawing/2014/main" id="{5C3372DD-314D-4229-B355-64D61E684DC0}"/>
              </a:ext>
            </a:extLst>
          </p:cNvPr>
          <p:cNvSpPr>
            <a:spLocks xmlns:a="http://schemas.openxmlformats.org/drawingml/2006/main" noGrp="1"/>
          </p:cNvSpPr>
          <p:nvPr/>
        </p:nvSpPr>
        <p:spPr>
          <a:xfrm xmlns:a="http://schemas.openxmlformats.org/drawingml/2006/main">
            <a:off x="1028700" y="29051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8C29145-CD3C-45D6-A308-E84DE96400E2}"/>
              </a:ext>
            </a:extLst>
          </p:cNvPr>
          <p:cNvSpPr>
            <a:spLocks xmlns:a="http://schemas.openxmlformats.org/drawingml/2006/main" noGrp="1"/>
          </p:cNvSpPr>
          <p:nvPr/>
        </p:nvSpPr>
        <p:spPr>
          <a:xfrm xmlns:a="http://schemas.openxmlformats.org/drawingml/2006/main">
            <a:off x="1257300" y="283845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Hôm nay có bao nhiêu NLĐ đang làm?</a:t>
            </a:r>
          </a:p>
        </p:txBody>
      </p:sp>
      <p:sp>
        <p:nvSpPr>
          <p:cNvPr id="8" name="">
            <a:extLst xmlns:a="http://schemas.openxmlformats.org/drawingml/2006/main">
              <a:ext uri="{FF2B5EF4-FFF2-40B4-BE49-F238E27FC236}">
                <a16:creationId xmlns:a16="http://schemas.microsoft.com/office/drawing/2014/main" id="{981EA456-1AD9-479E-B413-F94E3B4666CC}"/>
              </a:ext>
            </a:extLst>
          </p:cNvPr>
          <p:cNvSpPr>
            <a:spLocks xmlns:a="http://schemas.openxmlformats.org/drawingml/2006/main" noGrp="1"/>
          </p:cNvSpPr>
          <p:nvPr/>
        </p:nvSpPr>
        <p:spPr>
          <a:xfrm xmlns:a="http://schemas.openxmlformats.org/drawingml/2006/main">
            <a:off x="1028700" y="34575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B873631-426F-4759-A3BC-D94BB0FBB5D2}"/>
              </a:ext>
            </a:extLst>
          </p:cNvPr>
          <p:cNvSpPr>
            <a:spLocks xmlns:a="http://schemas.openxmlformats.org/drawingml/2006/main" noGrp="1"/>
          </p:cNvSpPr>
          <p:nvPr/>
        </p:nvSpPr>
        <p:spPr>
          <a:xfrm xmlns:a="http://schemas.openxmlformats.org/drawingml/2006/main">
            <a:off x="1257300" y="339090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Nhà máy nào tuyển mới hoặc rời việc nhiều?</a:t>
            </a:r>
          </a:p>
        </p:txBody>
      </p:sp>
      <p:sp>
        <p:nvSpPr>
          <p:cNvPr id="10" name="">
            <a:extLst xmlns:a="http://schemas.openxmlformats.org/drawingml/2006/main">
              <a:ext uri="{FF2B5EF4-FFF2-40B4-BE49-F238E27FC236}">
                <a16:creationId xmlns:a16="http://schemas.microsoft.com/office/drawing/2014/main" id="{D2C14F2B-B4A9-449E-BAEB-047BD3ABD30C}"/>
              </a:ext>
            </a:extLst>
          </p:cNvPr>
          <p:cNvSpPr>
            <a:spLocks xmlns:a="http://schemas.openxmlformats.org/drawingml/2006/main" noGrp="1"/>
          </p:cNvSpPr>
          <p:nvPr/>
        </p:nvSpPr>
        <p:spPr>
          <a:xfrm xmlns:a="http://schemas.openxmlformats.org/drawingml/2006/main">
            <a:off x="1028700" y="40100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AB13088-4B7C-46BF-95CA-56B287E3436E}"/>
              </a:ext>
            </a:extLst>
          </p:cNvPr>
          <p:cNvSpPr>
            <a:spLocks xmlns:a="http://schemas.openxmlformats.org/drawingml/2006/main" noGrp="1"/>
          </p:cNvSpPr>
          <p:nvPr/>
        </p:nvSpPr>
        <p:spPr>
          <a:xfrm xmlns:a="http://schemas.openxmlformats.org/drawingml/2006/main">
            <a:off x="1257300" y="394335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Nguồn tuyển nội bộ hay đối tác hiệu quả hơn?</a:t>
            </a:r>
          </a:p>
        </p:txBody>
      </p:sp>
      <p:sp>
        <p:nvSpPr>
          <p:cNvPr id="12" name="">
            <a:extLst xmlns:a="http://schemas.openxmlformats.org/drawingml/2006/main">
              <a:ext uri="{FF2B5EF4-FFF2-40B4-BE49-F238E27FC236}">
                <a16:creationId xmlns:a16="http://schemas.microsoft.com/office/drawing/2014/main" id="{832DF076-A102-47AE-BD15-CCDED66668BD}"/>
              </a:ext>
            </a:extLst>
          </p:cNvPr>
          <p:cNvSpPr>
            <a:spLocks xmlns:a="http://schemas.openxmlformats.org/drawingml/2006/main" noGrp="1"/>
          </p:cNvSpPr>
          <p:nvPr/>
        </p:nvSpPr>
        <p:spPr>
          <a:xfrm xmlns:a="http://schemas.openxmlformats.org/drawingml/2006/main">
            <a:off x="1028700" y="45624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49FCC64-968F-46FB-91CB-BC61EB3A529D}"/>
              </a:ext>
            </a:extLst>
          </p:cNvPr>
          <p:cNvSpPr>
            <a:spLocks xmlns:a="http://schemas.openxmlformats.org/drawingml/2006/main" noGrp="1"/>
          </p:cNvSpPr>
          <p:nvPr/>
        </p:nvSpPr>
        <p:spPr>
          <a:xfrm xmlns:a="http://schemas.openxmlformats.org/drawingml/2006/main">
            <a:off x="1257300" y="449580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Có yêu cầu nào đang chờ phê duyệt?</a:t>
            </a:r>
          </a:p>
        </p:txBody>
      </p:sp>
      <p:sp>
        <p:nvSpPr>
          <p:cNvPr id="14" name="">
            <a:extLst xmlns:a="http://schemas.openxmlformats.org/drawingml/2006/main">
              <a:ext uri="{FF2B5EF4-FFF2-40B4-BE49-F238E27FC236}">
                <a16:creationId xmlns:a16="http://schemas.microsoft.com/office/drawing/2014/main" id="{C74EE73F-C7F0-4B7E-BD3B-09E37E9FC6F3}"/>
              </a:ext>
            </a:extLst>
          </p:cNvPr>
          <p:cNvSpPr>
            <a:spLocks xmlns:a="http://schemas.openxmlformats.org/drawingml/2006/main" noGrp="1"/>
          </p:cNvSpPr>
          <p:nvPr/>
        </p:nvSpPr>
        <p:spPr>
          <a:xfrm xmlns:a="http://schemas.openxmlformats.org/drawingml/2006/main">
            <a:off x="5905500" y="2000250"/>
            <a:ext cx="5600700" cy="34290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8E5E5"/>
            </a:solidFill>
          </a:ln>
        </p:spPr>
      </p:sp>
      <p:sp>
        <p:nvSpPr>
          <p:cNvPr id="15" name="">
            <a:extLst xmlns:a="http://schemas.openxmlformats.org/drawingml/2006/main">
              <a:ext uri="{FF2B5EF4-FFF2-40B4-BE49-F238E27FC236}">
                <a16:creationId xmlns:a16="http://schemas.microsoft.com/office/drawing/2014/main" id="{69D648DD-6898-4227-8919-5A5F71ED6F44}"/>
              </a:ext>
            </a:extLst>
          </p:cNvPr>
          <p:cNvSpPr>
            <a:spLocks xmlns:a="http://schemas.openxmlformats.org/drawingml/2006/main" noGrp="1"/>
          </p:cNvSpPr>
          <p:nvPr/>
        </p:nvSpPr>
        <p:spPr>
          <a:xfrm xmlns:a="http://schemas.openxmlformats.org/drawingml/2006/main">
            <a:off x="6248400" y="2324100"/>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Câu trả lời từ hệ thống</a:t>
            </a:r>
          </a:p>
        </p:txBody>
      </p:sp>
      <p:sp>
        <p:nvSpPr>
          <p:cNvPr id="16" name="">
            <a:extLst xmlns:a="http://schemas.openxmlformats.org/drawingml/2006/main">
              <a:ext uri="{FF2B5EF4-FFF2-40B4-BE49-F238E27FC236}">
                <a16:creationId xmlns:a16="http://schemas.microsoft.com/office/drawing/2014/main" id="{5480EE09-16CE-4F25-8E54-DE6DAD61653E}"/>
              </a:ext>
            </a:extLst>
          </p:cNvPr>
          <p:cNvSpPr>
            <a:spLocks xmlns:a="http://schemas.openxmlformats.org/drawingml/2006/main" noGrp="1"/>
          </p:cNvSpPr>
          <p:nvPr/>
        </p:nvSpPr>
        <p:spPr>
          <a:xfrm xmlns:a="http://schemas.openxmlformats.org/drawingml/2006/main">
            <a:off x="6248400" y="2867025"/>
            <a:ext cx="95250" cy="3238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F94FF4C-FBEB-406A-8C5C-E0C39ED39403}"/>
              </a:ext>
            </a:extLst>
          </p:cNvPr>
          <p:cNvSpPr>
            <a:spLocks xmlns:a="http://schemas.openxmlformats.org/drawingml/2006/main" noGrp="1"/>
          </p:cNvSpPr>
          <p:nvPr/>
        </p:nvSpPr>
        <p:spPr>
          <a:xfrm xmlns:a="http://schemas.openxmlformats.org/drawingml/2006/main">
            <a:off x="6477000" y="2838450"/>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Trạng thái làm việc</a:t>
            </a:r>
          </a:p>
        </p:txBody>
      </p:sp>
      <p:sp>
        <p:nvSpPr>
          <p:cNvPr id="18" name="">
            <a:extLst xmlns:a="http://schemas.openxmlformats.org/drawingml/2006/main">
              <a:ext uri="{FF2B5EF4-FFF2-40B4-BE49-F238E27FC236}">
                <a16:creationId xmlns:a16="http://schemas.microsoft.com/office/drawing/2014/main" id="{94310B07-B130-4032-9356-ECBD804F13A6}"/>
              </a:ext>
            </a:extLst>
          </p:cNvPr>
          <p:cNvSpPr>
            <a:spLocks xmlns:a="http://schemas.openxmlformats.org/drawingml/2006/main" noGrp="1"/>
          </p:cNvSpPr>
          <p:nvPr/>
        </p:nvSpPr>
        <p:spPr>
          <a:xfrm xmlns:a="http://schemas.openxmlformats.org/drawingml/2006/main">
            <a:off x="8343900" y="28384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Đang làm / đã nghỉ / theo kỳ</a:t>
            </a:r>
          </a:p>
        </p:txBody>
      </p:sp>
      <p:sp>
        <p:nvSpPr>
          <p:cNvPr id="19" name="">
            <a:extLst xmlns:a="http://schemas.openxmlformats.org/drawingml/2006/main">
              <a:ext uri="{FF2B5EF4-FFF2-40B4-BE49-F238E27FC236}">
                <a16:creationId xmlns:a16="http://schemas.microsoft.com/office/drawing/2014/main" id="{DFADB267-34DB-465C-8091-EDAF1CEECF17}"/>
              </a:ext>
            </a:extLst>
          </p:cNvPr>
          <p:cNvSpPr>
            <a:spLocks xmlns:a="http://schemas.openxmlformats.org/drawingml/2006/main" noGrp="1"/>
          </p:cNvSpPr>
          <p:nvPr/>
        </p:nvSpPr>
        <p:spPr>
          <a:xfrm xmlns:a="http://schemas.openxmlformats.org/drawingml/2006/main">
            <a:off x="6248400" y="3390900"/>
            <a:ext cx="95250" cy="3238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9D97B4C-88D8-4502-B716-C19C6D5278D6}"/>
              </a:ext>
            </a:extLst>
          </p:cNvPr>
          <p:cNvSpPr>
            <a:spLocks xmlns:a="http://schemas.openxmlformats.org/drawingml/2006/main" noGrp="1"/>
          </p:cNvSpPr>
          <p:nvPr/>
        </p:nvSpPr>
        <p:spPr>
          <a:xfrm xmlns:a="http://schemas.openxmlformats.org/drawingml/2006/main">
            <a:off x="6477000" y="3362325"/>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Hiệu quả tuyển</a:t>
            </a:r>
          </a:p>
        </p:txBody>
      </p:sp>
      <p:sp>
        <p:nvSpPr>
          <p:cNvPr id="21" name="">
            <a:extLst xmlns:a="http://schemas.openxmlformats.org/drawingml/2006/main">
              <a:ext uri="{FF2B5EF4-FFF2-40B4-BE49-F238E27FC236}">
                <a16:creationId xmlns:a16="http://schemas.microsoft.com/office/drawing/2014/main" id="{30157BC9-4552-482E-A79F-4DA016D47059}"/>
              </a:ext>
            </a:extLst>
          </p:cNvPr>
          <p:cNvSpPr>
            <a:spLocks xmlns:a="http://schemas.openxmlformats.org/drawingml/2006/main" noGrp="1"/>
          </p:cNvSpPr>
          <p:nvPr/>
        </p:nvSpPr>
        <p:spPr>
          <a:xfrm xmlns:a="http://schemas.openxmlformats.org/drawingml/2006/main">
            <a:off x="8343900" y="3362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Theo nhà máy và người tuyển</a:t>
            </a:r>
          </a:p>
        </p:txBody>
      </p:sp>
      <p:sp>
        <p:nvSpPr>
          <p:cNvPr id="22" name="">
            <a:extLst xmlns:a="http://schemas.openxmlformats.org/drawingml/2006/main">
              <a:ext uri="{FF2B5EF4-FFF2-40B4-BE49-F238E27FC236}">
                <a16:creationId xmlns:a16="http://schemas.microsoft.com/office/drawing/2014/main" id="{A89A6A66-30F2-4717-BFE1-B9073EFED53F}"/>
              </a:ext>
            </a:extLst>
          </p:cNvPr>
          <p:cNvSpPr>
            <a:spLocks xmlns:a="http://schemas.openxmlformats.org/drawingml/2006/main" noGrp="1"/>
          </p:cNvSpPr>
          <p:nvPr/>
        </p:nvSpPr>
        <p:spPr>
          <a:xfrm xmlns:a="http://schemas.openxmlformats.org/drawingml/2006/main">
            <a:off x="6248400" y="3914775"/>
            <a:ext cx="95250" cy="323850"/>
          </a:xfrm>
          <a:prstGeom xmlns:a="http://schemas.openxmlformats.org/drawingml/2006/main" prst="roundRect">
            <a:avLst>
              <a:gd name="adj" fmla="val 50000"/>
            </a:avLst>
          </a:prstGeom>
          <a:solidFill xmlns:a="http://schemas.openxmlformats.org/drawingml/2006/main">
            <a:srgbClr val="159A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D624FDB-6DC0-481F-904E-8F6AB2C23235}"/>
              </a:ext>
            </a:extLst>
          </p:cNvPr>
          <p:cNvSpPr>
            <a:spLocks xmlns:a="http://schemas.openxmlformats.org/drawingml/2006/main" noGrp="1"/>
          </p:cNvSpPr>
          <p:nvPr/>
        </p:nvSpPr>
        <p:spPr>
          <a:xfrm xmlns:a="http://schemas.openxmlformats.org/drawingml/2006/main">
            <a:off x="6477000" y="3886200"/>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Công lương</a:t>
            </a:r>
          </a:p>
        </p:txBody>
      </p:sp>
      <p:sp>
        <p:nvSpPr>
          <p:cNvPr id="24" name="">
            <a:extLst xmlns:a="http://schemas.openxmlformats.org/drawingml/2006/main">
              <a:ext uri="{FF2B5EF4-FFF2-40B4-BE49-F238E27FC236}">
                <a16:creationId xmlns:a16="http://schemas.microsoft.com/office/drawing/2014/main" id="{768E0212-F724-4FF7-9A16-E459D1295A67}"/>
              </a:ext>
            </a:extLst>
          </p:cNvPr>
          <p:cNvSpPr>
            <a:spLocks xmlns:a="http://schemas.openxmlformats.org/drawingml/2006/main" noGrp="1"/>
          </p:cNvSpPr>
          <p:nvPr/>
        </p:nvSpPr>
        <p:spPr>
          <a:xfrm xmlns:a="http://schemas.openxmlformats.org/drawingml/2006/main">
            <a:off x="8343900" y="38862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Bảng công, lương, số giờ</a:t>
            </a:r>
          </a:p>
        </p:txBody>
      </p:sp>
      <p:sp>
        <p:nvSpPr>
          <p:cNvPr id="25" name="">
            <a:extLst xmlns:a="http://schemas.openxmlformats.org/drawingml/2006/main">
              <a:ext uri="{FF2B5EF4-FFF2-40B4-BE49-F238E27FC236}">
                <a16:creationId xmlns:a16="http://schemas.microsoft.com/office/drawing/2014/main" id="{8914C175-348D-4131-9184-BE615F608ACF}"/>
              </a:ext>
            </a:extLst>
          </p:cNvPr>
          <p:cNvSpPr>
            <a:spLocks xmlns:a="http://schemas.openxmlformats.org/drawingml/2006/main" noGrp="1"/>
          </p:cNvSpPr>
          <p:nvPr/>
        </p:nvSpPr>
        <p:spPr>
          <a:xfrm xmlns:a="http://schemas.openxmlformats.org/drawingml/2006/main">
            <a:off x="6248400" y="4438650"/>
            <a:ext cx="95250" cy="323850"/>
          </a:xfrm>
          <a:prstGeom xmlns:a="http://schemas.openxmlformats.org/drawingml/2006/main" prst="roundRect">
            <a:avLst>
              <a:gd name="adj" fmla="val 50000"/>
            </a:avLst>
          </a:prstGeom>
          <a:solidFill xmlns:a="http://schemas.openxmlformats.org/drawingml/2006/main">
            <a:srgbClr val="D85C5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5C20C0F-E2D0-4B19-901B-59254C8A186A}"/>
              </a:ext>
            </a:extLst>
          </p:cNvPr>
          <p:cNvSpPr>
            <a:spLocks xmlns:a="http://schemas.openxmlformats.org/drawingml/2006/main" noGrp="1"/>
          </p:cNvSpPr>
          <p:nvPr/>
        </p:nvSpPr>
        <p:spPr>
          <a:xfrm xmlns:a="http://schemas.openxmlformats.org/drawingml/2006/main">
            <a:off x="6477000" y="4410075"/>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Kiểm soát</a:t>
            </a:r>
          </a:p>
        </p:txBody>
      </p:sp>
      <p:sp>
        <p:nvSpPr>
          <p:cNvPr id="27" name="">
            <a:extLst xmlns:a="http://schemas.openxmlformats.org/drawingml/2006/main">
              <a:ext uri="{FF2B5EF4-FFF2-40B4-BE49-F238E27FC236}">
                <a16:creationId xmlns:a16="http://schemas.microsoft.com/office/drawing/2014/main" id="{7957E6F5-8657-42DA-AEE2-75D42530F842}"/>
              </a:ext>
            </a:extLst>
          </p:cNvPr>
          <p:cNvSpPr>
            <a:spLocks xmlns:a="http://schemas.openxmlformats.org/drawingml/2006/main" noGrp="1"/>
          </p:cNvSpPr>
          <p:nvPr/>
        </p:nvSpPr>
        <p:spPr>
          <a:xfrm xmlns:a="http://schemas.openxmlformats.org/drawingml/2006/main">
            <a:off x="8343900" y="441007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Phê duyệt, log, cảnh báo trùng</a:t>
            </a:r>
          </a:p>
        </p:txBody>
      </p:sp>
      <p:sp>
        <p:nvSpPr>
          <p:cNvPr id="28" name="">
            <a:extLst xmlns:a="http://schemas.openxmlformats.org/drawingml/2006/main">
              <a:ext uri="{FF2B5EF4-FFF2-40B4-BE49-F238E27FC236}">
                <a16:creationId xmlns:a16="http://schemas.microsoft.com/office/drawing/2014/main" id="{1BD485C2-0A3D-4402-B9C0-D91D5FFB2B34}"/>
              </a:ext>
            </a:extLst>
          </p:cNvPr>
          <p:cNvSpPr>
            <a:spLocks xmlns:a="http://schemas.openxmlformats.org/drawingml/2006/main" noGrp="1"/>
          </p:cNvSpPr>
          <p:nvPr/>
        </p:nvSpPr>
        <p:spPr>
          <a:xfrm xmlns:a="http://schemas.openxmlformats.org/drawingml/2006/main">
            <a:off x="685800" y="58293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0F8B8D"/>
                </a:solidFill>
                <a:latin typeface="Arial"/>
                <a:ea typeface="Arial"/>
                <a:cs typeface="Arial"/>
              </a:defRPr>
            </a:pPr>
            <a:r>
              <a:rPr sz="1500" b="1">
                <a:solidFill>
                  <a:srgbClr val="0F8B8D"/>
                </a:solidFill>
                <a:latin typeface="Arial"/>
                <a:ea typeface="Arial"/>
                <a:cs typeface="Arial"/>
              </a:rPr>
              <a:t>Kết quả: cuộc họp bắt đầu từ quyết định, không bắt đầu từ việc hỏi “file nào mới nhất?”.</a:t>
            </a:r>
          </a:p>
        </p:txBody>
      </p:sp>
      <p:sp>
        <p:nvSpPr>
          <p:cNvPr id="29" name="">
            <a:extLst xmlns:a="http://schemas.openxmlformats.org/drawingml/2006/main">
              <a:ext uri="{FF2B5EF4-FFF2-40B4-BE49-F238E27FC236}">
                <a16:creationId xmlns:a16="http://schemas.microsoft.com/office/drawing/2014/main" id="{021F175C-2DF7-4A6F-9AC4-E62F22B959CB}"/>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0" name="">
            <a:extLst xmlns:a="http://schemas.openxmlformats.org/drawingml/2006/main">
              <a:ext uri="{FF2B5EF4-FFF2-40B4-BE49-F238E27FC236}">
                <a16:creationId xmlns:a16="http://schemas.microsoft.com/office/drawing/2014/main" id="{3024211F-B52A-4DE4-9CDF-ACF9977935F7}"/>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06</a:t>
            </a:r>
          </a:p>
        </p:txBody>
      </p:sp>
    </p:spTree>
    <p:extLst>
      <p:ext uri="{BB962C8B-B14F-4D97-AF65-F5344CB8AC3E}">
        <p14:creationId xmlns:p14="http://schemas.microsoft.com/office/powerpoint/2010/main" val="2123294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2E94FD-5279-4A49-8318-13B11A62D82C}"/>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ĐỀ XUẤT GIÁ NIÊM YẾT</a:t>
            </a:r>
          </a:p>
        </p:txBody>
      </p:sp>
      <p:sp>
        <p:nvSpPr>
          <p:cNvPr id="2" name="">
            <a:extLst xmlns:a="http://schemas.openxmlformats.org/drawingml/2006/main">
              <a:ext uri="{FF2B5EF4-FFF2-40B4-BE49-F238E27FC236}">
                <a16:creationId xmlns:a16="http://schemas.microsoft.com/office/drawing/2014/main" id="{607B4923-56F4-4293-A469-29E0BEC6C92E}"/>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Gói giá theo quy mô vận hành</a:t>
            </a:r>
          </a:p>
        </p:txBody>
      </p:sp>
      <p:sp>
        <p:nvSpPr>
          <p:cNvPr id="3" name="">
            <a:extLst xmlns:a="http://schemas.openxmlformats.org/drawingml/2006/main">
              <a:ext uri="{FF2B5EF4-FFF2-40B4-BE49-F238E27FC236}">
                <a16:creationId xmlns:a16="http://schemas.microsoft.com/office/drawing/2014/main" id="{CB6BFCDB-85D0-4BE9-90EB-CCE4E850ADFE}"/>
              </a:ext>
            </a:extLst>
          </p:cNvPr>
          <p:cNvSpPr>
            <a:spLocks xmlns:a="http://schemas.openxmlformats.org/drawingml/2006/main" noGrp="1"/>
          </p:cNvSpPr>
          <p:nvPr/>
        </p:nvSpPr>
        <p:spPr>
          <a:xfrm xmlns:a="http://schemas.openxmlformats.org/drawingml/2006/main">
            <a:off x="685800" y="12954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0">
                <a:solidFill>
                  <a:srgbClr val="52606D"/>
                </a:solidFill>
                <a:latin typeface="Arial"/>
                <a:ea typeface="Arial"/>
                <a:cs typeface="Arial"/>
              </a:defRPr>
            </a:pPr>
            <a:r>
              <a:rPr sz="1575" b="0">
                <a:solidFill>
                  <a:srgbClr val="52606D"/>
                </a:solidFill>
                <a:latin typeface="Arial"/>
                <a:ea typeface="Arial"/>
                <a:cs typeface="Arial"/>
              </a:rPr>
              <a:t>Đơn vị tính theo dữ liệu cần quản lý. Mỗi gói gồm một công ty, hỗ trợ onboarding từ xa và cập nhật tính năng nền tảng.</a:t>
            </a:r>
          </a:p>
        </p:txBody>
      </p:sp>
      <p:graphicFrame>
        <p:nvGraphicFramePr>
          <p:cNvPr id="12" name=""/>
          <p:cNvGraphicFramePr/>
          <p:nvPr/>
        </p:nvGraphicFramePr>
        <p:xfrm>
          <a:off xmlns:a="http://schemas.openxmlformats.org/drawingml/2006/main" x="685800" y="1943100"/>
          <a:ext xmlns:a="http://schemas.openxmlformats.org/drawingml/2006/main" cx="10820400" cy="3048000"/>
        </p:xfrm>
        <a:graphic xmlns:a="http://schemas.openxmlformats.org/drawingml/2006/main">
          <a:graphicData uri="http://schemas.openxmlformats.org/drawingml/2006/table">
            <a:tbl>
              <a:tblPr firstRow="1" bandRow="1"/>
              <a:tblGrid>
                <a:gridCol w="2266950"/>
                <a:gridCol w="1714500"/>
                <a:gridCol w="2266950"/>
                <a:gridCol w="2266950"/>
                <a:gridCol w="2305050"/>
              </a:tblGrid>
              <a:tr h="609600">
                <a:tc>
                  <a:txBody>
                    <a:bodyPr/>
                    <a:lstStyle/>
                    <a:p>
                      <a:pPr algn="l"/>
                      <a:r>
                        <a:rPr sz="1125" b="1">
                          <a:solidFill>
                            <a:srgbClr val="FFFFFF"/>
                          </a:solidFill>
                          <a:latin typeface="Arial"/>
                          <a:ea typeface="Arial"/>
                          <a:cs typeface="Arial"/>
                        </a:rPr>
                        <a:t>Gói</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Giá / tháng</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Lịch sử đi làm</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Tài khoản staff</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Đối tác / Nhà máy</a:t>
                      </a:r>
                    </a:p>
                  </a:txBody>
                  <a:tcPr marL="91440" marR="91440" marT="45720" marB="45720">
                    <a:solidFill>
                      <a:srgbClr val="0B2538"/>
                    </a:solidFill>
                  </a:tcPr>
                </a:tc>
              </a:tr>
              <a:tr h="609600">
                <a:tc>
                  <a:txBody>
                    <a:bodyPr/>
                    <a:lstStyle/>
                    <a:p>
                      <a:pPr algn="l"/>
                      <a:r>
                        <a:rPr sz="1350" b="1">
                          <a:solidFill>
                            <a:srgbClr val="12212B"/>
                          </a:solidFill>
                          <a:latin typeface="Arial"/>
                          <a:ea typeface="Arial"/>
                          <a:cs typeface="Arial"/>
                        </a:rPr>
                        <a:t>Khởi động</a:t>
                      </a:r>
                    </a:p>
                  </a:txBody>
                  <a:tcPr marL="91440" marR="91440" marT="45720" marB="45720"/>
                </a:tc>
                <a:tc>
                  <a:txBody>
                    <a:bodyPr/>
                    <a:lstStyle/>
                    <a:p>
                      <a:pPr algn="ctr"/>
                      <a:r>
                        <a:rPr sz="1350" b="1">
                          <a:solidFill>
                            <a:srgbClr val="12212B"/>
                          </a:solidFill>
                          <a:latin typeface="Arial"/>
                          <a:ea typeface="Arial"/>
                          <a:cs typeface="Arial"/>
                        </a:rPr>
                        <a:t>500.000 đ</a:t>
                      </a:r>
                    </a:p>
                  </a:txBody>
                  <a:tcPr marL="91440" marR="91440" marT="45720" marB="45720">
                    <a:solidFill>
                      <a:srgbClr val="FFF5DF"/>
                    </a:solidFill>
                  </a:tcPr>
                </a:tc>
                <a:tc>
                  <a:txBody>
                    <a:bodyPr/>
                    <a:lstStyle/>
                    <a:p>
                      <a:pPr algn="ctr"/>
                      <a:r>
                        <a:rPr sz="1350" b="0">
                          <a:solidFill>
                            <a:srgbClr val="12212B"/>
                          </a:solidFill>
                          <a:latin typeface="Arial"/>
                          <a:ea typeface="Arial"/>
                          <a:cs typeface="Arial"/>
                        </a:rPr>
                        <a:t>500</a:t>
                      </a:r>
                    </a:p>
                  </a:txBody>
                  <a:tcPr marL="91440" marR="91440" marT="45720" marB="45720"/>
                </a:tc>
                <a:tc>
                  <a:txBody>
                    <a:bodyPr/>
                    <a:lstStyle/>
                    <a:p>
                      <a:pPr algn="ctr"/>
                      <a:r>
                        <a:rPr sz="1350" b="0">
                          <a:solidFill>
                            <a:srgbClr val="12212B"/>
                          </a:solidFill>
                          <a:latin typeface="Arial"/>
                          <a:ea typeface="Arial"/>
                          <a:cs typeface="Arial"/>
                        </a:rPr>
                        <a:t>5</a:t>
                      </a:r>
                    </a:p>
                  </a:txBody>
                  <a:tcPr marL="91440" marR="91440" marT="45720" marB="45720"/>
                </a:tc>
                <a:tc>
                  <a:txBody>
                    <a:bodyPr/>
                    <a:lstStyle/>
                    <a:p>
                      <a:pPr algn="ctr"/>
                      <a:r>
                        <a:rPr sz="1350" b="0">
                          <a:solidFill>
                            <a:srgbClr val="12212B"/>
                          </a:solidFill>
                          <a:latin typeface="Arial"/>
                          <a:ea typeface="Arial"/>
                          <a:cs typeface="Arial"/>
                        </a:rPr>
                        <a:t>5 / 5</a:t>
                      </a:r>
                    </a:p>
                  </a:txBody>
                  <a:tcPr marL="91440" marR="91440" marT="45720" marB="45720"/>
                </a:tc>
              </a:tr>
              <a:tr h="609600">
                <a:tc>
                  <a:txBody>
                    <a:bodyPr/>
                    <a:lstStyle/>
                    <a:p>
                      <a:pPr algn="l"/>
                      <a:r>
                        <a:rPr sz="1350" b="1">
                          <a:solidFill>
                            <a:srgbClr val="12212B"/>
                          </a:solidFill>
                          <a:latin typeface="Arial"/>
                          <a:ea typeface="Arial"/>
                          <a:cs typeface="Arial"/>
                        </a:rPr>
                        <a:t>Tăng trưởng</a:t>
                      </a:r>
                    </a:p>
                  </a:txBody>
                  <a:tcPr marL="91440" marR="91440" marT="45720" marB="45720"/>
                </a:tc>
                <a:tc>
                  <a:txBody>
                    <a:bodyPr/>
                    <a:lstStyle/>
                    <a:p>
                      <a:pPr algn="ctr"/>
                      <a:r>
                        <a:rPr sz="1350" b="1">
                          <a:solidFill>
                            <a:srgbClr val="12212B"/>
                          </a:solidFill>
                          <a:latin typeface="Arial"/>
                          <a:ea typeface="Arial"/>
                          <a:cs typeface="Arial"/>
                        </a:rPr>
                        <a:t>1.500.000 đ</a:t>
                      </a:r>
                    </a:p>
                  </a:txBody>
                  <a:tcPr marL="91440" marR="91440" marT="45720" marB="45720"/>
                </a:tc>
                <a:tc>
                  <a:txBody>
                    <a:bodyPr/>
                    <a:lstStyle/>
                    <a:p>
                      <a:pPr algn="ctr"/>
                      <a:r>
                        <a:rPr sz="1350" b="0">
                          <a:solidFill>
                            <a:srgbClr val="12212B"/>
                          </a:solidFill>
                          <a:latin typeface="Arial"/>
                          <a:ea typeface="Arial"/>
                          <a:cs typeface="Arial"/>
                        </a:rPr>
                        <a:t>2.000</a:t>
                      </a:r>
                    </a:p>
                  </a:txBody>
                  <a:tcPr marL="91440" marR="91440" marT="45720" marB="45720"/>
                </a:tc>
                <a:tc>
                  <a:txBody>
                    <a:bodyPr/>
                    <a:lstStyle/>
                    <a:p>
                      <a:pPr algn="ctr"/>
                      <a:r>
                        <a:rPr sz="1350" b="0">
                          <a:solidFill>
                            <a:srgbClr val="12212B"/>
                          </a:solidFill>
                          <a:latin typeface="Arial"/>
                          <a:ea typeface="Arial"/>
                          <a:cs typeface="Arial"/>
                        </a:rPr>
                        <a:t>15</a:t>
                      </a:r>
                    </a:p>
                  </a:txBody>
                  <a:tcPr marL="91440" marR="91440" marT="45720" marB="45720"/>
                </a:tc>
                <a:tc>
                  <a:txBody>
                    <a:bodyPr/>
                    <a:lstStyle/>
                    <a:p>
                      <a:pPr algn="ctr"/>
                      <a:r>
                        <a:rPr sz="1350" b="0">
                          <a:solidFill>
                            <a:srgbClr val="12212B"/>
                          </a:solidFill>
                          <a:latin typeface="Arial"/>
                          <a:ea typeface="Arial"/>
                          <a:cs typeface="Arial"/>
                        </a:rPr>
                        <a:t>15 / 15</a:t>
                      </a:r>
                    </a:p>
                  </a:txBody>
                  <a:tcPr marL="91440" marR="91440" marT="45720" marB="45720"/>
                </a:tc>
              </a:tr>
              <a:tr h="609600">
                <a:tc>
                  <a:txBody>
                    <a:bodyPr/>
                    <a:lstStyle/>
                    <a:p>
                      <a:pPr algn="l"/>
                      <a:r>
                        <a:rPr sz="1350" b="1">
                          <a:solidFill>
                            <a:srgbClr val="12212B"/>
                          </a:solidFill>
                          <a:latin typeface="Arial"/>
                          <a:ea typeface="Arial"/>
                          <a:cs typeface="Arial"/>
                        </a:rPr>
                        <a:t>Chuyên nghiệp</a:t>
                      </a:r>
                    </a:p>
                  </a:txBody>
                  <a:tcPr marL="91440" marR="91440" marT="45720" marB="45720"/>
                </a:tc>
                <a:tc>
                  <a:txBody>
                    <a:bodyPr/>
                    <a:lstStyle/>
                    <a:p>
                      <a:pPr algn="ctr"/>
                      <a:r>
                        <a:rPr sz="1350" b="1">
                          <a:solidFill>
                            <a:srgbClr val="12212B"/>
                          </a:solidFill>
                          <a:latin typeface="Arial"/>
                          <a:ea typeface="Arial"/>
                          <a:cs typeface="Arial"/>
                        </a:rPr>
                        <a:t>3.000.000 đ</a:t>
                      </a:r>
                    </a:p>
                  </a:txBody>
                  <a:tcPr marL="91440" marR="91440" marT="45720" marB="45720">
                    <a:solidFill>
                      <a:srgbClr val="EAF8F3"/>
                    </a:solidFill>
                  </a:tcPr>
                </a:tc>
                <a:tc>
                  <a:txBody>
                    <a:bodyPr/>
                    <a:lstStyle/>
                    <a:p>
                      <a:pPr algn="ctr"/>
                      <a:r>
                        <a:rPr sz="1350" b="0">
                          <a:solidFill>
                            <a:srgbClr val="12212B"/>
                          </a:solidFill>
                          <a:latin typeface="Arial"/>
                          <a:ea typeface="Arial"/>
                          <a:cs typeface="Arial"/>
                        </a:rPr>
                        <a:t>5.000</a:t>
                      </a:r>
                    </a:p>
                  </a:txBody>
                  <a:tcPr marL="91440" marR="91440" marT="45720" marB="45720"/>
                </a:tc>
                <a:tc>
                  <a:txBody>
                    <a:bodyPr/>
                    <a:lstStyle/>
                    <a:p>
                      <a:pPr algn="ctr"/>
                      <a:r>
                        <a:rPr sz="1350" b="0">
                          <a:solidFill>
                            <a:srgbClr val="12212B"/>
                          </a:solidFill>
                          <a:latin typeface="Arial"/>
                          <a:ea typeface="Arial"/>
                          <a:cs typeface="Arial"/>
                        </a:rPr>
                        <a:t>30</a:t>
                      </a:r>
                    </a:p>
                  </a:txBody>
                  <a:tcPr marL="91440" marR="91440" marT="45720" marB="45720"/>
                </a:tc>
                <a:tc>
                  <a:txBody>
                    <a:bodyPr/>
                    <a:lstStyle/>
                    <a:p>
                      <a:pPr algn="ctr"/>
                      <a:r>
                        <a:rPr sz="1350" b="0">
                          <a:solidFill>
                            <a:srgbClr val="12212B"/>
                          </a:solidFill>
                          <a:latin typeface="Arial"/>
                          <a:ea typeface="Arial"/>
                          <a:cs typeface="Arial"/>
                        </a:rPr>
                        <a:t>30 / 30</a:t>
                      </a:r>
                    </a:p>
                  </a:txBody>
                  <a:tcPr marL="91440" marR="91440" marT="45720" marB="45720"/>
                </a:tc>
              </a:tr>
              <a:tr h="609600">
                <a:tc>
                  <a:txBody>
                    <a:bodyPr/>
                    <a:lstStyle/>
                    <a:p>
                      <a:pPr algn="l"/>
                      <a:r>
                        <a:rPr sz="1350" b="1">
                          <a:solidFill>
                            <a:srgbClr val="12212B"/>
                          </a:solidFill>
                          <a:latin typeface="Arial"/>
                          <a:ea typeface="Arial"/>
                          <a:cs typeface="Arial"/>
                        </a:rPr>
                        <a:t>Doanh nghiệp</a:t>
                      </a:r>
                    </a:p>
                  </a:txBody>
                  <a:tcPr marL="91440" marR="91440" marT="45720" marB="45720"/>
                </a:tc>
                <a:tc>
                  <a:txBody>
                    <a:bodyPr/>
                    <a:lstStyle/>
                    <a:p>
                      <a:pPr algn="ctr"/>
                      <a:r>
                        <a:rPr sz="1350" b="1">
                          <a:solidFill>
                            <a:srgbClr val="12212B"/>
                          </a:solidFill>
                          <a:latin typeface="Arial"/>
                          <a:ea typeface="Arial"/>
                          <a:cs typeface="Arial"/>
                        </a:rPr>
                        <a:t>5.000.000 đ</a:t>
                      </a:r>
                    </a:p>
                  </a:txBody>
                  <a:tcPr marL="91440" marR="91440" marT="45720" marB="45720"/>
                </a:tc>
                <a:tc>
                  <a:txBody>
                    <a:bodyPr/>
                    <a:lstStyle/>
                    <a:p>
                      <a:pPr algn="ctr"/>
                      <a:r>
                        <a:rPr sz="1350" b="0">
                          <a:solidFill>
                            <a:srgbClr val="12212B"/>
                          </a:solidFill>
                          <a:latin typeface="Arial"/>
                          <a:ea typeface="Arial"/>
                          <a:cs typeface="Arial"/>
                        </a:rPr>
                        <a:t>15.000</a:t>
                      </a:r>
                    </a:p>
                  </a:txBody>
                  <a:tcPr marL="91440" marR="91440" marT="45720" marB="45720"/>
                </a:tc>
                <a:tc>
                  <a:txBody>
                    <a:bodyPr/>
                    <a:lstStyle/>
                    <a:p>
                      <a:pPr algn="ctr"/>
                      <a:r>
                        <a:rPr sz="1350" b="0">
                          <a:solidFill>
                            <a:srgbClr val="12212B"/>
                          </a:solidFill>
                          <a:latin typeface="Arial"/>
                          <a:ea typeface="Arial"/>
                          <a:cs typeface="Arial"/>
                        </a:rPr>
                        <a:t>100</a:t>
                      </a:r>
                    </a:p>
                  </a:txBody>
                  <a:tcPr marL="91440" marR="91440" marT="45720" marB="45720"/>
                </a:tc>
                <a:tc>
                  <a:txBody>
                    <a:bodyPr/>
                    <a:lstStyle/>
                    <a:p>
                      <a:pPr algn="ctr"/>
                      <a:r>
                        <a:rPr sz="1350" b="0">
                          <a:solidFill>
                            <a:srgbClr val="12212B"/>
                          </a:solidFill>
                          <a:latin typeface="Arial"/>
                          <a:ea typeface="Arial"/>
                          <a:cs typeface="Arial"/>
                        </a:rPr>
                        <a:t>100 / 100</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4F6F01E4-9694-419B-BAD6-383103CF1EC8}"/>
              </a:ext>
            </a:extLst>
          </p:cNvPr>
          <p:cNvSpPr>
            <a:spLocks xmlns:a="http://schemas.openxmlformats.org/drawingml/2006/main" noGrp="1"/>
          </p:cNvSpPr>
          <p:nvPr/>
        </p:nvSpPr>
        <p:spPr>
          <a:xfrm xmlns:a="http://schemas.openxmlformats.org/drawingml/2006/main">
            <a:off x="685800" y="5314950"/>
            <a:ext cx="10820400" cy="552450"/>
          </a:xfrm>
          <a:prstGeom xmlns:a="http://schemas.openxmlformats.org/drawingml/2006/main" prst="roundRect">
            <a:avLst>
              <a:gd name="adj" fmla="val 24138"/>
            </a:avLst>
          </a:prstGeom>
          <a:solidFill xmlns:a="http://schemas.openxmlformats.org/drawingml/2006/main">
            <a:srgbClr val="FFF5D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5E8EDFD-653C-4D5E-8682-3AA84E41EA66}"/>
              </a:ext>
            </a:extLst>
          </p:cNvPr>
          <p:cNvSpPr>
            <a:spLocks xmlns:a="http://schemas.openxmlformats.org/drawingml/2006/main" noGrp="1"/>
          </p:cNvSpPr>
          <p:nvPr/>
        </p:nvSpPr>
        <p:spPr>
          <a:xfrm xmlns:a="http://schemas.openxmlformats.org/drawingml/2006/main">
            <a:off x="895350" y="5476875"/>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350" b="1">
                <a:solidFill>
                  <a:srgbClr val="805A00"/>
                </a:solidFill>
                <a:latin typeface="Arial"/>
                <a:ea typeface="Arial"/>
                <a:cs typeface="Arial"/>
              </a:defRPr>
            </a:pPr>
            <a:r>
              <a:rPr sz="1350" b="1">
                <a:solidFill>
                  <a:srgbClr val="805A00"/>
                </a:solidFill>
                <a:latin typeface="Arial"/>
                <a:ea typeface="Arial"/>
                <a:cs typeface="Arial"/>
              </a:rPr>
              <a:t>Nguyên tắc mở rộng: nâng gói khi chạm 80% hạn mức; không cần thay đổi quy trình hay di chuyển dữ liệu.</a:t>
            </a:r>
          </a:p>
        </p:txBody>
      </p:sp>
      <p:sp>
        <p:nvSpPr>
          <p:cNvPr id="7" name="">
            <a:extLst xmlns:a="http://schemas.openxmlformats.org/drawingml/2006/main">
              <a:ext uri="{FF2B5EF4-FFF2-40B4-BE49-F238E27FC236}">
                <a16:creationId xmlns:a16="http://schemas.microsoft.com/office/drawing/2014/main" id="{D2F5FB35-44DA-4655-81F9-92260ACD57E5}"/>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giá tham khảo | Có thể điều chỉnh theo số công ty, SLA và nhu cầu tích hợp</a:t>
            </a:r>
          </a:p>
        </p:txBody>
      </p:sp>
      <p:sp>
        <p:nvSpPr>
          <p:cNvPr id="8" name="">
            <a:extLst xmlns:a="http://schemas.openxmlformats.org/drawingml/2006/main">
              <a:ext uri="{FF2B5EF4-FFF2-40B4-BE49-F238E27FC236}">
                <a16:creationId xmlns:a16="http://schemas.microsoft.com/office/drawing/2014/main" id="{9205B834-2019-46B6-AC21-9086B4890D2A}"/>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07</a:t>
            </a:r>
          </a:p>
        </p:txBody>
      </p:sp>
    </p:spTree>
    <p:extLst>
      <p:ext uri="{BB962C8B-B14F-4D97-AF65-F5344CB8AC3E}">
        <p14:creationId xmlns:p14="http://schemas.microsoft.com/office/powerpoint/2010/main" val="1833778110"/>
      </p:ext>
    </p:extLst>
  </p:cSld>
</p:sld>
</file>

<file path=ppt/slides/slide8.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F21A068-CDE9-48DF-A5EA-7626D85FF738}"/>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LẬP LUẬN GIÁ TRỊ</a:t>
            </a:r>
          </a:p>
        </p:txBody>
      </p:sp>
      <p:sp>
        <p:nvSpPr>
          <p:cNvPr id="2" name="">
            <a:extLst xmlns:a="http://schemas.openxmlformats.org/drawingml/2006/main">
              <a:ext uri="{FF2B5EF4-FFF2-40B4-BE49-F238E27FC236}">
                <a16:creationId xmlns:a16="http://schemas.microsoft.com/office/drawing/2014/main" id="{3B0E36E7-0D7F-4E4C-840B-96E0845D6E50}"/>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Chi phí nhỏ hơn một lỗi vận hành</a:t>
            </a:r>
          </a:p>
        </p:txBody>
      </p:sp>
      <p:sp>
        <p:nvSpPr>
          <p:cNvPr id="3" name="">
            <a:extLst xmlns:a="http://schemas.openxmlformats.org/drawingml/2006/main">
              <a:ext uri="{FF2B5EF4-FFF2-40B4-BE49-F238E27FC236}">
                <a16:creationId xmlns:a16="http://schemas.microsoft.com/office/drawing/2014/main" id="{1F5855CB-7E52-4AF6-A426-2E391A2D2DD8}"/>
              </a:ext>
            </a:extLst>
          </p:cNvPr>
          <p:cNvSpPr>
            <a:spLocks xmlns:a="http://schemas.openxmlformats.org/drawingml/2006/main" noGrp="1"/>
          </p:cNvSpPr>
          <p:nvPr/>
        </p:nvSpPr>
        <p:spPr>
          <a:xfrm xmlns:a="http://schemas.openxmlformats.org/drawingml/2006/main">
            <a:off x="685800" y="12954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0">
                <a:solidFill>
                  <a:srgbClr val="52606D"/>
                </a:solidFill>
                <a:latin typeface="Arial"/>
                <a:ea typeface="Arial"/>
                <a:cs typeface="Arial"/>
              </a:defRPr>
            </a:pPr>
            <a:r>
              <a:rPr sz="1650" b="0">
                <a:solidFill>
                  <a:srgbClr val="52606D"/>
                </a:solidFill>
                <a:latin typeface="Arial"/>
                <a:ea typeface="Arial"/>
                <a:cs typeface="Arial"/>
              </a:rPr>
              <a:t>Mô hình minh họa: chỉ cần giảm một phần thời gian đối soát mỗi tháng, gói phần mềm đã có thể tự hoàn vốn.</a:t>
            </a:r>
          </a:p>
        </p:txBody>
      </p:sp>
      <p:graphicFrame>
        <p:nvGraphicFramePr>
          <p:cNvPr id="22" name="Chart"/>
          <p:cNvGraphicFramePr/>
          <p:nvPr/>
        </p:nvGraphicFramePr>
        <p:xfrm>
          <a:off xmlns:a="http://schemas.openxmlformats.org/drawingml/2006/main" x="685800" y="2076450"/>
          <a:ext xmlns:a="http://schemas.openxmlformats.org/drawingml/2006/main" cx="7334250" cy="3333750"/>
        </p:xfrm>
        <a:graphic xmlns:a="http://schemas.openxmlformats.org/drawingml/2006/main">
          <a:graphicData uri="http://schemas.openxmlformats.org/drawingml/2006/chart">
            <c:chart xmlns:r="http://schemas.openxmlformats.org/officeDocument/2006/relationships" xmlns:c="http://schemas.openxmlformats.org/drawingml/2006/chart" r:id="Rb62c1e3fa5fb4c2b"/>
          </a:graphicData>
        </a:graphic>
      </p:graphicFrame>
      <p:sp>
        <p:nvSpPr>
          <p:cNvPr id="5" name="">
            <a:extLst xmlns:a="http://schemas.openxmlformats.org/drawingml/2006/main">
              <a:ext uri="{FF2B5EF4-FFF2-40B4-BE49-F238E27FC236}">
                <a16:creationId xmlns:a16="http://schemas.microsoft.com/office/drawing/2014/main" id="{D043245B-1178-4225-BAFC-51B554A42658}"/>
              </a:ext>
            </a:extLst>
          </p:cNvPr>
          <p:cNvSpPr>
            <a:spLocks xmlns:a="http://schemas.openxmlformats.org/drawingml/2006/main" noGrp="1"/>
          </p:cNvSpPr>
          <p:nvPr/>
        </p:nvSpPr>
        <p:spPr>
          <a:xfrm xmlns:a="http://schemas.openxmlformats.org/drawingml/2006/main">
            <a:off x="8572500" y="2076450"/>
            <a:ext cx="2933700" cy="3333750"/>
          </a:xfrm>
          <a:prstGeom xmlns:a="http://schemas.openxmlformats.org/drawingml/2006/main" prst="roundRect">
            <a:avLst>
              <a:gd name="adj" fmla="val 5844"/>
            </a:avLst>
          </a:prstGeom>
          <a:solidFill xmlns:a="http://schemas.openxmlformats.org/drawingml/2006/main">
            <a:srgbClr val="FFFFFF"/>
          </a:solidFill>
          <a:ln xmlns:a="http://schemas.openxmlformats.org/drawingml/2006/main" w="9525">
            <a:solidFill>
              <a:srgbClr val="D8E5E5"/>
            </a:solidFill>
          </a:ln>
        </p:spPr>
      </p:sp>
      <p:sp>
        <p:nvSpPr>
          <p:cNvPr id="6" name="">
            <a:extLst xmlns:a="http://schemas.openxmlformats.org/drawingml/2006/main">
              <a:ext uri="{FF2B5EF4-FFF2-40B4-BE49-F238E27FC236}">
                <a16:creationId xmlns:a16="http://schemas.microsoft.com/office/drawing/2014/main" id="{B3EA3A9F-FAF0-437D-BBEA-35CF4E204011}"/>
              </a:ext>
            </a:extLst>
          </p:cNvPr>
          <p:cNvSpPr>
            <a:spLocks xmlns:a="http://schemas.openxmlformats.org/drawingml/2006/main" noGrp="1"/>
          </p:cNvSpPr>
          <p:nvPr/>
        </p:nvSpPr>
        <p:spPr>
          <a:xfrm xmlns:a="http://schemas.openxmlformats.org/drawingml/2006/main">
            <a:off x="8877300" y="2381250"/>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1">
                <a:solidFill>
                  <a:srgbClr val="0B2538"/>
                </a:solidFill>
                <a:latin typeface="Arial"/>
                <a:ea typeface="Arial"/>
                <a:cs typeface="Arial"/>
              </a:defRPr>
            </a:pPr>
            <a:r>
              <a:rPr sz="1650" b="1">
                <a:solidFill>
                  <a:srgbClr val="0B2538"/>
                </a:solidFill>
                <a:latin typeface="Arial"/>
                <a:ea typeface="Arial"/>
                <a:cs typeface="Arial"/>
              </a:rPr>
              <a:t>Giả định minh họa</a:t>
            </a:r>
          </a:p>
        </p:txBody>
      </p:sp>
      <p:sp>
        <p:nvSpPr>
          <p:cNvPr id="7" name="">
            <a:extLst xmlns:a="http://schemas.openxmlformats.org/drawingml/2006/main">
              <a:ext uri="{FF2B5EF4-FFF2-40B4-BE49-F238E27FC236}">
                <a16:creationId xmlns:a16="http://schemas.microsoft.com/office/drawing/2014/main" id="{AFF704B1-79B4-4EEC-BE82-0DFA435A1F77}"/>
              </a:ext>
            </a:extLst>
          </p:cNvPr>
          <p:cNvSpPr>
            <a:spLocks xmlns:a="http://schemas.openxmlformats.org/drawingml/2006/main" noGrp="1"/>
          </p:cNvSpPr>
          <p:nvPr/>
        </p:nvSpPr>
        <p:spPr>
          <a:xfrm xmlns:a="http://schemas.openxmlformats.org/drawingml/2006/main">
            <a:off x="8877300" y="297180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3F917FF-B429-48B0-BE44-FEB1BED2D25E}"/>
              </a:ext>
            </a:extLst>
          </p:cNvPr>
          <p:cNvSpPr>
            <a:spLocks xmlns:a="http://schemas.openxmlformats.org/drawingml/2006/main" noGrp="1"/>
          </p:cNvSpPr>
          <p:nvPr/>
        </p:nvSpPr>
        <p:spPr>
          <a:xfrm xmlns:a="http://schemas.openxmlformats.org/drawingml/2006/main">
            <a:off x="9105900" y="2905125"/>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10 giờ đối soát giảm mỗi tháng</a:t>
            </a:r>
          </a:p>
        </p:txBody>
      </p:sp>
      <p:sp>
        <p:nvSpPr>
          <p:cNvPr id="9" name="">
            <a:extLst xmlns:a="http://schemas.openxmlformats.org/drawingml/2006/main">
              <a:ext uri="{FF2B5EF4-FFF2-40B4-BE49-F238E27FC236}">
                <a16:creationId xmlns:a16="http://schemas.microsoft.com/office/drawing/2014/main" id="{0A67AA8F-3134-49C4-AECC-8B3B4393D61C}"/>
              </a:ext>
            </a:extLst>
          </p:cNvPr>
          <p:cNvSpPr>
            <a:spLocks xmlns:a="http://schemas.openxmlformats.org/drawingml/2006/main" noGrp="1"/>
          </p:cNvSpPr>
          <p:nvPr/>
        </p:nvSpPr>
        <p:spPr>
          <a:xfrm xmlns:a="http://schemas.openxmlformats.org/drawingml/2006/main">
            <a:off x="8877300" y="34956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E8B2885-37EC-4229-9491-E8EB68A9147F}"/>
              </a:ext>
            </a:extLst>
          </p:cNvPr>
          <p:cNvSpPr>
            <a:spLocks xmlns:a="http://schemas.openxmlformats.org/drawingml/2006/main" noGrp="1"/>
          </p:cNvSpPr>
          <p:nvPr/>
        </p:nvSpPr>
        <p:spPr>
          <a:xfrm xmlns:a="http://schemas.openxmlformats.org/drawingml/2006/main">
            <a:off x="9105900" y="3429000"/>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120.000 đ / giờ chi phí thời gian</a:t>
            </a:r>
          </a:p>
        </p:txBody>
      </p:sp>
      <p:sp>
        <p:nvSpPr>
          <p:cNvPr id="11" name="">
            <a:extLst xmlns:a="http://schemas.openxmlformats.org/drawingml/2006/main">
              <a:ext uri="{FF2B5EF4-FFF2-40B4-BE49-F238E27FC236}">
                <a16:creationId xmlns:a16="http://schemas.microsoft.com/office/drawing/2014/main" id="{C117F1B9-BD40-4ED2-8460-8B323565FE25}"/>
              </a:ext>
            </a:extLst>
          </p:cNvPr>
          <p:cNvSpPr>
            <a:spLocks xmlns:a="http://schemas.openxmlformats.org/drawingml/2006/main" noGrp="1"/>
          </p:cNvSpPr>
          <p:nvPr/>
        </p:nvSpPr>
        <p:spPr>
          <a:xfrm xmlns:a="http://schemas.openxmlformats.org/drawingml/2006/main">
            <a:off x="8877300" y="401955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A5E4D8A-95C9-49DD-AE50-638D0C6E80E5}"/>
              </a:ext>
            </a:extLst>
          </p:cNvPr>
          <p:cNvSpPr>
            <a:spLocks xmlns:a="http://schemas.openxmlformats.org/drawingml/2006/main" noGrp="1"/>
          </p:cNvSpPr>
          <p:nvPr/>
        </p:nvSpPr>
        <p:spPr>
          <a:xfrm xmlns:a="http://schemas.openxmlformats.org/drawingml/2006/main">
            <a:off x="9105900" y="3952875"/>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Giá trị trực tiếp: 1,2 triệu đ</a:t>
            </a:r>
          </a:p>
        </p:txBody>
      </p:sp>
      <p:sp>
        <p:nvSpPr>
          <p:cNvPr id="13" name="">
            <a:extLst xmlns:a="http://schemas.openxmlformats.org/drawingml/2006/main">
              <a:ext uri="{FF2B5EF4-FFF2-40B4-BE49-F238E27FC236}">
                <a16:creationId xmlns:a16="http://schemas.microsoft.com/office/drawing/2014/main" id="{7E7D4AEE-BB82-4A5B-9282-B705C7AF72FA}"/>
              </a:ext>
            </a:extLst>
          </p:cNvPr>
          <p:cNvSpPr>
            <a:spLocks xmlns:a="http://schemas.openxmlformats.org/drawingml/2006/main" noGrp="1"/>
          </p:cNvSpPr>
          <p:nvPr/>
        </p:nvSpPr>
        <p:spPr>
          <a:xfrm xmlns:a="http://schemas.openxmlformats.org/drawingml/2006/main">
            <a:off x="8877300" y="45434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0E3CD7D-7F9D-42A8-9BAF-432700B3892B}"/>
              </a:ext>
            </a:extLst>
          </p:cNvPr>
          <p:cNvSpPr>
            <a:spLocks xmlns:a="http://schemas.openxmlformats.org/drawingml/2006/main" noGrp="1"/>
          </p:cNvSpPr>
          <p:nvPr/>
        </p:nvSpPr>
        <p:spPr>
          <a:xfrm xmlns:a="http://schemas.openxmlformats.org/drawingml/2006/main">
            <a:off x="9105900" y="4476750"/>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Chưa tính lỗi dữ liệu và quyết định chậm</a:t>
            </a:r>
          </a:p>
        </p:txBody>
      </p:sp>
      <p:sp>
        <p:nvSpPr>
          <p:cNvPr id="15" name="">
            <a:extLst xmlns:a="http://schemas.openxmlformats.org/drawingml/2006/main">
              <a:ext uri="{FF2B5EF4-FFF2-40B4-BE49-F238E27FC236}">
                <a16:creationId xmlns:a16="http://schemas.microsoft.com/office/drawing/2014/main" id="{E584BFB5-C7F8-4E48-A304-D262635D2CCF}"/>
              </a:ext>
            </a:extLst>
          </p:cNvPr>
          <p:cNvSpPr>
            <a:spLocks xmlns:a="http://schemas.openxmlformats.org/drawingml/2006/main" noGrp="1"/>
          </p:cNvSpPr>
          <p:nvPr/>
        </p:nvSpPr>
        <p:spPr>
          <a:xfrm xmlns:a="http://schemas.openxmlformats.org/drawingml/2006/main">
            <a:off x="8877300" y="5010150"/>
            <a:ext cx="2324100" cy="304800"/>
          </a:xfrm>
          <a:prstGeom xmlns:a="http://schemas.openxmlformats.org/drawingml/2006/main" prst="roundRect">
            <a:avLst>
              <a:gd name="adj" fmla="val 37500"/>
            </a:avLst>
          </a:prstGeom>
          <a:solidFill xmlns:a="http://schemas.openxmlformats.org/drawingml/2006/main">
            <a:srgbClr val="EAF8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C4AA0DB-E919-43DF-A8A8-836158C1C87E}"/>
              </a:ext>
            </a:extLst>
          </p:cNvPr>
          <p:cNvSpPr>
            <a:spLocks xmlns:a="http://schemas.openxmlformats.org/drawingml/2006/main" noGrp="1"/>
          </p:cNvSpPr>
          <p:nvPr/>
        </p:nvSpPr>
        <p:spPr>
          <a:xfrm xmlns:a="http://schemas.openxmlformats.org/drawingml/2006/main">
            <a:off x="8991600" y="50863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050" b="1">
                <a:solidFill>
                  <a:srgbClr val="159A78"/>
                </a:solidFill>
                <a:latin typeface="Arial"/>
                <a:ea typeface="Arial"/>
                <a:cs typeface="Arial"/>
              </a:defRPr>
            </a:pPr>
            <a:r>
              <a:rPr sz="1050" b="1">
                <a:solidFill>
                  <a:srgbClr val="159A78"/>
                </a:solidFill>
                <a:latin typeface="Arial"/>
                <a:ea typeface="Arial"/>
                <a:cs typeface="Arial"/>
              </a:rPr>
              <a:t>Khởi động: 2,4× giá trị / chi phí</a:t>
            </a:r>
          </a:p>
        </p:txBody>
      </p:sp>
      <p:sp>
        <p:nvSpPr>
          <p:cNvPr id="17" name="">
            <a:extLst xmlns:a="http://schemas.openxmlformats.org/drawingml/2006/main">
              <a:ext uri="{FF2B5EF4-FFF2-40B4-BE49-F238E27FC236}">
                <a16:creationId xmlns:a16="http://schemas.microsoft.com/office/drawing/2014/main" id="{E29EC05C-7CCB-4002-BE34-E39B755F0A5B}"/>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Giả định minh họa, cần đo lại trong pilot 30 ngày</a:t>
            </a:r>
          </a:p>
        </p:txBody>
      </p:sp>
      <p:sp>
        <p:nvSpPr>
          <p:cNvPr id="18" name="">
            <a:extLst xmlns:a="http://schemas.openxmlformats.org/drawingml/2006/main">
              <a:ext uri="{FF2B5EF4-FFF2-40B4-BE49-F238E27FC236}">
                <a16:creationId xmlns:a16="http://schemas.microsoft.com/office/drawing/2014/main" id="{EE764C9F-5635-40CA-AB25-742ACFAD57B7}"/>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08</a:t>
            </a:r>
          </a:p>
        </p:txBody>
      </p:sp>
    </p:spTree>
    <p:extLst>
      <p:ext uri="{BB962C8B-B14F-4D97-AF65-F5344CB8AC3E}">
        <p14:creationId xmlns:p14="http://schemas.microsoft.com/office/powerpoint/2010/main" val="6840917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43E5231-7463-4637-B711-8787ECD78661}"/>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CÁCH BÁN VÀ TRIỂN KHAI</a:t>
            </a:r>
          </a:p>
        </p:txBody>
      </p:sp>
      <p:sp>
        <p:nvSpPr>
          <p:cNvPr id="2" name="">
            <a:extLst xmlns:a="http://schemas.openxmlformats.org/drawingml/2006/main">
              <a:ext uri="{FF2B5EF4-FFF2-40B4-BE49-F238E27FC236}">
                <a16:creationId xmlns:a16="http://schemas.microsoft.com/office/drawing/2014/main" id="{4D7D8332-3F6A-4686-BAB2-F77ECF73684A}"/>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Lộ trình thí điểm 30 ngày</a:t>
            </a:r>
          </a:p>
        </p:txBody>
      </p:sp>
      <p:sp>
        <p:nvSpPr>
          <p:cNvPr id="3" name="">
            <a:extLst xmlns:a="http://schemas.openxmlformats.org/drawingml/2006/main">
              <a:ext uri="{FF2B5EF4-FFF2-40B4-BE49-F238E27FC236}">
                <a16:creationId xmlns:a16="http://schemas.microsoft.com/office/drawing/2014/main" id="{5B3F0ECB-0005-4FE4-B39D-45597C6BFD76}"/>
              </a:ext>
            </a:extLst>
          </p:cNvPr>
          <p:cNvSpPr>
            <a:spLocks xmlns:a="http://schemas.openxmlformats.org/drawingml/2006/main" noGrp="1"/>
          </p:cNvSpPr>
          <p:nvPr/>
        </p:nvSpPr>
        <p:spPr>
          <a:xfrm xmlns:a="http://schemas.openxmlformats.org/drawingml/2006/main">
            <a:off x="685800" y="1295400"/>
            <a:ext cx="876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0">
                <a:solidFill>
                  <a:srgbClr val="52606D"/>
                </a:solidFill>
                <a:latin typeface="Arial"/>
                <a:ea typeface="Arial"/>
                <a:cs typeface="Arial"/>
              </a:defRPr>
            </a:pPr>
            <a:r>
              <a:rPr sz="1650" b="0">
                <a:solidFill>
                  <a:srgbClr val="52606D"/>
                </a:solidFill>
                <a:latin typeface="Arial"/>
                <a:ea typeface="Arial"/>
                <a:cs typeface="Arial"/>
              </a:rPr>
              <a:t>Bắt đầu nhỏ, đo được, và chỉ mở rộng khi người dùng đã nhìn thấy dữ liệu của chính họ.</a:t>
            </a:r>
          </a:p>
        </p:txBody>
      </p:sp>
      <p:sp>
        <p:nvSpPr>
          <p:cNvPr id="4" name="">
            <a:extLst xmlns:a="http://schemas.openxmlformats.org/drawingml/2006/main">
              <a:ext uri="{FF2B5EF4-FFF2-40B4-BE49-F238E27FC236}">
                <a16:creationId xmlns:a16="http://schemas.microsoft.com/office/drawing/2014/main" id="{949FB4F3-1DA3-4EC0-A337-8D794C146E48}"/>
              </a:ext>
            </a:extLst>
          </p:cNvPr>
          <p:cNvSpPr>
            <a:spLocks xmlns:a="http://schemas.openxmlformats.org/drawingml/2006/main" noGrp="1"/>
          </p:cNvSpPr>
          <p:nvPr/>
        </p:nvSpPr>
        <p:spPr>
          <a:xfrm xmlns:a="http://schemas.openxmlformats.org/drawingml/2006/main">
            <a:off x="6858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0F8B8D"/>
            </a:solidFill>
          </a:ln>
        </p:spPr>
      </p:sp>
      <p:sp>
        <p:nvSpPr>
          <p:cNvPr id="5" name="">
            <a:extLst xmlns:a="http://schemas.openxmlformats.org/drawingml/2006/main">
              <a:ext uri="{FF2B5EF4-FFF2-40B4-BE49-F238E27FC236}">
                <a16:creationId xmlns:a16="http://schemas.microsoft.com/office/drawing/2014/main" id="{8180C99A-791C-4079-AC15-397E31D5F6B7}"/>
              </a:ext>
            </a:extLst>
          </p:cNvPr>
          <p:cNvSpPr>
            <a:spLocks xmlns:a="http://schemas.openxmlformats.org/drawingml/2006/main" noGrp="1"/>
          </p:cNvSpPr>
          <p:nvPr/>
        </p:nvSpPr>
        <p:spPr>
          <a:xfrm xmlns:a="http://schemas.openxmlformats.org/drawingml/2006/main">
            <a:off x="685800" y="2286000"/>
            <a:ext cx="2362200" cy="11430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3630FFB-997D-4EF3-B0DC-CB38006364DE}"/>
              </a:ext>
            </a:extLst>
          </p:cNvPr>
          <p:cNvSpPr>
            <a:spLocks xmlns:a="http://schemas.openxmlformats.org/drawingml/2006/main" noGrp="1"/>
          </p:cNvSpPr>
          <p:nvPr/>
        </p:nvSpPr>
        <p:spPr>
          <a:xfrm xmlns:a="http://schemas.openxmlformats.org/drawingml/2006/main">
            <a:off x="9144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0F8B8D"/>
                </a:solidFill>
                <a:latin typeface="Arial"/>
                <a:ea typeface="Arial"/>
                <a:cs typeface="Arial"/>
              </a:defRPr>
            </a:pPr>
            <a:r>
              <a:rPr sz="1125" b="1">
                <a:solidFill>
                  <a:srgbClr val="0F8B8D"/>
                </a:solidFill>
                <a:latin typeface="Arial"/>
                <a:ea typeface="Arial"/>
                <a:cs typeface="Arial"/>
              </a:rPr>
              <a:t>Tuần 1</a:t>
            </a:r>
          </a:p>
        </p:txBody>
      </p:sp>
      <p:sp>
        <p:nvSpPr>
          <p:cNvPr id="7" name="">
            <a:extLst xmlns:a="http://schemas.openxmlformats.org/drawingml/2006/main">
              <a:ext uri="{FF2B5EF4-FFF2-40B4-BE49-F238E27FC236}">
                <a16:creationId xmlns:a16="http://schemas.microsoft.com/office/drawing/2014/main" id="{B5853722-F114-40C8-A628-615ADA541EBF}"/>
              </a:ext>
            </a:extLst>
          </p:cNvPr>
          <p:cNvSpPr>
            <a:spLocks xmlns:a="http://schemas.openxmlformats.org/drawingml/2006/main" noGrp="1"/>
          </p:cNvSpPr>
          <p:nvPr/>
        </p:nvSpPr>
        <p:spPr>
          <a:xfrm xmlns:a="http://schemas.openxmlformats.org/drawingml/2006/main">
            <a:off x="9144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Thiết lập</a:t>
            </a:r>
          </a:p>
        </p:txBody>
      </p:sp>
      <p:sp>
        <p:nvSpPr>
          <p:cNvPr id="8" name="">
            <a:extLst xmlns:a="http://schemas.openxmlformats.org/drawingml/2006/main">
              <a:ext uri="{FF2B5EF4-FFF2-40B4-BE49-F238E27FC236}">
                <a16:creationId xmlns:a16="http://schemas.microsoft.com/office/drawing/2014/main" id="{F570A8A9-7DD9-417E-84A3-86B171BAE3CC}"/>
              </a:ext>
            </a:extLst>
          </p:cNvPr>
          <p:cNvSpPr>
            <a:spLocks xmlns:a="http://schemas.openxmlformats.org/drawingml/2006/main" noGrp="1"/>
          </p:cNvSpPr>
          <p:nvPr/>
        </p:nvSpPr>
        <p:spPr>
          <a:xfrm xmlns:a="http://schemas.openxmlformats.org/drawingml/2006/main">
            <a:off x="9144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Chốt công ty, nhà máy, staff, đối tác và quyền truy cập.</a:t>
            </a:r>
          </a:p>
        </p:txBody>
      </p:sp>
      <p:sp>
        <p:nvSpPr>
          <p:cNvPr id="9" name="">
            <a:extLst xmlns:a="http://schemas.openxmlformats.org/drawingml/2006/main">
              <a:ext uri="{FF2B5EF4-FFF2-40B4-BE49-F238E27FC236}">
                <a16:creationId xmlns:a16="http://schemas.microsoft.com/office/drawing/2014/main" id="{F1DE25ED-6B94-4CB2-8578-75C8A114804C}"/>
              </a:ext>
            </a:extLst>
          </p:cNvPr>
          <p:cNvSpPr>
            <a:spLocks xmlns:a="http://schemas.openxmlformats.org/drawingml/2006/main" noGrp="1"/>
          </p:cNvSpPr>
          <p:nvPr/>
        </p:nvSpPr>
        <p:spPr>
          <a:xfrm xmlns:a="http://schemas.openxmlformats.org/drawingml/2006/main">
            <a:off x="3086100" y="33337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0F8B8D"/>
                </a:solidFill>
                <a:latin typeface="Arial"/>
                <a:ea typeface="Arial"/>
                <a:cs typeface="Arial"/>
              </a:defRPr>
            </a:pPr>
            <a:r>
              <a:rPr sz="1800" b="1">
                <a:solidFill>
                  <a:srgbClr val="0F8B8D"/>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8E090333-71FD-4530-A679-0B2338E5F0BD}"/>
              </a:ext>
            </a:extLst>
          </p:cNvPr>
          <p:cNvSpPr>
            <a:spLocks xmlns:a="http://schemas.openxmlformats.org/drawingml/2006/main" noGrp="1"/>
          </p:cNvSpPr>
          <p:nvPr/>
        </p:nvSpPr>
        <p:spPr>
          <a:xfrm xmlns:a="http://schemas.openxmlformats.org/drawingml/2006/main">
            <a:off x="33909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38BDF8"/>
            </a:solidFill>
          </a:ln>
        </p:spPr>
      </p:sp>
      <p:sp>
        <p:nvSpPr>
          <p:cNvPr id="11" name="">
            <a:extLst xmlns:a="http://schemas.openxmlformats.org/drawingml/2006/main">
              <a:ext uri="{FF2B5EF4-FFF2-40B4-BE49-F238E27FC236}">
                <a16:creationId xmlns:a16="http://schemas.microsoft.com/office/drawing/2014/main" id="{7D956879-DB88-4729-9F51-94EBF47D3231}"/>
              </a:ext>
            </a:extLst>
          </p:cNvPr>
          <p:cNvSpPr>
            <a:spLocks xmlns:a="http://schemas.openxmlformats.org/drawingml/2006/main" noGrp="1"/>
          </p:cNvSpPr>
          <p:nvPr/>
        </p:nvSpPr>
        <p:spPr>
          <a:xfrm xmlns:a="http://schemas.openxmlformats.org/drawingml/2006/main">
            <a:off x="3390900" y="2286000"/>
            <a:ext cx="2362200" cy="1143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67D9DAE-AF3B-4478-933F-6B83341F6A2E}"/>
              </a:ext>
            </a:extLst>
          </p:cNvPr>
          <p:cNvSpPr>
            <a:spLocks xmlns:a="http://schemas.openxmlformats.org/drawingml/2006/main" noGrp="1"/>
          </p:cNvSpPr>
          <p:nvPr/>
        </p:nvSpPr>
        <p:spPr>
          <a:xfrm xmlns:a="http://schemas.openxmlformats.org/drawingml/2006/main">
            <a:off x="36195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38BDF8"/>
                </a:solidFill>
                <a:latin typeface="Arial"/>
                <a:ea typeface="Arial"/>
                <a:cs typeface="Arial"/>
              </a:defRPr>
            </a:pPr>
            <a:r>
              <a:rPr sz="1125" b="1">
                <a:solidFill>
                  <a:srgbClr val="38BDF8"/>
                </a:solidFill>
                <a:latin typeface="Arial"/>
                <a:ea typeface="Arial"/>
                <a:cs typeface="Arial"/>
              </a:rPr>
              <a:t>Tuần 2</a:t>
            </a:r>
          </a:p>
        </p:txBody>
      </p:sp>
      <p:sp>
        <p:nvSpPr>
          <p:cNvPr id="13" name="">
            <a:extLst xmlns:a="http://schemas.openxmlformats.org/drawingml/2006/main">
              <a:ext uri="{FF2B5EF4-FFF2-40B4-BE49-F238E27FC236}">
                <a16:creationId xmlns:a16="http://schemas.microsoft.com/office/drawing/2014/main" id="{073A54FD-CB6D-4E82-A96E-B797C7576FD1}"/>
              </a:ext>
            </a:extLst>
          </p:cNvPr>
          <p:cNvSpPr>
            <a:spLocks xmlns:a="http://schemas.openxmlformats.org/drawingml/2006/main" noGrp="1"/>
          </p:cNvSpPr>
          <p:nvPr/>
        </p:nvSpPr>
        <p:spPr>
          <a:xfrm xmlns:a="http://schemas.openxmlformats.org/drawingml/2006/main">
            <a:off x="36195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Di chuyển dữ liệu</a:t>
            </a:r>
          </a:p>
        </p:txBody>
      </p:sp>
      <p:sp>
        <p:nvSpPr>
          <p:cNvPr id="14" name="">
            <a:extLst xmlns:a="http://schemas.openxmlformats.org/drawingml/2006/main">
              <a:ext uri="{FF2B5EF4-FFF2-40B4-BE49-F238E27FC236}">
                <a16:creationId xmlns:a16="http://schemas.microsoft.com/office/drawing/2014/main" id="{961DA6AD-E9D3-4E44-816E-887BE6630131}"/>
              </a:ext>
            </a:extLst>
          </p:cNvPr>
          <p:cNvSpPr>
            <a:spLocks xmlns:a="http://schemas.openxmlformats.org/drawingml/2006/main" noGrp="1"/>
          </p:cNvSpPr>
          <p:nvPr/>
        </p:nvSpPr>
        <p:spPr>
          <a:xfrm xmlns:a="http://schemas.openxmlformats.org/drawingml/2006/main">
            <a:off x="36195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Nhập Excel theo template; xử lý các dòng lỗi còn lại.</a:t>
            </a:r>
          </a:p>
        </p:txBody>
      </p:sp>
      <p:sp>
        <p:nvSpPr>
          <p:cNvPr id="15" name="">
            <a:extLst xmlns:a="http://schemas.openxmlformats.org/drawingml/2006/main">
              <a:ext uri="{FF2B5EF4-FFF2-40B4-BE49-F238E27FC236}">
                <a16:creationId xmlns:a16="http://schemas.microsoft.com/office/drawing/2014/main" id="{B262C1BF-31B9-40D2-B100-A54632D6C61F}"/>
              </a:ext>
            </a:extLst>
          </p:cNvPr>
          <p:cNvSpPr>
            <a:spLocks xmlns:a="http://schemas.openxmlformats.org/drawingml/2006/main" noGrp="1"/>
          </p:cNvSpPr>
          <p:nvPr/>
        </p:nvSpPr>
        <p:spPr>
          <a:xfrm xmlns:a="http://schemas.openxmlformats.org/drawingml/2006/main">
            <a:off x="5791200" y="33337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0F8B8D"/>
                </a:solidFill>
                <a:latin typeface="Arial"/>
                <a:ea typeface="Arial"/>
                <a:cs typeface="Arial"/>
              </a:defRPr>
            </a:pPr>
            <a:r>
              <a:rPr sz="1800" b="1">
                <a:solidFill>
                  <a:srgbClr val="0F8B8D"/>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BA51B54A-DEDD-4452-9163-491CD279C438}"/>
              </a:ext>
            </a:extLst>
          </p:cNvPr>
          <p:cNvSpPr>
            <a:spLocks xmlns:a="http://schemas.openxmlformats.org/drawingml/2006/main" noGrp="1"/>
          </p:cNvSpPr>
          <p:nvPr/>
        </p:nvSpPr>
        <p:spPr>
          <a:xfrm xmlns:a="http://schemas.openxmlformats.org/drawingml/2006/main">
            <a:off x="60960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F59E0B"/>
            </a:solidFill>
          </a:ln>
        </p:spPr>
      </p:sp>
      <p:sp>
        <p:nvSpPr>
          <p:cNvPr id="17" name="">
            <a:extLst xmlns:a="http://schemas.openxmlformats.org/drawingml/2006/main">
              <a:ext uri="{FF2B5EF4-FFF2-40B4-BE49-F238E27FC236}">
                <a16:creationId xmlns:a16="http://schemas.microsoft.com/office/drawing/2014/main" id="{4C2ADD92-8BC3-41CF-8E5D-570C17320E99}"/>
              </a:ext>
            </a:extLst>
          </p:cNvPr>
          <p:cNvSpPr>
            <a:spLocks xmlns:a="http://schemas.openxmlformats.org/drawingml/2006/main" noGrp="1"/>
          </p:cNvSpPr>
          <p:nvPr/>
        </p:nvSpPr>
        <p:spPr>
          <a:xfrm xmlns:a="http://schemas.openxmlformats.org/drawingml/2006/main">
            <a:off x="6096000" y="2286000"/>
            <a:ext cx="2362200" cy="1143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AF4DF73-10C1-4DA2-9368-2D921663FF7F}"/>
              </a:ext>
            </a:extLst>
          </p:cNvPr>
          <p:cNvSpPr>
            <a:spLocks xmlns:a="http://schemas.openxmlformats.org/drawingml/2006/main" noGrp="1"/>
          </p:cNvSpPr>
          <p:nvPr/>
        </p:nvSpPr>
        <p:spPr>
          <a:xfrm xmlns:a="http://schemas.openxmlformats.org/drawingml/2006/main">
            <a:off x="63246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F59E0B"/>
                </a:solidFill>
                <a:latin typeface="Arial"/>
                <a:ea typeface="Arial"/>
                <a:cs typeface="Arial"/>
              </a:defRPr>
            </a:pPr>
            <a:r>
              <a:rPr sz="1125" b="1">
                <a:solidFill>
                  <a:srgbClr val="F59E0B"/>
                </a:solidFill>
                <a:latin typeface="Arial"/>
                <a:ea typeface="Arial"/>
                <a:cs typeface="Arial"/>
              </a:rPr>
              <a:t>Tuần 3</a:t>
            </a:r>
          </a:p>
        </p:txBody>
      </p:sp>
      <p:sp>
        <p:nvSpPr>
          <p:cNvPr id="19" name="">
            <a:extLst xmlns:a="http://schemas.openxmlformats.org/drawingml/2006/main">
              <a:ext uri="{FF2B5EF4-FFF2-40B4-BE49-F238E27FC236}">
                <a16:creationId xmlns:a16="http://schemas.microsoft.com/office/drawing/2014/main" id="{3CAFC3D6-3010-4710-A15F-EA85B10E9F56}"/>
              </a:ext>
            </a:extLst>
          </p:cNvPr>
          <p:cNvSpPr>
            <a:spLocks xmlns:a="http://schemas.openxmlformats.org/drawingml/2006/main" noGrp="1"/>
          </p:cNvSpPr>
          <p:nvPr/>
        </p:nvSpPr>
        <p:spPr>
          <a:xfrm xmlns:a="http://schemas.openxmlformats.org/drawingml/2006/main">
            <a:off x="63246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Đưa vào nhịp</a:t>
            </a:r>
          </a:p>
        </p:txBody>
      </p:sp>
      <p:sp>
        <p:nvSpPr>
          <p:cNvPr id="20" name="">
            <a:extLst xmlns:a="http://schemas.openxmlformats.org/drawingml/2006/main">
              <a:ext uri="{FF2B5EF4-FFF2-40B4-BE49-F238E27FC236}">
                <a16:creationId xmlns:a16="http://schemas.microsoft.com/office/drawing/2014/main" id="{69D06635-39F5-48A2-98EC-E821A8796542}"/>
              </a:ext>
            </a:extLst>
          </p:cNvPr>
          <p:cNvSpPr>
            <a:spLocks xmlns:a="http://schemas.openxmlformats.org/drawingml/2006/main" noGrp="1"/>
          </p:cNvSpPr>
          <p:nvPr/>
        </p:nvSpPr>
        <p:spPr>
          <a:xfrm xmlns:a="http://schemas.openxmlformats.org/drawingml/2006/main">
            <a:off x="63246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Chạy luồng hồ sơ, lịch sử đi làm, phê duyệt và công/lương.</a:t>
            </a:r>
          </a:p>
        </p:txBody>
      </p:sp>
      <p:sp>
        <p:nvSpPr>
          <p:cNvPr id="21" name="">
            <a:extLst xmlns:a="http://schemas.openxmlformats.org/drawingml/2006/main">
              <a:ext uri="{FF2B5EF4-FFF2-40B4-BE49-F238E27FC236}">
                <a16:creationId xmlns:a16="http://schemas.microsoft.com/office/drawing/2014/main" id="{79B9E63D-86B4-4C4F-B23D-5B32CB9EC888}"/>
              </a:ext>
            </a:extLst>
          </p:cNvPr>
          <p:cNvSpPr>
            <a:spLocks xmlns:a="http://schemas.openxmlformats.org/drawingml/2006/main" noGrp="1"/>
          </p:cNvSpPr>
          <p:nvPr/>
        </p:nvSpPr>
        <p:spPr>
          <a:xfrm xmlns:a="http://schemas.openxmlformats.org/drawingml/2006/main">
            <a:off x="8496300" y="33337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0F8B8D"/>
                </a:solidFill>
                <a:latin typeface="Arial"/>
                <a:ea typeface="Arial"/>
                <a:cs typeface="Arial"/>
              </a:defRPr>
            </a:pPr>
            <a:r>
              <a:rPr sz="1800" b="1">
                <a:solidFill>
                  <a:srgbClr val="0F8B8D"/>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01E7058B-DBBA-4E29-9826-677700C39E2E}"/>
              </a:ext>
            </a:extLst>
          </p:cNvPr>
          <p:cNvSpPr>
            <a:spLocks xmlns:a="http://schemas.openxmlformats.org/drawingml/2006/main" noGrp="1"/>
          </p:cNvSpPr>
          <p:nvPr/>
        </p:nvSpPr>
        <p:spPr>
          <a:xfrm xmlns:a="http://schemas.openxmlformats.org/drawingml/2006/main">
            <a:off x="88011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159A78"/>
            </a:solidFill>
          </a:ln>
        </p:spPr>
      </p:sp>
      <p:sp>
        <p:nvSpPr>
          <p:cNvPr id="23" name="">
            <a:extLst xmlns:a="http://schemas.openxmlformats.org/drawingml/2006/main">
              <a:ext uri="{FF2B5EF4-FFF2-40B4-BE49-F238E27FC236}">
                <a16:creationId xmlns:a16="http://schemas.microsoft.com/office/drawing/2014/main" id="{6CF34DA8-72A1-47EE-BE15-E19E939220C7}"/>
              </a:ext>
            </a:extLst>
          </p:cNvPr>
          <p:cNvSpPr>
            <a:spLocks xmlns:a="http://schemas.openxmlformats.org/drawingml/2006/main" noGrp="1"/>
          </p:cNvSpPr>
          <p:nvPr/>
        </p:nvSpPr>
        <p:spPr>
          <a:xfrm xmlns:a="http://schemas.openxmlformats.org/drawingml/2006/main">
            <a:off x="8801100" y="2286000"/>
            <a:ext cx="2362200" cy="114300"/>
          </a:xfrm>
          <a:prstGeom xmlns:a="http://schemas.openxmlformats.org/drawingml/2006/main" prst="roundRect">
            <a:avLst>
              <a:gd name="adj" fmla="val 50000"/>
            </a:avLst>
          </a:prstGeom>
          <a:solidFill xmlns:a="http://schemas.openxmlformats.org/drawingml/2006/main">
            <a:srgbClr val="159A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3D716B3-D7D4-4F9A-8768-EF3212CD284B}"/>
              </a:ext>
            </a:extLst>
          </p:cNvPr>
          <p:cNvSpPr>
            <a:spLocks xmlns:a="http://schemas.openxmlformats.org/drawingml/2006/main" noGrp="1"/>
          </p:cNvSpPr>
          <p:nvPr/>
        </p:nvSpPr>
        <p:spPr>
          <a:xfrm xmlns:a="http://schemas.openxmlformats.org/drawingml/2006/main">
            <a:off x="90297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159A78"/>
                </a:solidFill>
                <a:latin typeface="Arial"/>
                <a:ea typeface="Arial"/>
                <a:cs typeface="Arial"/>
              </a:defRPr>
            </a:pPr>
            <a:r>
              <a:rPr sz="1125" b="1">
                <a:solidFill>
                  <a:srgbClr val="159A78"/>
                </a:solidFill>
                <a:latin typeface="Arial"/>
                <a:ea typeface="Arial"/>
                <a:cs typeface="Arial"/>
              </a:rPr>
              <a:t>Tuần 4</a:t>
            </a:r>
          </a:p>
        </p:txBody>
      </p:sp>
      <p:sp>
        <p:nvSpPr>
          <p:cNvPr id="25" name="">
            <a:extLst xmlns:a="http://schemas.openxmlformats.org/drawingml/2006/main">
              <a:ext uri="{FF2B5EF4-FFF2-40B4-BE49-F238E27FC236}">
                <a16:creationId xmlns:a16="http://schemas.microsoft.com/office/drawing/2014/main" id="{66EB4D43-CE83-4F45-AB86-751B49391AD2}"/>
              </a:ext>
            </a:extLst>
          </p:cNvPr>
          <p:cNvSpPr>
            <a:spLocks xmlns:a="http://schemas.openxmlformats.org/drawingml/2006/main" noGrp="1"/>
          </p:cNvSpPr>
          <p:nvPr/>
        </p:nvSpPr>
        <p:spPr>
          <a:xfrm xmlns:a="http://schemas.openxmlformats.org/drawingml/2006/main">
            <a:off x="90297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Đo và mở rộng</a:t>
            </a:r>
          </a:p>
        </p:txBody>
      </p:sp>
      <p:sp>
        <p:nvSpPr>
          <p:cNvPr id="26" name="">
            <a:extLst xmlns:a="http://schemas.openxmlformats.org/drawingml/2006/main">
              <a:ext uri="{FF2B5EF4-FFF2-40B4-BE49-F238E27FC236}">
                <a16:creationId xmlns:a16="http://schemas.microsoft.com/office/drawing/2014/main" id="{C975E804-22D8-4EB8-B66C-0E5FB2C0F0F7}"/>
              </a:ext>
            </a:extLst>
          </p:cNvPr>
          <p:cNvSpPr>
            <a:spLocks xmlns:a="http://schemas.openxmlformats.org/drawingml/2006/main" noGrp="1"/>
          </p:cNvSpPr>
          <p:nvPr/>
        </p:nvSpPr>
        <p:spPr>
          <a:xfrm xmlns:a="http://schemas.openxmlformats.org/drawingml/2006/main">
            <a:off x="90297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Đo giờ đối soát, lỗi dữ liệu, thời gian ra báo cáo; chọn gói phù hợp.</a:t>
            </a:r>
          </a:p>
        </p:txBody>
      </p:sp>
      <p:sp>
        <p:nvSpPr>
          <p:cNvPr id="27" name="">
            <a:extLst xmlns:a="http://schemas.openxmlformats.org/drawingml/2006/main">
              <a:ext uri="{FF2B5EF4-FFF2-40B4-BE49-F238E27FC236}">
                <a16:creationId xmlns:a16="http://schemas.microsoft.com/office/drawing/2014/main" id="{8A123957-F8E2-4EC2-9BA6-794B23EB0CE3}"/>
              </a:ext>
            </a:extLst>
          </p:cNvPr>
          <p:cNvSpPr>
            <a:spLocks xmlns:a="http://schemas.openxmlformats.org/drawingml/2006/main" noGrp="1"/>
          </p:cNvSpPr>
          <p:nvPr/>
        </p:nvSpPr>
        <p:spPr>
          <a:xfrm xmlns:a="http://schemas.openxmlformats.org/drawingml/2006/main">
            <a:off x="685800" y="5219700"/>
            <a:ext cx="10820400" cy="628650"/>
          </a:xfrm>
          <a:prstGeom xmlns:a="http://schemas.openxmlformats.org/drawingml/2006/main" prst="roundRect">
            <a:avLst>
              <a:gd name="adj" fmla="val 24242"/>
            </a:avLst>
          </a:prstGeom>
          <a:solidFill xmlns:a="http://schemas.openxmlformats.org/drawingml/2006/main">
            <a:srgbClr val="0B253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DB2FEAB-688D-4564-8BF4-348D456516E7}"/>
              </a:ext>
            </a:extLst>
          </p:cNvPr>
          <p:cNvSpPr>
            <a:spLocks xmlns:a="http://schemas.openxmlformats.org/drawingml/2006/main" noGrp="1"/>
          </p:cNvSpPr>
          <p:nvPr/>
        </p:nvSpPr>
        <p:spPr>
          <a:xfrm xmlns:a="http://schemas.openxmlformats.org/drawingml/2006/main">
            <a:off x="95250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Đầu ra sau pilot: số liệu trước/sau, danh sách lỗi đã giảm và đề xuất gói theo quy mô thật.</a:t>
            </a:r>
          </a:p>
        </p:txBody>
      </p:sp>
      <p:sp>
        <p:nvSpPr>
          <p:cNvPr id="29" name="">
            <a:extLst xmlns:a="http://schemas.openxmlformats.org/drawingml/2006/main">
              <a:ext uri="{FF2B5EF4-FFF2-40B4-BE49-F238E27FC236}">
                <a16:creationId xmlns:a16="http://schemas.microsoft.com/office/drawing/2014/main" id="{0D30928E-764E-45C3-929D-AAC7EB9868D7}"/>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0" name="">
            <a:extLst xmlns:a="http://schemas.openxmlformats.org/drawingml/2006/main">
              <a:ext uri="{FF2B5EF4-FFF2-40B4-BE49-F238E27FC236}">
                <a16:creationId xmlns:a16="http://schemas.microsoft.com/office/drawing/2014/main" id="{06B96426-0CA0-457D-AEF8-4D6156E44050}"/>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09</a:t>
            </a:r>
          </a:p>
        </p:txBody>
      </p:sp>
    </p:spTree>
    <p:extLst>
      <p:ext uri="{BB962C8B-B14F-4D97-AF65-F5344CB8AC3E}">
        <p14:creationId xmlns:p14="http://schemas.microsoft.com/office/powerpoint/2010/main" val="1989494885"/>
      </p:ext>
    </p:extLst>
  </p:cSld>
</p:sld>
</file>

<file path=ppt/slides/slide10.xml><?xml version="1.0" encoding="utf-8"?>
<p:sld xmlns:p="http://schemas.openxmlformats.org/presentationml/2006/main">
  <p:cSld>
    <p:bg>
      <p:bgPr>
        <a:solidFill xmlns:a="http://schemas.openxmlformats.org/drawingml/2006/main">
          <a:srgbClr val="0B253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B5F845-AB52-4618-B6BF-05C9FFA82F6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5498A4-9503-4365-97A2-7D08F552A048}"/>
              </a:ext>
            </a:extLst>
          </p:cNvPr>
          <p:cNvSpPr>
            <a:spLocks xmlns:a="http://schemas.openxmlformats.org/drawingml/2006/main" noGrp="1"/>
          </p:cNvSpPr>
          <p:nvPr/>
        </p:nvSpPr>
        <p:spPr>
          <a:xfrm xmlns:a="http://schemas.openxmlformats.org/drawingml/2006/main">
            <a:off x="876300" y="1352550"/>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Bắt đầu với gói Khởi động</a:t>
            </a:r>
          </a:p>
        </p:txBody>
      </p:sp>
      <p:sp>
        <p:nvSpPr>
          <p:cNvPr id="3" name="">
            <a:extLst xmlns:a="http://schemas.openxmlformats.org/drawingml/2006/main">
              <a:ext uri="{FF2B5EF4-FFF2-40B4-BE49-F238E27FC236}">
                <a16:creationId xmlns:a16="http://schemas.microsoft.com/office/drawing/2014/main" id="{57717B42-D6F4-4459-AD3E-1894D9977397}"/>
              </a:ext>
            </a:extLst>
          </p:cNvPr>
          <p:cNvSpPr>
            <a:spLocks xmlns:a="http://schemas.openxmlformats.org/drawingml/2006/main" noGrp="1"/>
          </p:cNvSpPr>
          <p:nvPr/>
        </p:nvSpPr>
        <p:spPr>
          <a:xfrm xmlns:a="http://schemas.openxmlformats.org/drawingml/2006/main">
            <a:off x="895350" y="226695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550" b="1">
                <a:solidFill>
                  <a:srgbClr val="F59E0B"/>
                </a:solidFill>
                <a:latin typeface="Arial"/>
                <a:ea typeface="Arial"/>
                <a:cs typeface="Arial"/>
              </a:defRPr>
            </a:pPr>
            <a:r>
              <a:rPr sz="2550" b="1">
                <a:solidFill>
                  <a:srgbClr val="F59E0B"/>
                </a:solidFill>
                <a:latin typeface="Arial"/>
                <a:ea typeface="Arial"/>
                <a:cs typeface="Arial"/>
              </a:rPr>
              <a:t>500.000 đ / tháng</a:t>
            </a:r>
          </a:p>
        </p:txBody>
      </p:sp>
      <p:sp>
        <p:nvSpPr>
          <p:cNvPr id="4" name="">
            <a:extLst xmlns:a="http://schemas.openxmlformats.org/drawingml/2006/main">
              <a:ext uri="{FF2B5EF4-FFF2-40B4-BE49-F238E27FC236}">
                <a16:creationId xmlns:a16="http://schemas.microsoft.com/office/drawing/2014/main" id="{184E7B66-D2A9-4B8A-81FF-4BFD9624A9CD}"/>
              </a:ext>
            </a:extLst>
          </p:cNvPr>
          <p:cNvSpPr>
            <a:spLocks xmlns:a="http://schemas.openxmlformats.org/drawingml/2006/main" noGrp="1"/>
          </p:cNvSpPr>
          <p:nvPr/>
        </p:nvSpPr>
        <p:spPr>
          <a:xfrm xmlns:a="http://schemas.openxmlformats.org/drawingml/2006/main">
            <a:off x="895350" y="297180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0">
                <a:solidFill>
                  <a:srgbClr val="D9F5F3"/>
                </a:solidFill>
                <a:latin typeface="Arial"/>
                <a:ea typeface="Arial"/>
                <a:cs typeface="Arial"/>
              </a:defRPr>
            </a:pPr>
            <a:r>
              <a:rPr sz="1650" b="0">
                <a:solidFill>
                  <a:srgbClr val="D9F5F3"/>
                </a:solidFill>
                <a:latin typeface="Arial"/>
                <a:ea typeface="Arial"/>
                <a:cs typeface="Arial"/>
              </a:rPr>
              <a:t>500 lịch sử đi làm · 5 staff · 5 đối tác · 5 nhà máy</a:t>
            </a:r>
          </a:p>
        </p:txBody>
      </p:sp>
      <p:sp>
        <p:nvSpPr>
          <p:cNvPr id="5" name="">
            <a:extLst xmlns:a="http://schemas.openxmlformats.org/drawingml/2006/main">
              <a:ext uri="{FF2B5EF4-FFF2-40B4-BE49-F238E27FC236}">
                <a16:creationId xmlns:a16="http://schemas.microsoft.com/office/drawing/2014/main" id="{D7458817-C57C-46DF-9DF5-1D687B39C681}"/>
              </a:ext>
            </a:extLst>
          </p:cNvPr>
          <p:cNvSpPr>
            <a:spLocks xmlns:a="http://schemas.openxmlformats.org/drawingml/2006/main" noGrp="1"/>
          </p:cNvSpPr>
          <p:nvPr/>
        </p:nvSpPr>
        <p:spPr>
          <a:xfrm xmlns:a="http://schemas.openxmlformats.org/drawingml/2006/main">
            <a:off x="895350" y="3886200"/>
            <a:ext cx="5143500" cy="723900"/>
          </a:xfrm>
          <a:prstGeom xmlns:a="http://schemas.openxmlformats.org/drawingml/2006/main" prst="roundRect">
            <a:avLst>
              <a:gd name="adj" fmla="val 23684"/>
            </a:avLst>
          </a:prstGeom>
          <a:solidFill xmlns:a="http://schemas.openxmlformats.org/drawingml/2006/main">
            <a:srgbClr val="0F8B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00968AD-687F-4CA9-B202-800908EB687C}"/>
              </a:ext>
            </a:extLst>
          </p:cNvPr>
          <p:cNvSpPr>
            <a:spLocks xmlns:a="http://schemas.openxmlformats.org/drawingml/2006/main" noGrp="1"/>
          </p:cNvSpPr>
          <p:nvPr/>
        </p:nvSpPr>
        <p:spPr>
          <a:xfrm xmlns:a="http://schemas.openxmlformats.org/drawingml/2006/main">
            <a:off x="1162050" y="4095750"/>
            <a:ext cx="461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Mục tiêu đầu tiên: một nguồn dữ liệu mà cả công ty cùng tin.</a:t>
            </a:r>
          </a:p>
        </p:txBody>
      </p:sp>
      <p:sp>
        <p:nvSpPr>
          <p:cNvPr id="7" name="">
            <a:extLst xmlns:a="http://schemas.openxmlformats.org/drawingml/2006/main">
              <a:ext uri="{FF2B5EF4-FFF2-40B4-BE49-F238E27FC236}">
                <a16:creationId xmlns:a16="http://schemas.microsoft.com/office/drawing/2014/main" id="{74F16FDE-28D1-483E-B44E-1BD4E9E7D793}"/>
              </a:ext>
            </a:extLst>
          </p:cNvPr>
          <p:cNvSpPr>
            <a:spLocks xmlns:a="http://schemas.openxmlformats.org/drawingml/2006/main" noGrp="1"/>
          </p:cNvSpPr>
          <p:nvPr/>
        </p:nvSpPr>
        <p:spPr>
          <a:xfrm xmlns:a="http://schemas.openxmlformats.org/drawingml/2006/main">
            <a:off x="895350" y="565785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B7D1D3"/>
                </a:solidFill>
                <a:latin typeface="Arial"/>
                <a:ea typeface="Arial"/>
                <a:cs typeface="Arial"/>
              </a:defRPr>
            </a:pPr>
            <a:r>
              <a:rPr sz="1425" b="0">
                <a:solidFill>
                  <a:srgbClr val="B7D1D3"/>
                </a:solidFill>
                <a:latin typeface="Arial"/>
                <a:ea typeface="Arial"/>
                <a:cs typeface="Arial"/>
              </a:rPr>
              <a:t>Đề xuất tiếp theo: chọn một công ty hoặc một cụm nhà máy để chạy pilot 30 ngày.</a:t>
            </a:r>
          </a:p>
        </p:txBody>
      </p:sp>
      <p:sp>
        <p:nvSpPr>
          <p:cNvPr id="8" name="">
            <a:extLst xmlns:a="http://schemas.openxmlformats.org/drawingml/2006/main">
              <a:ext uri="{FF2B5EF4-FFF2-40B4-BE49-F238E27FC236}">
                <a16:creationId xmlns:a16="http://schemas.microsoft.com/office/drawing/2014/main" id="{68EC2203-2E94-46D3-888E-549FBFAD140E}"/>
              </a:ext>
            </a:extLst>
          </p:cNvPr>
          <p:cNvSpPr>
            <a:spLocks xmlns:a="http://schemas.openxmlformats.org/drawingml/2006/main" noGrp="1"/>
          </p:cNvSpPr>
          <p:nvPr/>
        </p:nvSpPr>
        <p:spPr>
          <a:xfrm xmlns:a="http://schemas.openxmlformats.org/drawingml/2006/main">
            <a:off x="9639300" y="592455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200" b="1">
                <a:solidFill>
                  <a:srgbClr val="FFFFFF"/>
                </a:solidFill>
                <a:latin typeface="Arial"/>
                <a:ea typeface="Arial"/>
                <a:cs typeface="Arial"/>
              </a:defRPr>
            </a:pPr>
            <a:r>
              <a:rPr sz="1200" b="1">
                <a:solidFill>
                  <a:srgbClr val="FFFFFF"/>
                </a:solidFill>
                <a:latin typeface="Arial"/>
                <a:ea typeface="Arial"/>
                <a:cs typeface="Arial"/>
              </a:rPr>
              <a:t>Tuyển dụng 4.0</a:t>
            </a:r>
          </a:p>
        </p:txBody>
      </p:sp>
    </p:spTree>
    <p:extLst>
      <p:ext uri="{BB962C8B-B14F-4D97-AF65-F5344CB8AC3E}">
        <p14:creationId xmlns:p14="http://schemas.microsoft.com/office/powerpoint/2010/main" val="13329894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2026-09-04T15:35:19.3330000Z</dcterms:created>
  <dcterms:modified xsi:type="dcterms:W3CDTF">2026-09-04T15:35:19.3330000Z</dcterms:modified>
</coreProperties>
</file>