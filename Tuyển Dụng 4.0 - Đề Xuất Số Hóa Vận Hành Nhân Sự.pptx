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BDE6DB-7701-4B69-9FE2-2E41202F5456}">
  <a:tblStyle styleId="{89BDE6DB-7701-4B69-9FE2-2E41202F54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11" Type="http://schemas.openxmlformats.org/officeDocument/2006/relationships/image" Target="../media/image7.png"/><Relationship Id="rId10" Type="http://schemas.openxmlformats.org/officeDocument/2006/relationships/image" Target="../media/image10.png"/><Relationship Id="rId12" Type="http://schemas.openxmlformats.org/officeDocument/2006/relationships/image" Target="../media/image20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11" Type="http://schemas.openxmlformats.org/officeDocument/2006/relationships/image" Target="../media/image31.png"/><Relationship Id="rId10" Type="http://schemas.openxmlformats.org/officeDocument/2006/relationships/image" Target="../media/image28.png"/><Relationship Id="rId9" Type="http://schemas.openxmlformats.org/officeDocument/2006/relationships/image" Target="../media/image29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8083" y="2378422"/>
            <a:ext cx="333553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49216" y="2864197"/>
            <a:ext cx="6093417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TUYỂN DỤNG 4.0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94298" y="3755677"/>
            <a:ext cx="580325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Từ File Excel Rời Rạc Đến Một Nguồn Dữ Liệu Điều Hành Thống Nhất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Giải pháp tối ưu dành cho Giám đốc, HR &amp; Đội ngũ Vận hành Nhà máy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7425"/>
            <a:ext cx="5381625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57425"/>
            <a:ext cx="5381625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47725" y="2533650"/>
            <a:ext cx="50706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Khoảng Trống Thông Tin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515100" y="2533650"/>
            <a:ext cx="50706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Vòng Lặp Thủ Công Tốn Kém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515100" y="2943225"/>
            <a:ext cx="48291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Dòng công việc hiện tại: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Nhập liệu → Gửi file → Kế toán tổng hợp → Đối soát lại → Báo cáo lãnh đạo.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15100" y="3771900"/>
            <a:ext cx="4829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Hệ quả: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Đội ngũ tiêu tốn hàng chục giờ mỗi tuần không phải cho công việc chuyên môn, mà là để xác minh "đâu mới là dữ liệu đúng".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25812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76325" y="294322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Sai lệch dữ liệu: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Bất đồng tên, mã nhân viên, nhà máy giữa các file làm việc độc lập.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76325" y="351472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Thiếu tính cập nhật: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Khó xác định bản ghi nào là mới nhất và chính xác nhất.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6325" y="408622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Rủi ro tài chính: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Sai sót trong đối soát tuyển dụng, tạm ứng và giữ lương.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76325" y="465772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Phụ thuộc cá nhân: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Báo cáo lãnh đạo chậm trễ, phụ thuộc duy nhất vào người tổng hợp.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5100" y="25812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47725" y="29051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7725" y="34766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7725" y="40481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7725" y="46196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Bối Cảnh Vận Hành &amp; Hạn Chế Từ Excel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3530649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705100"/>
            <a:ext cx="3530649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705100"/>
            <a:ext cx="3530649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962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28675" y="3590925"/>
            <a:ext cx="244358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Hồ Sơ NLĐ Chuẩn Hoá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28675" y="4000500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Tự động định danh theo UID, CCCD và Tài khoản. Theo dõi xuyên suốt lịch sử đi làm, mã NV, nhà máy và đối tác tuyển dụng.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7924" y="2962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587924" y="3590925"/>
            <a:ext cx="31428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Công &amp; Tài Chính Vận Hành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587924" y="4000500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Nối liền vòng đời người lao động đến công, lương, ghi chú thâm niên, phê duyệt quy trình ứng và giữ lương tự động.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7174" y="2962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347174" y="3590925"/>
            <a:ext cx="22751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Kiểm Soát &amp; Nhật Ký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47174" y="4000500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Phân quyền hiển thị theo vai trò (Admin/Staff/Đối tác). Lưu trữ nhật ký chi tiết: Ai làm, lúc nào và thay đổi những gì.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7737" y="309562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5087" y="3095625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51949" y="309562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Giải Pháp Cốt Lõi: Một Nguồn Dữ Liệu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476250"/>
            <a:ext cx="56007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Năng Lực Sản Phẩm Sẵn Sàng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1076325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138112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Quản Lý Tập Trung &amp; Thông Minh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17907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Dashboard Nhân Lực Real-time: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Xử lý mượt mà 500+ bản ghi mỗi lần tải. Lọc chính xác theo nhà máy, người tuyển, trạng thái đang làm hay đã nghỉ.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23622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Nhập/Xuất Excel Thông Minh: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Cập nhật theo UID. Tự động tách các dòng lỗi để sửa riêng, không làm ngắt quãng dòng dữ liệu hợp lệ.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29337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Soát Rủi Ro: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Cảnh báo trùng lịch sử đang làm, kiểm tra phiên bản CCCD và bảo mật tài chính tối đa.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571500" y="2614612"/>
            <a:ext cx="11049000" cy="25336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17"/>
          <p:cNvGraphicFramePr/>
          <p:nvPr/>
        </p:nvGraphicFramePr>
        <p:xfrm>
          <a:off x="571500" y="2614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{89BDE6DB-7701-4B69-9FE2-2E41202F5456}</a:tableStyleId>
              </a:tblPr>
              <a:tblGrid>
                <a:gridCol w="2171400"/>
                <a:gridCol w="3958825"/>
                <a:gridCol w="4909250"/>
              </a:tblGrid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Nỗi Đau Khi Dùng Excel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Hệ Quả Vận Hành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Giải Pháp Từ Ứng Dụng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Dữ liệu phân tán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Không xuyên suốt giữa tuyển dụng và tính lương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Gom chung hồ sơ, lịch sử vào một Workspace duy nhất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Sai tên, trùng mã NV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Thất thoát tài chính, khó truy cứu trách nhiệm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Định danh UID, snapshot nhà máy &amp; cảnh báo trùng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Báo cáo chậm trễ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Sếp ra quyết định sau khi sự việc đã xảy 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Dashboard hiển thị chỉ số tức thì ngay khi nhập dữ liệu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Phê duyệt mơ hồ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Tranh cãi khi có sai sót ứng/giữ lương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Lưu rõ ràng trạng thái duyệt, thời điểm và tài khoản thực hiện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7"/>
          <p:cNvSpPr/>
          <p:nvPr/>
        </p:nvSpPr>
        <p:spPr>
          <a:xfrm>
            <a:off x="576262" y="3114675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747664" y="3114675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706492" y="3114675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6262" y="3619500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747664" y="3619500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706492" y="3619500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76262" y="4124325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747664" y="4124325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706492" y="4124325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6262" y="4629150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747664" y="4629150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706492" y="4629150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6262" y="5133975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747664" y="5133975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706492" y="5133975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Giá Trị Trực Tiếp Cho Doanh Nghiệp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0350"/>
            <a:ext cx="538162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71525" y="3190875"/>
            <a:ext cx="49815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71525" y="4333875"/>
            <a:ext cx="4981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Phút Nắm Trọn Tình Hình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238875" y="2705100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Xem &amp; Quyết Định Ngay Tức Thì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238875" y="3114675"/>
            <a:ext cx="5381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Giám đốc không cần bắt đầu bằng câu hỏi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"File Excel nào mới nhất?"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Hệ thống tự động trả lời 4 câu hỏi cốt lõi: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657975" y="3686175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Hôm nay có bao nhiêu lao động đang thực tế đi làm?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657975" y="4029075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Nhà máy hay nguồn tuyển đối tác nào đang hiệu quả nhất?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657975" y="4371975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Chi tiết bảng công, tạm ứng và bảng lương hiện tại ra sao?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657975" y="4714875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Những yêu cầu duyệt tài chính nào đang tồn đọng cần xử lý?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429375" y="36480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429375" y="39909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429375" y="43338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429375" y="46767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Góc Nhìn Báo Cáo Điều Hành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571500" y="2400300"/>
            <a:ext cx="11049000" cy="25336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571500" y="2400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{89BDE6DB-7701-4B69-9FE2-2E41202F5456}</a:tableStyleId>
              </a:tblPr>
              <a:tblGrid>
                <a:gridCol w="2168725"/>
                <a:gridCol w="2103525"/>
                <a:gridCol w="2067825"/>
                <a:gridCol w="2131825"/>
                <a:gridCol w="2567575"/>
              </a:tblGrid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Gói Dịch Vụ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Chi Phí / Tháng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Lịch Sử Đi Làm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Tài Khoản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Đối Tác &amp; Nhà Máy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Khởi Động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500.000 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500 bản ghi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tài khoản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nhà máy / đối tác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Tăng Trưởng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1.000.000 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1.500 bản ghi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tài khoản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nhà máy / đối tác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Chuyên Nghiệp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2.000.000 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5.000 bản ghi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 tài khoản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 nhà máy / đối tác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Doanh Nghiệp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3.500.000 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10.000 bản ghi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 tài khoản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 nhà máy / đối tác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9"/>
          <p:cNvSpPr txBox="1"/>
          <p:nvPr/>
        </p:nvSpPr>
        <p:spPr>
          <a:xfrm>
            <a:off x="571500" y="5048250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* Nguyên tắc tự động nâng gói khi chạm 80% hạn mức — Không xáo trộn quy trình hay di chuyển dữ liệu.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6262" y="2900362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744985" y="2900362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848522" y="2900362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916340" y="2900362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9048154" y="2900362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76262" y="3405187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744985" y="3405187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848522" y="3405187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916340" y="3405187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9048154" y="3405187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76262" y="3910012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744985" y="3910012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848522" y="3910012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916340" y="3910012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9048154" y="3910012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76262" y="4414837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2744985" y="4414837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4848522" y="4414837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916340" y="4414837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9048154" y="4414837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76262" y="4919662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2744985" y="4919662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4848522" y="4919662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6916340" y="4919662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9048154" y="4919662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Bảng Giá Dịch Vụ Mở Rộng Linh Hoạt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110490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43362"/>
            <a:ext cx="110490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5372" y="4224337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Lập Luận Giá Trị ROI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70944"/>
            <a:ext cx="2541240" cy="1830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3270944"/>
            <a:ext cx="2541240" cy="1830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3270944"/>
            <a:ext cx="2541240" cy="1830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3270944"/>
            <a:ext cx="2541240" cy="183058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571500" y="2661344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Chúng tôi đồng hành định hướng từng bước giúp doanh nghiệp chuyển đổi an toàn mà không làm gián đoạn vận hành: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571500" y="41671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470969"/>
            <a:ext cx="564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771525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Thiết Lập Hệ Thống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771525" y="4128194"/>
            <a:ext cx="214119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Khởi tạo Workspace, khai báo danh mục nhà máy, đối tác và phân quyền chi tiết cho đội ngũ Staff (1-2 ngày).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7444" y="3470969"/>
            <a:ext cx="564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3607444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Di Chuyển Dữ Liệu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3607444" y="4128194"/>
            <a:ext cx="214119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Kỹ thuật hỗ trợ chuẩn hóa file Excel hiện tại sang Template chuẩn, xử lý dứt điểm các dòng dữ liệu lỗi cũ.</a:t>
            </a:r>
            <a:endParaRPr/>
          </a:p>
        </p:txBody>
      </p:sp>
      <p:pic>
        <p:nvPicPr>
          <p:cNvPr descr="image.png" id="251" name="Google Shape;25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3364" y="3470969"/>
            <a:ext cx="564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6443364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Vận Hành Thực Tế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443364" y="4128194"/>
            <a:ext cx="2141190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Đưa vào chạy luồng Hồ sơ, Lịch sử đi làm, Phê duyệt ứng lương và Công/Lương real-time trên ứng dụng.</a:t>
            </a:r>
            <a:endParaRPr/>
          </a:p>
        </p:txBody>
      </p:sp>
      <p:pic>
        <p:nvPicPr>
          <p:cNvPr descr="image.png" id="254" name="Google Shape;254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79284" y="3470969"/>
            <a:ext cx="564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9279284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Đo Lường &amp; Bàn Giao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9279284" y="4128194"/>
            <a:ext cx="2141190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Đo lường thời gian đối soát giảm được, nghiệm thu chỉ số lỗi về 0 và chọn gói chính thức theo quy mô thật.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Lộ Trình Thí Điểm 30 Ngày Triển Khai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4531"/>
            <a:ext cx="5381625" cy="3833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64531"/>
            <a:ext cx="5381625" cy="383381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876300" y="2269331"/>
            <a:ext cx="50106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Gói Thí Điểm Khởi Động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876300" y="2697956"/>
            <a:ext cx="47720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876300" y="2802731"/>
            <a:ext cx="47720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500.000 đ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/ tháng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876300" y="4326731"/>
            <a:ext cx="4772025" cy="7143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1028700" y="4441031"/>
            <a:ext cx="44672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Cam Kết Hoàn Tiền 100%: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Nếu sau 30 ngày sử dụng không giảm tối thiểu 50% thời gian đối soát dữ liệu của anh/chị.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876300" y="4326731"/>
            <a:ext cx="38100" cy="7143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6562725" y="2288381"/>
            <a:ext cx="497062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580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 Bước Kích Hoạt Trong 15 Phút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6562725" y="2717006"/>
            <a:ext cx="4733925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6562725" y="4669631"/>
            <a:ext cx="4733925" cy="523875"/>
          </a:xfrm>
          <a:prstGeom prst="roundRect">
            <a:avLst>
              <a:gd fmla="val 1454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6829425" y="4802981"/>
            <a:ext cx="42005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KÍCH HOẠT HỆ THỐNG NGAY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562725" y="5288756"/>
            <a:ext cx="4733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Hotline / Zalo hỗ trợ kỹ thuật trực tiếp: 24/7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104900" y="3345656"/>
            <a:ext cx="4543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Quản lý đến 500 lịch sử đi làm thực tế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1104900" y="3650456"/>
            <a:ext cx="4543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5 tài khoản Staff + 5 Nhà máy / Đối tác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1104900" y="3955256"/>
            <a:ext cx="4543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Cập nhật tính năng &amp; Bảo mật tự động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6981825" y="2821781"/>
            <a:ext cx="4314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Xác nhận chọn gói Thí điểm: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Khởi tạo hệ thống riêng cho công ty ngay lập tức.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6981825" y="3374231"/>
            <a:ext cx="4314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Gửi file Excel mẫu hiện tại: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Đội ngũ kỹ thuật hỗ trợ chuẩn hóa và import dữ liệu ban đầu 1-1 miễn phí.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6981825" y="3926681"/>
            <a:ext cx="4314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Bàn giao &amp; Bắt đầu vận hành: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Nhận báo cáo điều hành chuẩn hóa ngay trong tuần này.</a:t>
            </a:r>
            <a:endParaRPr/>
          </a:p>
        </p:txBody>
      </p:sp>
      <p:pic>
        <p:nvPicPr>
          <p:cNvPr descr="image.png" id="283" name="Google Shape;28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2226" y="485060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876300" y="330755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876300" y="361235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76300" y="391715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descr="image.png" id="287" name="Google Shape;28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460081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753225" y="278368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6753225" y="333613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6753225" y="388858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descr="image.png" id="291" name="Google Shape;29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4900" y="338375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4900" y="368855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4900" y="399335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Bắt Đầu Ngay — Cam Kết Không Rủi Ro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9462" y="3643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4414837" y="3650456"/>
            <a:ext cx="44577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https://adminlte.io/wp-content/uploads/2026/05/hr-dashboard-02-frontkit-hr.jpg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4414837" y="3883818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adminlte.io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